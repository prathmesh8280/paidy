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06040"/>
            <a:ext cx="12188952" cy="54864"/>
          </a:xfrm>
          <a:prstGeom prst="rect">
            <a:avLst/>
          </a:prstGeom>
          <a:solidFill>
            <a:srgbClr val="E8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Spendy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D6E8F7"/>
                </a:solidFill>
              </a:rPr>
              <a:t>Customer Loyalty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6E8F7"/>
                </a:solidFill>
              </a:rPr>
              <a:t>Data Science Case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Prathmesh Bargal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3657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2704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6DA4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8424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</a:rPr>
              <a:t>Data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2316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8"/>
                </a:solidFill>
              </a:rPr>
              <a:t>Understanding the raw dataset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417320"/>
            <a:ext cx="3657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52704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6DA4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98424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</a:rPr>
              <a:t>Defining a Loyal Customer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42316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8"/>
                </a:solidFill>
              </a:rPr>
              <a:t>5 data-driven behavioural components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417320"/>
            <a:ext cx="3657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52704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6DA4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98424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</a:rPr>
              <a:t>Tracking Loyalty Over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42316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8"/>
                </a:solidFill>
              </a:rPr>
              <a:t>Month-by-month loyal customer growth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794760"/>
            <a:ext cx="3657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90448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6DA4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36168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</a:rPr>
              <a:t>ML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80060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8"/>
                </a:solidFill>
              </a:rPr>
              <a:t>Predicting loyalty from the first 2 months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3794760"/>
            <a:ext cx="3657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390448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6DA4"/>
                </a:solidFill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36168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</a:rPr>
              <a:t>Results &amp; Segmentation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80060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8"/>
                </a:solidFill>
              </a:rPr>
              <a:t>Business-ready customer segments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794760"/>
            <a:ext cx="3657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390448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6DA4"/>
                </a:solidFill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36168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</a:rPr>
              <a:t>Future Improvements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80060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8"/>
                </a:solidFill>
              </a:rPr>
              <a:t>Where to take this next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Data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9494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8F7"/>
                </a:solidFill>
              </a:rPr>
              <a:t>Transaction-level purchase log — June to December 2020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8132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E6DA4"/>
                </a:solidFill>
              </a:rPr>
              <a:t>759,425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299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6578"/>
                </a:solidFill>
              </a:rPr>
              <a:t>Transactions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371600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48132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E6DA4"/>
                </a:solidFill>
              </a:rPr>
              <a:t>136,830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0299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6578"/>
                </a:solidFill>
              </a:rPr>
              <a:t>Unique Users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371600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48132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E6DA4"/>
                </a:solidFill>
              </a:rPr>
              <a:t>711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0299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6578"/>
                </a:solidFill>
              </a:rPr>
              <a:t>Unique Shops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1371600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148132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E6DA4"/>
                </a:solidFill>
              </a:rPr>
              <a:t>7 months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20299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6578"/>
                </a:solidFill>
              </a:rPr>
              <a:t>Date Range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834640"/>
            <a:ext cx="11430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F3A5F"/>
                </a:solidFill>
              </a:rPr>
              <a:t>  53% new users (joined within dataset window)  |  47% pre-existing users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3A5F"/>
                </a:solidFill>
              </a:rPr>
              <a:t>  75% of users have only ever purchased from a single shop — key motivation for shop diversity component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3A5F"/>
                </a:solidFill>
              </a:rPr>
              <a:t>  No null values across any column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3A5F"/>
                </a:solidFill>
              </a:rPr>
              <a:t>  In production: S3 bucket read triggered by an EventBridge scheduler on a monthly cadence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029200"/>
            <a:ext cx="11338560" cy="1600200"/>
          </a:xfrm>
          <a:prstGeom prst="rect">
            <a:avLst/>
          </a:prstGeom>
          <a:solidFill>
            <a:srgbClr val="F4F6F9"/>
          </a:solidFill>
          <a:ln w="1270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66470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6578"/>
                </a:solidFill>
              </a:rPr>
              <a:t>[EDA charts: purchases per user  |  months registered  |  shops per user]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Defining a Loyal Customer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9494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8F7"/>
                </a:solidFill>
              </a:rPr>
              <a:t>All five components must be satisfied simultaneously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3657600" cy="3657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426464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Purchase Frequency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87451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</a:rPr>
              <a:t>&gt;= 2 purchases / month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3774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6578"/>
                </a:solidFill>
              </a:rPr>
              <a:t>18.4% of users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79" y="2788920"/>
            <a:ext cx="3383280" cy="548640"/>
          </a:xfrm>
          <a:prstGeom prst="rect">
            <a:avLst/>
          </a:prstGeom>
          <a:solidFill>
            <a:srgbClr val="F4F6F9"/>
          </a:solidFill>
          <a:ln w="1270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19" y="2898647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6578"/>
                </a:solidFill>
              </a:rPr>
              <a:t>[Distribution]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37160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06240" y="1371600"/>
            <a:ext cx="3657600" cy="3657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426464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Monthly Spend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187451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</a:rPr>
              <a:t>&gt;= 10,000 JPY / month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3774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6578"/>
                </a:solidFill>
              </a:rPr>
              <a:t>16.3% of users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2788920"/>
            <a:ext cx="3383280" cy="548640"/>
          </a:xfrm>
          <a:prstGeom prst="rect">
            <a:avLst/>
          </a:prstGeom>
          <a:solidFill>
            <a:srgbClr val="F4F6F9"/>
          </a:solidFill>
          <a:ln w="1270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2898647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6578"/>
                </a:solidFill>
              </a:rPr>
              <a:t>[Distribution]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137160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1371600"/>
            <a:ext cx="3657600" cy="3657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1426464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Shop Diversity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187451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</a:rPr>
              <a:t>&gt;= 2 unique shops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3774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6578"/>
                </a:solidFill>
              </a:rPr>
              <a:t>25.2% of users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20" y="2788920"/>
            <a:ext cx="3383280" cy="548640"/>
          </a:xfrm>
          <a:prstGeom prst="rect">
            <a:avLst/>
          </a:prstGeom>
          <a:solidFill>
            <a:srgbClr val="F4F6F9"/>
          </a:solidFill>
          <a:ln w="1270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2898647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6578"/>
                </a:solidFill>
              </a:rPr>
              <a:t>[Distribution]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74519" y="379476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874519" y="3794760"/>
            <a:ext cx="3657600" cy="3657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11679" y="3849624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Recency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79" y="42976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</a:rPr>
              <a:t>Last purchase within 2 months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79" y="48006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6578"/>
                </a:solidFill>
              </a:rPr>
              <a:t>60.3% of users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11679" y="5212080"/>
            <a:ext cx="3383280" cy="548640"/>
          </a:xfrm>
          <a:prstGeom prst="rect">
            <a:avLst/>
          </a:prstGeom>
          <a:solidFill>
            <a:srgbClr val="F4F6F9"/>
          </a:solidFill>
          <a:ln w="1270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03120" y="53218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6578"/>
                </a:solidFill>
              </a:rPr>
              <a:t>[Distribution]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97880" y="379476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897880" y="3794760"/>
            <a:ext cx="3657600" cy="3657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35040" y="3849624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Registration Period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0" y="42976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</a:rPr>
              <a:t>&gt;= 3 months registered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5040" y="48006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6578"/>
                </a:solidFill>
              </a:rPr>
              <a:t>60.7% of users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35040" y="5212080"/>
            <a:ext cx="3383280" cy="548640"/>
          </a:xfrm>
          <a:prstGeom prst="rect">
            <a:avLst/>
          </a:prstGeom>
          <a:solidFill>
            <a:srgbClr val="F4F6F9"/>
          </a:solidFill>
          <a:ln w="1270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80" y="53218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6578"/>
                </a:solidFill>
              </a:rPr>
              <a:t>[Distribution]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4465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6DA4"/>
                </a:solidFill>
              </a:rPr>
              <a:t>Final loyal user count:  4,559  (3.3% of all users)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Tracking Loyalty Over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9494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8F7"/>
                </a:solidFill>
              </a:rPr>
              <a:t>Recalculated monthly using only data available up to each cutoff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560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8132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E6DA4"/>
                </a:solidFill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299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</a:rPr>
              <a:t>Jun – Jul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7744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6578"/>
                </a:solidFill>
              </a:rPr>
              <a:t>No users old enough yet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371600"/>
            <a:ext cx="2560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48132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E6DA4"/>
                </a:solidFill>
              </a:rPr>
              <a:t>486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</a:rPr>
              <a:t>Aug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37744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6578"/>
                </a:solidFill>
              </a:rPr>
              <a:t>First loyal users appear at 0.72%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371600"/>
            <a:ext cx="2560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148132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E6DA4"/>
                </a:solidFill>
              </a:rPr>
              <a:t>2,577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0299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</a:rPr>
              <a:t>Sep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37744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6578"/>
                </a:solidFill>
              </a:rPr>
              <a:t>Jumps to 3.18% as more tenured users qualify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0" y="1371600"/>
            <a:ext cx="2560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148132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E6DA4"/>
                </a:solidFill>
              </a:rPr>
              <a:t>4,540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0299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</a:rPr>
              <a:t>Dec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37744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6578"/>
                </a:solidFill>
              </a:rPr>
              <a:t>Final count — stabilised at ~3.3%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971800"/>
            <a:ext cx="11338560" cy="3657600"/>
          </a:xfrm>
          <a:prstGeom prst="rect">
            <a:avLst/>
          </a:prstGeom>
          <a:solidFill>
            <a:srgbClr val="F4F6F9"/>
          </a:solidFill>
          <a:ln w="1270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63600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6578"/>
                </a:solidFill>
              </a:rPr>
              <a:t>[Loyal users over time — line chart with % labels at each point]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ML Model — Setup &amp;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9494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8F7"/>
                </a:solidFill>
              </a:rPr>
              <a:t>Predict loyalty from the first 60 days of a new customer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30352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6DA4"/>
                </a:solidFill>
              </a:rPr>
              <a:t>Population &amp; Label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1F3A5F"/>
                </a:solidFill>
              </a:rPr>
              <a:t>  New users only (first_purchase = True)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F3A5F"/>
                </a:solidFill>
              </a:rPr>
              <a:t>  Must have 3+ months in dataset — joined by Sept 30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F3A5F"/>
                </a:solidFill>
              </a:rPr>
              <a:t>  34,420 eligible users  |  873 loyal (2.5%)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F3A5F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F3A5F"/>
                </a:solidFill>
              </a:rPr>
              <a:t>  Label: is_loyal at Dec 31 using all 5 components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F3A5F"/>
                </a:solidFill>
              </a:rPr>
              <a:t>  80/20 stratified train-test split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371600"/>
            <a:ext cx="585216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4813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6DA4"/>
                </a:solidFill>
              </a:rPr>
              <a:t>Features (first 60 days)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965960"/>
            <a:ext cx="5486400" cy="749808"/>
          </a:xfrm>
          <a:prstGeom prst="rect">
            <a:avLst/>
          </a:prstGeom>
          <a:solidFill>
            <a:srgbClr val="F4F6F9"/>
          </a:solidFill>
          <a:ln w="12700">
            <a:solidFill>
              <a:srgbClr val="D6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020824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6DA4"/>
                </a:solidFill>
              </a:rPr>
              <a:t>freq_rate_2m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350008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8"/>
                </a:solidFill>
              </a:rPr>
              <a:t>Purchases per month in window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2862072"/>
            <a:ext cx="5486400" cy="749808"/>
          </a:xfrm>
          <a:prstGeom prst="rect">
            <a:avLst/>
          </a:prstGeom>
          <a:solidFill>
            <a:srgbClr val="F4F6F9"/>
          </a:solidFill>
          <a:ln w="12700">
            <a:solidFill>
              <a:srgbClr val="D6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916936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6DA4"/>
                </a:solidFill>
              </a:rPr>
              <a:t>spend_rate_2m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246120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8"/>
                </a:solidFill>
              </a:rPr>
              <a:t>Monthly spend in window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3758183"/>
            <a:ext cx="5486400" cy="749808"/>
          </a:xfrm>
          <a:prstGeom prst="rect">
            <a:avLst/>
          </a:prstGeom>
          <a:solidFill>
            <a:srgbClr val="F4F6F9"/>
          </a:solidFill>
          <a:ln w="12700">
            <a:solidFill>
              <a:srgbClr val="D6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813047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6DA4"/>
                </a:solidFill>
              </a:rPr>
              <a:t>unique_shops_2m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142231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8"/>
                </a:solidFill>
              </a:rPr>
              <a:t>Distinct shops visited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4654296"/>
            <a:ext cx="5486400" cy="749808"/>
          </a:xfrm>
          <a:prstGeom prst="rect">
            <a:avLst/>
          </a:prstGeom>
          <a:solidFill>
            <a:srgbClr val="F4F6F9"/>
          </a:solidFill>
          <a:ln w="12700">
            <a:solidFill>
              <a:srgbClr val="D6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4709159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6DA4"/>
                </a:solidFill>
              </a:rPr>
              <a:t>days_since_last_purchase_in_window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5038344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8"/>
                </a:solidFill>
              </a:rPr>
              <a:t>60 minus day of last purchase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5550408"/>
            <a:ext cx="5486400" cy="749808"/>
          </a:xfrm>
          <a:prstGeom prst="rect">
            <a:avLst/>
          </a:prstGeom>
          <a:solidFill>
            <a:srgbClr val="F4F6F9"/>
          </a:solidFill>
          <a:ln w="12700">
            <a:solidFill>
              <a:srgbClr val="D6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560527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6DA4"/>
                </a:solidFill>
              </a:rPr>
              <a:t>spend_month_comparison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5934456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8"/>
                </a:solidFill>
              </a:rPr>
              <a:t>Month 2 spend vs Month 1 spend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Why Random Forest?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9494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8F7"/>
                </a:solidFill>
              </a:rPr>
              <a:t>Model choice driven by the structure of the loyalty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56692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73152" cy="148132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</a:rPr>
              <a:t>Non-linear by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8"/>
                </a:solidFill>
              </a:rPr>
              <a:t>Loyalty uses hard thresholds — RF tree splits mirror this logic naturally. A linear model assumes smooth relationships that do not exist here.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6692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73152" cy="148132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4630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</a:rPr>
              <a:t>No feature scaling needed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82880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8"/>
                </a:solidFill>
              </a:rPr>
              <a:t>spend_rate_2m goes up to 50,000+ JPY while freq_rate_2m is 0-10. RF handles mixed scales without standardisation.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35808"/>
            <a:ext cx="56692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035808"/>
            <a:ext cx="73152" cy="148132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1272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</a:rPr>
              <a:t>Handles correlated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493008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8"/>
                </a:solidFill>
              </a:rPr>
              <a:t>spend_rate_2m and spend_month_comparison are both spend-derived. RF is unaffected by multicollinearity.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035808"/>
            <a:ext cx="56692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035808"/>
            <a:ext cx="73152" cy="148132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1272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</a:rPr>
              <a:t>Probability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493008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8"/>
                </a:solidFill>
              </a:rPr>
              <a:t>predict_proba gives scores for ranking and segmenting customers, not just a binary prediction.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60" y="4700016"/>
            <a:ext cx="56692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108960" y="4700016"/>
            <a:ext cx="73152" cy="148132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37560" y="479145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</a:rPr>
              <a:t>Interpretable importances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5157216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8"/>
                </a:solidFill>
              </a:rPr>
              <a:t>Feature importances answer what the model is picking up on — easy to explain to a non-technical audience.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Model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9494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8F7"/>
                </a:solidFill>
              </a:rPr>
              <a:t>ROC-AUC: 0.878  |  Precision (loyal): 0.36  |  Recall (loyal): 0.46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30352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6DA4"/>
                </a:solidFill>
              </a:rPr>
              <a:t>Key Metrics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65960"/>
            <a:ext cx="5029200" cy="98755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29967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</a:rPr>
              <a:t>ROC-AUC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029967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6DA4"/>
                </a:solidFill>
              </a:rPr>
              <a:t>0.878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96312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8"/>
                </a:solidFill>
              </a:rPr>
              <a:t>Correctly ranks loyal above non-loyal 87.8% of the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081528"/>
            <a:ext cx="5029200" cy="98755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4553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</a:rPr>
              <a:t>Recall (Loyal)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314553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6DA4"/>
                </a:solidFill>
              </a:rPr>
              <a:t>0.46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11880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8"/>
                </a:solidFill>
              </a:rPr>
              <a:t>Captures 46% of actual loyal users — recall prioritised over precision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197096"/>
            <a:ext cx="5029200" cy="98755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26110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</a:rPr>
              <a:t>Precision (Loyal)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426110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6DA4"/>
                </a:solidFill>
              </a:rPr>
              <a:t>0.36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72744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8"/>
                </a:solidFill>
              </a:rPr>
              <a:t>Low due to severe imbalance — only 2.5% of users are loyal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312664"/>
            <a:ext cx="5029200" cy="98755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37667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</a:rPr>
              <a:t>Accuracy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537667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6DA4"/>
                </a:solidFill>
              </a:rPr>
              <a:t>0.97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843016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8"/>
                </a:solidFill>
              </a:rPr>
              <a:t>Misleading metric — a model predicting all non-loyal scores the same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1371600"/>
            <a:ext cx="58521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14813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6DA4"/>
                </a:solidFill>
              </a:rPr>
              <a:t>Confusion Matrix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1920240"/>
            <a:ext cx="5669280" cy="1828800"/>
          </a:xfrm>
          <a:prstGeom prst="rect">
            <a:avLst/>
          </a:prstGeom>
          <a:solidFill>
            <a:srgbClr val="F4F6F9"/>
          </a:solidFill>
          <a:ln w="1270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26700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6578"/>
                </a:solidFill>
              </a:rPr>
              <a:t>[Confusion matrix]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4023360"/>
            <a:ext cx="58521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4133087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6DA4"/>
                </a:solidFill>
              </a:rPr>
              <a:t>Feature Importances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4572000"/>
            <a:ext cx="5669280" cy="1874519"/>
          </a:xfrm>
          <a:prstGeom prst="rect">
            <a:avLst/>
          </a:prstGeom>
          <a:solidFill>
            <a:srgbClr val="F4F6F9"/>
          </a:solidFill>
          <a:ln w="1270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53446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6578"/>
                </a:solidFill>
              </a:rPr>
              <a:t>[Feature importance bar chart]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Customer Segmentation — Business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9494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6E8F7"/>
                </a:solidFill>
              </a:rPr>
              <a:t>Probability scores bucketed into three actionable marketing segments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36576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3657600" cy="384048"/>
          </a:xfrm>
          <a:prstGeom prst="rect">
            <a:avLst/>
          </a:prstGeom>
          <a:solidFill>
            <a:srgbClr val="C03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26464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Low Likelihood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8366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393A"/>
                </a:solidFill>
              </a:rPr>
              <a:t>Probability: &lt; 0.33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317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</a:rPr>
              <a:t>6,905 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614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6578"/>
                </a:solidFill>
              </a:rPr>
              <a:t>0.8%  actual loyalty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18688"/>
            <a:ext cx="3474720" cy="53035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82696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3A5F"/>
                </a:solidFill>
              </a:rPr>
              <a:t>Re-engage or deprioritise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371600"/>
            <a:ext cx="36576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A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371600"/>
            <a:ext cx="3657600" cy="384048"/>
          </a:xfrm>
          <a:prstGeom prst="rect">
            <a:avLst/>
          </a:prstGeom>
          <a:solidFill>
            <a:srgbClr val="E8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426464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Medium Likelihood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88366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A820"/>
                </a:solidFill>
              </a:rPr>
              <a:t>Probability: 0.33-0.66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3317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</a:rPr>
              <a:t>825 users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7614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6578"/>
                </a:solidFill>
              </a:rPr>
              <a:t>5.0%  actual loyalty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3218688"/>
            <a:ext cx="3474720" cy="53035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3282696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3A5F"/>
                </a:solidFill>
              </a:rPr>
              <a:t>Nudge with targeted campaigns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371600"/>
            <a:ext cx="36576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1371600"/>
            <a:ext cx="3657600" cy="38404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1426464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High Likelihood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188366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6DA4"/>
                </a:solidFill>
              </a:rPr>
              <a:t>Probability: &gt; 0.66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23317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</a:rPr>
              <a:t>910 users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27614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6578"/>
                </a:solidFill>
              </a:rPr>
              <a:t>82.7%  actual loyalty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40" y="3218688"/>
            <a:ext cx="3474720" cy="53035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3282696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3A5F"/>
                </a:solidFill>
              </a:rPr>
              <a:t>Reinforce — reward early signals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120640"/>
            <a:ext cx="11338560" cy="1508760"/>
          </a:xfrm>
          <a:prstGeom prst="rect">
            <a:avLst/>
          </a:prstGeom>
          <a:solidFill>
            <a:srgbClr val="F4F6F9"/>
          </a:solidFill>
          <a:ln w="1270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71042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6578"/>
                </a:solidFill>
              </a:rPr>
              <a:t>[Segment bar chart — user count per segment]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Future Improvements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56692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73152" cy="1481328"/>
          </a:xfrm>
          <a:prstGeom prst="rect">
            <a:avLst/>
          </a:prstGeom>
          <a:solidFill>
            <a:srgbClr val="E8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</a:rPr>
              <a:t>More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8"/>
                </a:solidFill>
              </a:rPr>
              <a:t>Only 7 months available. A full year or more would give more loyal users to train on and allow stronger threshold validation.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6692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73152" cy="1481328"/>
          </a:xfrm>
          <a:prstGeom prst="rect">
            <a:avLst/>
          </a:prstGeom>
          <a:solidFill>
            <a:srgbClr val="E8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630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</a:rPr>
              <a:t>Richer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82880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8"/>
                </a:solidFill>
              </a:rPr>
              <a:t>Days between purchases, category diversity, week-over-week spend trends — more granular signals within the 60-day window.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035808"/>
            <a:ext cx="56692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035808"/>
            <a:ext cx="73152" cy="1481328"/>
          </a:xfrm>
          <a:prstGeom prst="rect">
            <a:avLst/>
          </a:prstGeom>
          <a:solidFill>
            <a:srgbClr val="E8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1272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</a:rPr>
              <a:t>Probability Calibration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493008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8"/>
                </a:solidFill>
              </a:rPr>
              <a:t>RF probabilities are not perfectly calibrated. Platt scaling or isotonic regression would make scores more interpretable.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035808"/>
            <a:ext cx="56692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035808"/>
            <a:ext cx="73152" cy="1481328"/>
          </a:xfrm>
          <a:prstGeom prst="rect">
            <a:avLst/>
          </a:prstGeom>
          <a:solidFill>
            <a:srgbClr val="E8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1272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</a:rPr>
              <a:t>Threshold Tuning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493008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8"/>
                </a:solidFill>
              </a:rPr>
              <a:t>The 0.33/0.66 segment cutoffs are defaults. Optimal thresholds should be set based on marketing ROI per segment.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0" y="4700016"/>
            <a:ext cx="56692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108960" y="4700016"/>
            <a:ext cx="73152" cy="1481328"/>
          </a:xfrm>
          <a:prstGeom prst="rect">
            <a:avLst/>
          </a:prstGeom>
          <a:solidFill>
            <a:srgbClr val="E8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7560" y="479145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</a:rPr>
              <a:t>Retraining Cadence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5157216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8"/>
                </a:solidFill>
              </a:rPr>
              <a:t>Tie retraining to the EventBridge scheduler so scores stay current as user behaviour evolves over time.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2188952" cy="54864"/>
          </a:xfrm>
          <a:prstGeom prst="rect">
            <a:avLst/>
          </a:prstGeom>
          <a:solidFill>
            <a:srgbClr val="E8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  Defined loyalty through 5 behavioural components grounded in data and business logic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  Loyal customer base grew from 0 in June to 4,540 by December, stabilising at ~3.3%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  Random Forest model achieved ROC-AUC of 0.878 using only the first 2 months of activity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  High likelihood segment: 910 customers with 82.7% observed loyalty rate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>  Delivers an explainable framework marketing can act on from day one of a customer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204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8A820"/>
                </a:solidFill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6E8F7"/>
                </a:solidFill>
              </a:rPr>
              <a:t>Prathmesh Bargal  |  prathmesh.bargal@accenture.com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