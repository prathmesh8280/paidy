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002" autoAdjust="0"/>
    <p:restoredTop sz="94404" autoAdjust="0"/>
  </p:normalViewPr>
  <p:slideViewPr>
    <p:cSldViewPr snapToGrid="0" snapToObjects="1">
      <p:cViewPr varScale="1">
        <p:scale>
          <a:sx n="70" d="100"/>
          <a:sy n="70" d="100"/>
        </p:scale>
        <p:origin x="576"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pieChart>
        <c:varyColors val="1"/>
        <c:ser>
          <c:idx val="0"/>
          <c:order val="0"/>
          <c:tx>
            <c:strRef>
              <c:f>Sheet1!$B$1</c:f>
              <c:strCache>
                <c:ptCount val="1"/>
              </c:strCache>
            </c:strRef>
          </c:tx>
          <c:dPt>
            <c:idx val="0"/>
            <c:bubble3D val="0"/>
            <c:spPr>
              <a:solidFill>
                <a:srgbClr val="2D6A9F"/>
              </a:solidFill>
            </c:spPr>
            <c:extLst>
              <c:ext xmlns:c16="http://schemas.microsoft.com/office/drawing/2014/chart" uri="{C3380CC4-5D6E-409C-BE32-E72D297353CC}">
                <c16:uniqueId val="{00000001-AF81-4A14-8F43-882E453867FA}"/>
              </c:ext>
            </c:extLst>
          </c:dPt>
          <c:dPt>
            <c:idx val="1"/>
            <c:bubble3D val="0"/>
            <c:spPr>
              <a:solidFill>
                <a:srgbClr val="5E7080"/>
              </a:solidFill>
            </c:spPr>
            <c:extLst>
              <c:ext xmlns:c16="http://schemas.microsoft.com/office/drawing/2014/chart" uri="{C3380CC4-5D6E-409C-BE32-E72D297353CC}">
                <c16:uniqueId val="{00000003-AF81-4A14-8F43-882E453867FA}"/>
              </c:ext>
            </c:extLst>
          </c:dPt>
          <c:cat>
            <c:strRef>
              <c:f>Sheet1!$A$2:$A$3</c:f>
              <c:strCache>
                <c:ptCount val="2"/>
                <c:pt idx="0">
                  <c:v>New Users (72.8K)</c:v>
                </c:pt>
                <c:pt idx="1">
                  <c:v>Existing Users (64K)</c:v>
                </c:pt>
              </c:strCache>
            </c:strRef>
          </c:cat>
          <c:val>
            <c:numRef>
              <c:f>Sheet1!$B$2:$B$3</c:f>
              <c:numCache>
                <c:formatCode>General</c:formatCode>
                <c:ptCount val="2"/>
                <c:pt idx="0">
                  <c:v>72.8</c:v>
                </c:pt>
                <c:pt idx="1">
                  <c:v>64</c:v>
                </c:pt>
              </c:numCache>
            </c:numRef>
          </c:val>
          <c:extLst>
            <c:ext xmlns:c16="http://schemas.microsoft.com/office/drawing/2014/chart" uri="{C3380CC4-5D6E-409C-BE32-E72D297353CC}">
              <c16:uniqueId val="{00000004-AF81-4A14-8F43-882E453867FA}"/>
            </c:ext>
          </c:extLst>
        </c:ser>
        <c:dLbls>
          <c:showLegendKey val="0"/>
          <c:showVal val="0"/>
          <c:showCatName val="0"/>
          <c:showSerName val="0"/>
          <c:showPercent val="0"/>
          <c:showBubbleSize val="0"/>
          <c:showLeaderLines val="1"/>
        </c:dLbls>
        <c:firstSliceAng val="0"/>
      </c:pieChart>
    </c:plotArea>
    <c:legend>
      <c:legendPos val="b"/>
      <c:overlay val="0"/>
    </c:legend>
    <c:plotVisOnly val="1"/>
    <c:dispBlanksAs val="gap"/>
    <c:showDLblsOverMax val="1"/>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91927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Introduce yourself and frame what the next 15–20 minutes cover.</a:t>
            </a:r>
          </a:p>
          <a:p>
            <a:endParaRPr lang="en-US" dirty="0"/>
          </a:p>
          <a:p>
            <a:r>
              <a:rPr lang="en-US" dirty="0"/>
              <a:t>SAY: "I looked at a core question for Spendy: who are your loyal customers, and can you identify them early enough to act? The analysis runs end to end — from defining what loyalty actually means in this dataset, through building a machine learning model, to producing a three-tier segmentation that marketing can act on directly."</a:t>
            </a:r>
          </a:p>
          <a:p>
            <a:endParaRPr lang="en-US" dirty="0"/>
          </a:p>
          <a:p>
            <a:r>
              <a:rPr lang="en-US" dirty="0"/>
              <a:t>Keep it short. Move to slide 2.</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75% finding is your hook — use it to draw the merchant-vs-platform distinction clearly.</a:t>
            </a:r>
          </a:p>
          <a:p>
            <a:endParaRPr lang="en-US" dirty="0"/>
          </a:p>
          <a:p>
            <a:r>
              <a:rPr lang="en-US" dirty="0"/>
              <a:t>SAY: "The starting observation is that 75% of Spendy users shop at exactly one merchant. That means most users are loyal to a coffee shop, not to Spendy. If that merchant leaves, the customer disappears with them. The business question becomes: which users have transferred loyalty to the platform itself, not just a single merchant? That distinction didn't exist before this analysis."</a:t>
            </a:r>
          </a:p>
          <a:p>
            <a:endParaRPr lang="en-US" dirty="0"/>
          </a:p>
          <a:p>
            <a:r>
              <a:rPr lang="en-US" dirty="0"/>
              <a:t>Pause after the 75% line — let it land.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Briefly orient the audience on the data before getting into the methodology.</a:t>
            </a:r>
          </a:p>
          <a:p>
            <a:endParaRPr lang="en-US" dirty="0"/>
          </a:p>
          <a:p>
            <a:r>
              <a:rPr lang="en-US" dirty="0"/>
              <a:t>SAY: "The dataset covers six months — June to December 2020 — with transaction-level data across users and merchants. One thing worth flagging: roughly half the users have no first-purchase flag, meaning they joined before the observation window. Their tenure is measured from June 1, which slightly understates it, but the ML model handles this cleanly by using only new users who joined during the window."</a:t>
            </a:r>
          </a:p>
          <a:p>
            <a:endParaRPr lang="en-US" dirty="0"/>
          </a:p>
          <a:p>
            <a:r>
              <a:rPr lang="en-US" dirty="0"/>
              <a:t>Don't dwell. The data section exists to establish credibility, not to be interesting.</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This is the most important conceptual slide. Spend time here — the definition is the foundation everything else builds on.</a:t>
            </a:r>
          </a:p>
          <a:p>
            <a:endParaRPr lang="en-US" dirty="0"/>
          </a:p>
          <a:p>
            <a:r>
              <a:rPr lang="en-US" dirty="0"/>
              <a:t>SAY: "Before any modelling, I needed a definition. I used five gates: a user is loyal only if they hit minimum frequency, minimum spend, recent activity, sufficient tenure, AND platform breadth or depth — meaning they either buy across multiple merchants or go deep at one. The AND/OR logic matters: it prevents a seasonal spike from qualifying someone who never returned.</a:t>
            </a:r>
          </a:p>
          <a:p>
            <a:endParaRPr lang="en-US" dirty="0"/>
          </a:p>
          <a:p>
            <a:r>
              <a:rPr lang="en-US" dirty="0"/>
              <a:t>The result is a 4.6% loyalty rate — 6,273 users out of 136,000. That might sound low, but a reward programme that covers 30% of users isn't a loyalty programme, it's a blanket discount scheme. The 4.6% means the label has real signal."</a:t>
            </a:r>
          </a:p>
          <a:p>
            <a:endParaRPr lang="en-US" dirty="0"/>
          </a:p>
          <a:p>
            <a:r>
              <a:rPr lang="en-US" dirty="0"/>
              <a:t>Be ready to defend individual threshold choices if asked — each one came from the EDA.</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Focus on the no-leakage guarantee and the Month 2 rationale — these are the two things an interviewer will probe.</a:t>
            </a:r>
          </a:p>
          <a:p>
            <a:endParaRPr lang="en-US" dirty="0"/>
          </a:p>
          <a:p>
            <a:r>
              <a:rPr lang="en-US" dirty="0"/>
              <a:t>SAY: "Five features, all computed from the first 60 days of a user's activity only. The 60-day cutoff is deliberate: Month 2 is the earliest point where someone has revealed enough behaviour to distinguish a habitual buyer from a one-off visitor. Using only days 0 to 60 also prevents any data leakage — at scoring time, no data beyond month 2 exists for a new user.</a:t>
            </a:r>
          </a:p>
          <a:p>
            <a:endParaRPr lang="en-US" dirty="0"/>
          </a:p>
          <a:p>
            <a:r>
              <a:rPr lang="en-US" dirty="0"/>
              <a:t>The spend trend feature — Month 1 to Month 2 momentum — is the only one that looks across time within the window. Everything else is a cumulative summary.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Make the case for Random Forest concisely. Don't over-explain unless asked.</a:t>
            </a:r>
          </a:p>
          <a:p>
            <a:endParaRPr lang="en-US" dirty="0"/>
          </a:p>
          <a:p>
            <a:r>
              <a:rPr lang="en-US" dirty="0"/>
              <a:t>SAY: "Random Forest was selected for three reasons: it handles class imbalance well with class_weight='balanced', it gives native feature importances without needing a separate explainability layer, and tree-based ensembles are robust to the kind of skewed distributions you get with spend data. Logistic regression was tested as a baseline but AUC was noticeably lower. The choice was driven by the data, not convention."</a:t>
            </a:r>
          </a:p>
          <a:p>
            <a:endParaRPr lang="en-US" dirty="0"/>
          </a:p>
          <a:p>
            <a:r>
              <a:rPr lang="en-US" dirty="0"/>
              <a:t>If asked about deep learning or other models — that's a good segue to the Future Improvements slide.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Lead with AUC, then explain what the confusion matrix shows at the 0.5 threshold.</a:t>
            </a:r>
          </a:p>
          <a:p>
            <a:endParaRPr lang="en-US" dirty="0"/>
          </a:p>
          <a:p>
            <a:r>
              <a:rPr lang="en-US" dirty="0"/>
              <a:t>SAY: "AUC 0.912 means the model correctly ranks a loyal user above a non-loyal one 91.2% of the time on the held-out test set. That's a strong discrimination result.</a:t>
            </a:r>
          </a:p>
          <a:p>
            <a:endParaRPr lang="en-US" dirty="0"/>
          </a:p>
          <a:p>
            <a:r>
              <a:rPr lang="en-US" dirty="0"/>
              <a:t>At the standard 0.5 threshold, recall is 45% — the model misses more than half of loyal users. But the segmentation in the next slide doesn't use a hard threshold. It uses the full probability score, which is why the High segment achieves 83.9% actual loyalty even though raw recall at 0.5 looks modest."</a:t>
            </a:r>
          </a:p>
          <a:p>
            <a:endParaRPr lang="en-US" dirty="0"/>
          </a:p>
          <a:p>
            <a:r>
              <a:rPr lang="en-US" dirty="0"/>
              <a:t>The confusion matrix is there to show you're not hiding anything. Be upfront about recall.</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Walk through the three tiers and the calibration numbers.</a:t>
            </a:r>
          </a:p>
          <a:p>
            <a:endParaRPr lang="en-US" dirty="0"/>
          </a:p>
          <a:p>
            <a:r>
              <a:rPr lang="en-US" dirty="0"/>
              <a:t>SAY: "The 136,000 users are split into three tiers by their predicted probability score. The key calibration check: average predicted probabilities for the three groups are 0.10, 0.44, and 0.95 — which means the model isn't hedging, it's genuinely discriminating between groups.</a:t>
            </a:r>
          </a:p>
          <a:p>
            <a:endParaRPr lang="en-US" dirty="0"/>
          </a:p>
          <a:p>
            <a:r>
              <a:rPr lang="en-US" dirty="0"/>
              <a:t>In the High tier, 83.9% of users turned out to be actually loyal. That's the group you reward and retain. Medium tier — nudge with targeted spend incentives. Low tier — either re-engage or deprioritise, and redirect budget."</a:t>
            </a:r>
          </a:p>
          <a:p>
            <a:endParaRPr lang="en-US" dirty="0"/>
          </a:p>
          <a:p>
            <a:r>
              <a:rPr lang="en-US" dirty="0"/>
              <a:t>Be ready to explain how the 33%/66% cutoffs were chosen — acknowledge they're heuristic, and point ahead to Future Improvements.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Connect the analysis outputs to concrete business value. This slide is for the marketing or product stakeholder in the room.</a:t>
            </a:r>
          </a:p>
          <a:p>
            <a:endParaRPr lang="en-US" dirty="0"/>
          </a:p>
          <a:p>
            <a:r>
              <a:rPr lang="en-US" dirty="0"/>
              <a:t>SAY: "Three things this analysis gives the business for the first time. First: 6,273 loyal customers, identified and named. Second: Month 2 scoring — Spendy can flag new users as high or low loyalty potential before they've decided whether to stay. Third: 83.9% confidence in the High segment means marketing spend on that group is backed by real signal, not gut feel.</a:t>
            </a:r>
          </a:p>
          <a:p>
            <a:endParaRPr lang="en-US" dirty="0"/>
          </a:p>
          <a:p>
            <a:r>
              <a:rPr lang="en-US" dirty="0"/>
              <a:t>The three-tier playbook on the lower half is the operational output — each tier has a distinct action, not a one-size-fits-all campaign."</a:t>
            </a:r>
          </a:p>
          <a:p>
            <a:endParaRPr lang="en-US" dirty="0"/>
          </a:p>
          <a:p>
            <a:r>
              <a:rPr lang="en-US" dirty="0"/>
              <a:t>Keep this slide punchy. It's the 'so what' moment.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Go through the five areas quickly. The purpose is to show self-awareness, not to spend time on what you didn't do.</a:t>
            </a:r>
          </a:p>
          <a:p>
            <a:endParaRPr lang="en-US" dirty="0"/>
          </a:p>
          <a:p>
            <a:r>
              <a:rPr lang="en-US" dirty="0"/>
              <a:t>SAY: "Five areas where I'd extend this given more time or data. A longer observation window, richer transaction signals like product categories and promotions, additional behavioural features around purchase regularity, trying Gradient Boosting with calibrated probabilities, and — most importantly — setting the probability thresholds by marketing ROI rather than fixed percentiles. The last one is purely a business decision, not a modelling one."</a:t>
            </a:r>
          </a:p>
          <a:p>
            <a:endParaRPr lang="en-US" dirty="0"/>
          </a:p>
          <a:p>
            <a:r>
              <a:rPr lang="en-US" dirty="0"/>
              <a:t>Don't dwell. Move to the conclusion.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Bring everything together cleanly. This is the leave-behind slide.</a:t>
            </a:r>
          </a:p>
          <a:p>
            <a:endParaRPr lang="en-US" dirty="0"/>
          </a:p>
          <a:p>
            <a:r>
              <a:rPr lang="en-US" dirty="0"/>
              <a:t>SAY: "To summarise: Define — a rigorous five-gate loyalty rule that produces a label with real meaning, not just high coverage. Predict — a Random Forest model that scores new users after 60 days with AUC 0.912 and zero feature leakage. Act — three calibrated tiers with a distinct marketing action for each.</a:t>
            </a:r>
          </a:p>
          <a:p>
            <a:endParaRPr lang="en-US" dirty="0"/>
          </a:p>
          <a:p>
            <a:r>
              <a:rPr lang="en-US" dirty="0"/>
              <a:t>The business outcome: loyalty goes from a vague aspiration to something measurable, scoreable, and actionable. Happy to take any questions."</a:t>
            </a:r>
          </a:p>
          <a:p>
            <a:endParaRPr lang="en-US" dirty="0"/>
          </a:p>
          <a:p>
            <a:r>
              <a:rPr lang="en-US" dirty="0"/>
              <a:t>End with confidence. Don't hedge.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chart" Target="../charts/char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1188720"/>
            <a:ext cx="164592" cy="1252728"/>
          </a:xfrm>
          <a:prstGeom prst="rect">
            <a:avLst/>
          </a:prstGeom>
          <a:solidFill>
            <a:srgbClr val="C098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65760" y="347472"/>
            <a:ext cx="1645920" cy="384048"/>
          </a:xfrm>
          <a:prstGeom prst="rect">
            <a:avLst/>
          </a:prstGeom>
          <a:solidFill>
            <a:srgbClr val="2D6A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365760"/>
            <a:ext cx="1463040" cy="347472"/>
          </a:xfrm>
          <a:prstGeom prst="rect">
            <a:avLst/>
          </a:prstGeom>
          <a:noFill/>
        </p:spPr>
        <p:txBody>
          <a:bodyPr wrap="square">
            <a:spAutoFit/>
          </a:bodyPr>
          <a:lstStyle/>
          <a:p>
            <a:pPr algn="ctr"/>
            <a:r>
              <a:rPr sz="1400" b="1" i="0">
                <a:solidFill>
                  <a:srgbClr val="FFFFFF"/>
                </a:solidFill>
                <a:latin typeface="Calibri"/>
              </a:rPr>
              <a:t>SPENDY</a:t>
            </a:r>
          </a:p>
        </p:txBody>
      </p:sp>
      <p:sp>
        <p:nvSpPr>
          <p:cNvPr id="6" name="TextBox 5"/>
          <p:cNvSpPr txBox="1"/>
          <p:nvPr/>
        </p:nvSpPr>
        <p:spPr>
          <a:xfrm>
            <a:off x="457200" y="1188720"/>
            <a:ext cx="10058400" cy="777240"/>
          </a:xfrm>
          <a:prstGeom prst="rect">
            <a:avLst/>
          </a:prstGeom>
          <a:noFill/>
        </p:spPr>
        <p:txBody>
          <a:bodyPr wrap="square">
            <a:spAutoFit/>
          </a:bodyPr>
          <a:lstStyle/>
          <a:p>
            <a:pPr algn="l"/>
            <a:r>
              <a:rPr sz="4400" b="1" i="0">
                <a:solidFill>
                  <a:srgbClr val="0B2A4A"/>
                </a:solidFill>
                <a:latin typeface="Calibri Light"/>
              </a:rPr>
              <a:t>Customer Loyalty Prediction</a:t>
            </a:r>
          </a:p>
        </p:txBody>
      </p:sp>
      <p:sp>
        <p:nvSpPr>
          <p:cNvPr id="7" name="TextBox 6"/>
          <p:cNvSpPr txBox="1"/>
          <p:nvPr/>
        </p:nvSpPr>
        <p:spPr>
          <a:xfrm>
            <a:off x="457200" y="1965960"/>
            <a:ext cx="9144000" cy="475488"/>
          </a:xfrm>
          <a:prstGeom prst="rect">
            <a:avLst/>
          </a:prstGeom>
          <a:noFill/>
        </p:spPr>
        <p:txBody>
          <a:bodyPr wrap="square">
            <a:spAutoFit/>
          </a:bodyPr>
          <a:lstStyle/>
          <a:p>
            <a:pPr algn="l"/>
            <a:r>
              <a:rPr sz="2000" b="0" i="0">
                <a:solidFill>
                  <a:srgbClr val="2E75B6"/>
                </a:solidFill>
                <a:latin typeface="Calibri Light"/>
              </a:rPr>
              <a:t>From Transaction Data to Actionable Marketing Intelligence</a:t>
            </a:r>
          </a:p>
        </p:txBody>
      </p:sp>
      <p:sp>
        <p:nvSpPr>
          <p:cNvPr id="8" name="Rectangle 7"/>
          <p:cNvSpPr/>
          <p:nvPr/>
        </p:nvSpPr>
        <p:spPr>
          <a:xfrm>
            <a:off x="457200" y="2606040"/>
            <a:ext cx="8229600" cy="274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 y="2743200"/>
            <a:ext cx="8229600" cy="307777"/>
          </a:xfrm>
          <a:prstGeom prst="rect">
            <a:avLst/>
          </a:prstGeom>
          <a:noFill/>
        </p:spPr>
        <p:txBody>
          <a:bodyPr wrap="square">
            <a:spAutoFit/>
          </a:bodyPr>
          <a:lstStyle/>
          <a:p>
            <a:pPr algn="l"/>
            <a:r>
              <a:rPr sz="1400" b="0" i="0" dirty="0">
                <a:solidFill>
                  <a:srgbClr val="95A5A6"/>
                </a:solidFill>
                <a:latin typeface="Calibri Light"/>
              </a:rPr>
              <a:t>Data Scientist Case Study  </a:t>
            </a:r>
          </a:p>
        </p:txBody>
      </p:sp>
      <p:sp>
        <p:nvSpPr>
          <p:cNvPr id="10" name="Rectangle 9"/>
          <p:cNvSpPr/>
          <p:nvPr/>
        </p:nvSpPr>
        <p:spPr>
          <a:xfrm>
            <a:off x="562356" y="3337560"/>
            <a:ext cx="2103120" cy="2926080"/>
          </a:xfrm>
          <a:prstGeom prst="rect">
            <a:avLst/>
          </a:prstGeom>
          <a:solidFill>
            <a:srgbClr val="F7F9FC"/>
          </a:solidFill>
          <a:ln w="12700">
            <a:solidFill>
              <a:srgbClr val="C8D4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62356" y="3337560"/>
            <a:ext cx="2103120" cy="502920"/>
          </a:xfrm>
          <a:prstGeom prst="rect">
            <a:avLst/>
          </a:prstGeom>
          <a:solidFill>
            <a:srgbClr val="0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2356" y="3392424"/>
            <a:ext cx="2103120" cy="411480"/>
          </a:xfrm>
          <a:prstGeom prst="rect">
            <a:avLst/>
          </a:prstGeom>
          <a:noFill/>
        </p:spPr>
        <p:txBody>
          <a:bodyPr wrap="none">
            <a:spAutoFit/>
          </a:bodyPr>
          <a:lstStyle/>
          <a:p>
            <a:pPr algn="ctr"/>
            <a:r>
              <a:rPr sz="2200" b="1">
                <a:solidFill>
                  <a:srgbClr val="C09840"/>
                </a:solidFill>
              </a:rPr>
              <a:t>01</a:t>
            </a:r>
          </a:p>
        </p:txBody>
      </p:sp>
      <p:sp>
        <p:nvSpPr>
          <p:cNvPr id="13" name="TextBox 12"/>
          <p:cNvSpPr txBox="1"/>
          <p:nvPr/>
        </p:nvSpPr>
        <p:spPr>
          <a:xfrm>
            <a:off x="672084" y="3913632"/>
            <a:ext cx="1883663" cy="1005840"/>
          </a:xfrm>
          <a:prstGeom prst="rect">
            <a:avLst/>
          </a:prstGeom>
          <a:noFill/>
        </p:spPr>
        <p:txBody>
          <a:bodyPr wrap="square">
            <a:spAutoFit/>
          </a:bodyPr>
          <a:lstStyle/>
          <a:p>
            <a:pPr>
              <a:spcBef>
                <a:spcPts val="0"/>
              </a:spcBef>
            </a:pPr>
            <a:r>
              <a:rPr sz="1200" b="1">
                <a:solidFill>
                  <a:srgbClr val="0B2A4A"/>
                </a:solidFill>
              </a:rPr>
              <a:t>BUSINESS</a:t>
            </a:r>
          </a:p>
          <a:p>
            <a:r>
              <a:rPr sz="1200" b="1">
                <a:solidFill>
                  <a:srgbClr val="0B2A4A"/>
                </a:solidFill>
              </a:rPr>
              <a:t>CONTEXT</a:t>
            </a:r>
          </a:p>
        </p:txBody>
      </p:sp>
      <p:sp>
        <p:nvSpPr>
          <p:cNvPr id="14" name="TextBox 13"/>
          <p:cNvSpPr txBox="1"/>
          <p:nvPr/>
        </p:nvSpPr>
        <p:spPr>
          <a:xfrm>
            <a:off x="672084" y="5029200"/>
            <a:ext cx="1883663" cy="1051560"/>
          </a:xfrm>
          <a:prstGeom prst="rect">
            <a:avLst/>
          </a:prstGeom>
          <a:noFill/>
        </p:spPr>
        <p:txBody>
          <a:bodyPr wrap="square">
            <a:spAutoFit/>
          </a:bodyPr>
          <a:lstStyle/>
          <a:p>
            <a:r>
              <a:rPr sz="950" b="0">
                <a:solidFill>
                  <a:srgbClr val="2C3E50"/>
                </a:solidFill>
              </a:rPr>
              <a:t>759K transactions</a:t>
            </a:r>
          </a:p>
          <a:p>
            <a:pPr>
              <a:spcBef>
                <a:spcPts val="300"/>
              </a:spcBef>
            </a:pPr>
            <a:r>
              <a:rPr sz="950" b="0">
                <a:solidFill>
                  <a:srgbClr val="2C3E50"/>
                </a:solidFill>
              </a:rPr>
              <a:t>136.8K users</a:t>
            </a:r>
          </a:p>
          <a:p>
            <a:pPr>
              <a:spcBef>
                <a:spcPts val="300"/>
              </a:spcBef>
            </a:pPr>
            <a:r>
              <a:rPr sz="950" b="0">
                <a:solidFill>
                  <a:srgbClr val="2C3E50"/>
                </a:solidFill>
              </a:rPr>
              <a:t>Jun-Dec 2020</a:t>
            </a:r>
          </a:p>
        </p:txBody>
      </p:sp>
      <p:sp>
        <p:nvSpPr>
          <p:cNvPr id="15" name="Rectangle 14"/>
          <p:cNvSpPr/>
          <p:nvPr/>
        </p:nvSpPr>
        <p:spPr>
          <a:xfrm>
            <a:off x="2802636" y="3337560"/>
            <a:ext cx="2103120" cy="2926080"/>
          </a:xfrm>
          <a:prstGeom prst="rect">
            <a:avLst/>
          </a:prstGeom>
          <a:solidFill>
            <a:srgbClr val="F7F9FC"/>
          </a:solidFill>
          <a:ln w="12700">
            <a:solidFill>
              <a:srgbClr val="C8D4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2802636" y="3337560"/>
            <a:ext cx="2103120" cy="502920"/>
          </a:xfrm>
          <a:prstGeom prst="rect">
            <a:avLst/>
          </a:prstGeom>
          <a:solidFill>
            <a:srgbClr val="0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802636" y="3392424"/>
            <a:ext cx="2103120" cy="411480"/>
          </a:xfrm>
          <a:prstGeom prst="rect">
            <a:avLst/>
          </a:prstGeom>
          <a:noFill/>
        </p:spPr>
        <p:txBody>
          <a:bodyPr wrap="none">
            <a:spAutoFit/>
          </a:bodyPr>
          <a:lstStyle/>
          <a:p>
            <a:pPr algn="ctr"/>
            <a:r>
              <a:rPr sz="2200" b="1">
                <a:solidFill>
                  <a:srgbClr val="C09840"/>
                </a:solidFill>
              </a:rPr>
              <a:t>02</a:t>
            </a:r>
          </a:p>
        </p:txBody>
      </p:sp>
      <p:sp>
        <p:nvSpPr>
          <p:cNvPr id="18" name="TextBox 17"/>
          <p:cNvSpPr txBox="1"/>
          <p:nvPr/>
        </p:nvSpPr>
        <p:spPr>
          <a:xfrm>
            <a:off x="2912364" y="3913632"/>
            <a:ext cx="1883663" cy="1005840"/>
          </a:xfrm>
          <a:prstGeom prst="rect">
            <a:avLst/>
          </a:prstGeom>
          <a:noFill/>
        </p:spPr>
        <p:txBody>
          <a:bodyPr wrap="square">
            <a:spAutoFit/>
          </a:bodyPr>
          <a:lstStyle/>
          <a:p>
            <a:pPr>
              <a:spcBef>
                <a:spcPts val="0"/>
              </a:spcBef>
            </a:pPr>
            <a:r>
              <a:rPr sz="1200" b="1">
                <a:solidFill>
                  <a:srgbClr val="0B2A4A"/>
                </a:solidFill>
              </a:rPr>
              <a:t>LOYALTY</a:t>
            </a:r>
          </a:p>
          <a:p>
            <a:r>
              <a:rPr sz="1200" b="1">
                <a:solidFill>
                  <a:srgbClr val="0B2A4A"/>
                </a:solidFill>
              </a:rPr>
              <a:t>DEFINITION</a:t>
            </a:r>
          </a:p>
        </p:txBody>
      </p:sp>
      <p:sp>
        <p:nvSpPr>
          <p:cNvPr id="19" name="TextBox 18"/>
          <p:cNvSpPr txBox="1"/>
          <p:nvPr/>
        </p:nvSpPr>
        <p:spPr>
          <a:xfrm>
            <a:off x="2912364" y="5029200"/>
            <a:ext cx="1883663" cy="1051560"/>
          </a:xfrm>
          <a:prstGeom prst="rect">
            <a:avLst/>
          </a:prstGeom>
          <a:noFill/>
        </p:spPr>
        <p:txBody>
          <a:bodyPr wrap="square">
            <a:spAutoFit/>
          </a:bodyPr>
          <a:lstStyle/>
          <a:p>
            <a:r>
              <a:rPr sz="950" b="0" dirty="0">
                <a:solidFill>
                  <a:srgbClr val="2C3E50"/>
                </a:solidFill>
              </a:rPr>
              <a:t>4 hard thresholds</a:t>
            </a:r>
          </a:p>
          <a:p>
            <a:pPr>
              <a:spcBef>
                <a:spcPts val="300"/>
              </a:spcBef>
            </a:pPr>
            <a:r>
              <a:rPr sz="950" b="0" dirty="0">
                <a:solidFill>
                  <a:srgbClr val="2C3E50"/>
                </a:solidFill>
              </a:rPr>
              <a:t>AND/OR platform logic</a:t>
            </a:r>
          </a:p>
          <a:p>
            <a:pPr>
              <a:spcBef>
                <a:spcPts val="300"/>
              </a:spcBef>
            </a:pPr>
            <a:r>
              <a:rPr sz="950" b="0" dirty="0">
                <a:solidFill>
                  <a:srgbClr val="2C3E50"/>
                </a:solidFill>
              </a:rPr>
              <a:t>4.6% loyal rate</a:t>
            </a:r>
          </a:p>
        </p:txBody>
      </p:sp>
      <p:sp>
        <p:nvSpPr>
          <p:cNvPr id="20" name="Rectangle 19"/>
          <p:cNvSpPr/>
          <p:nvPr/>
        </p:nvSpPr>
        <p:spPr>
          <a:xfrm>
            <a:off x="5042916" y="3337560"/>
            <a:ext cx="2103120" cy="2926080"/>
          </a:xfrm>
          <a:prstGeom prst="rect">
            <a:avLst/>
          </a:prstGeom>
          <a:solidFill>
            <a:srgbClr val="F7F9FC"/>
          </a:solidFill>
          <a:ln w="12700">
            <a:solidFill>
              <a:srgbClr val="C8D4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5042916" y="3337560"/>
            <a:ext cx="2103120" cy="502920"/>
          </a:xfrm>
          <a:prstGeom prst="rect">
            <a:avLst/>
          </a:prstGeom>
          <a:solidFill>
            <a:srgbClr val="0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042916" y="3392424"/>
            <a:ext cx="2103120" cy="411480"/>
          </a:xfrm>
          <a:prstGeom prst="rect">
            <a:avLst/>
          </a:prstGeom>
          <a:noFill/>
        </p:spPr>
        <p:txBody>
          <a:bodyPr wrap="none">
            <a:spAutoFit/>
          </a:bodyPr>
          <a:lstStyle/>
          <a:p>
            <a:pPr algn="ctr"/>
            <a:r>
              <a:rPr sz="2200" b="1">
                <a:solidFill>
                  <a:srgbClr val="C09840"/>
                </a:solidFill>
              </a:rPr>
              <a:t>03</a:t>
            </a:r>
          </a:p>
        </p:txBody>
      </p:sp>
      <p:sp>
        <p:nvSpPr>
          <p:cNvPr id="23" name="TextBox 22"/>
          <p:cNvSpPr txBox="1"/>
          <p:nvPr/>
        </p:nvSpPr>
        <p:spPr>
          <a:xfrm>
            <a:off x="5152644" y="3913632"/>
            <a:ext cx="1883663" cy="1005840"/>
          </a:xfrm>
          <a:prstGeom prst="rect">
            <a:avLst/>
          </a:prstGeom>
          <a:noFill/>
        </p:spPr>
        <p:txBody>
          <a:bodyPr wrap="square">
            <a:spAutoFit/>
          </a:bodyPr>
          <a:lstStyle/>
          <a:p>
            <a:pPr>
              <a:spcBef>
                <a:spcPts val="0"/>
              </a:spcBef>
            </a:pPr>
            <a:r>
              <a:rPr sz="1200" b="1">
                <a:solidFill>
                  <a:srgbClr val="0B2A4A"/>
                </a:solidFill>
              </a:rPr>
              <a:t>FEATURE</a:t>
            </a:r>
          </a:p>
          <a:p>
            <a:r>
              <a:rPr sz="1200" b="1">
                <a:solidFill>
                  <a:srgbClr val="0B2A4A"/>
                </a:solidFill>
              </a:rPr>
              <a:t>ENGINEERING</a:t>
            </a:r>
          </a:p>
        </p:txBody>
      </p:sp>
      <p:sp>
        <p:nvSpPr>
          <p:cNvPr id="24" name="TextBox 23"/>
          <p:cNvSpPr txBox="1"/>
          <p:nvPr/>
        </p:nvSpPr>
        <p:spPr>
          <a:xfrm>
            <a:off x="5152644" y="5029200"/>
            <a:ext cx="1883663" cy="1051560"/>
          </a:xfrm>
          <a:prstGeom prst="rect">
            <a:avLst/>
          </a:prstGeom>
          <a:noFill/>
        </p:spPr>
        <p:txBody>
          <a:bodyPr wrap="square">
            <a:spAutoFit/>
          </a:bodyPr>
          <a:lstStyle/>
          <a:p>
            <a:r>
              <a:rPr sz="950" b="0">
                <a:solidFill>
                  <a:srgbClr val="2C3E50"/>
                </a:solidFill>
              </a:rPr>
              <a:t>60-day window</a:t>
            </a:r>
          </a:p>
          <a:p>
            <a:pPr>
              <a:spcBef>
                <a:spcPts val="300"/>
              </a:spcBef>
            </a:pPr>
            <a:r>
              <a:rPr sz="950" b="0">
                <a:solidFill>
                  <a:srgbClr val="2C3E50"/>
                </a:solidFill>
              </a:rPr>
              <a:t>5 behavioral features</a:t>
            </a:r>
          </a:p>
          <a:p>
            <a:pPr>
              <a:spcBef>
                <a:spcPts val="300"/>
              </a:spcBef>
            </a:pPr>
            <a:r>
              <a:rPr sz="950" b="0">
                <a:solidFill>
                  <a:srgbClr val="2C3E50"/>
                </a:solidFill>
              </a:rPr>
              <a:t>recency + freq + spend</a:t>
            </a:r>
          </a:p>
        </p:txBody>
      </p:sp>
      <p:sp>
        <p:nvSpPr>
          <p:cNvPr id="25" name="Rectangle 24"/>
          <p:cNvSpPr/>
          <p:nvPr/>
        </p:nvSpPr>
        <p:spPr>
          <a:xfrm>
            <a:off x="7283196" y="3337560"/>
            <a:ext cx="2103120" cy="2926080"/>
          </a:xfrm>
          <a:prstGeom prst="rect">
            <a:avLst/>
          </a:prstGeom>
          <a:solidFill>
            <a:srgbClr val="F7F9FC"/>
          </a:solidFill>
          <a:ln w="12700">
            <a:solidFill>
              <a:srgbClr val="C8D4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7283196" y="3337560"/>
            <a:ext cx="2103120" cy="502920"/>
          </a:xfrm>
          <a:prstGeom prst="rect">
            <a:avLst/>
          </a:prstGeom>
          <a:solidFill>
            <a:srgbClr val="0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283196" y="3392424"/>
            <a:ext cx="2103120" cy="411480"/>
          </a:xfrm>
          <a:prstGeom prst="rect">
            <a:avLst/>
          </a:prstGeom>
          <a:noFill/>
        </p:spPr>
        <p:txBody>
          <a:bodyPr wrap="none">
            <a:spAutoFit/>
          </a:bodyPr>
          <a:lstStyle/>
          <a:p>
            <a:pPr algn="ctr"/>
            <a:r>
              <a:rPr sz="2200" b="1" dirty="0">
                <a:solidFill>
                  <a:srgbClr val="C09840"/>
                </a:solidFill>
              </a:rPr>
              <a:t>04</a:t>
            </a:r>
          </a:p>
        </p:txBody>
      </p:sp>
      <p:sp>
        <p:nvSpPr>
          <p:cNvPr id="28" name="TextBox 27"/>
          <p:cNvSpPr txBox="1"/>
          <p:nvPr/>
        </p:nvSpPr>
        <p:spPr>
          <a:xfrm>
            <a:off x="7392923" y="3913632"/>
            <a:ext cx="1883663" cy="1005840"/>
          </a:xfrm>
          <a:prstGeom prst="rect">
            <a:avLst/>
          </a:prstGeom>
          <a:noFill/>
        </p:spPr>
        <p:txBody>
          <a:bodyPr wrap="square">
            <a:spAutoFit/>
          </a:bodyPr>
          <a:lstStyle/>
          <a:p>
            <a:pPr>
              <a:spcBef>
                <a:spcPts val="0"/>
              </a:spcBef>
            </a:pPr>
            <a:r>
              <a:rPr sz="1200" b="1">
                <a:solidFill>
                  <a:srgbClr val="0B2A4A"/>
                </a:solidFill>
              </a:rPr>
              <a:t>RANDOM FOREST</a:t>
            </a:r>
          </a:p>
          <a:p>
            <a:r>
              <a:rPr sz="1200" b="1">
                <a:solidFill>
                  <a:srgbClr val="0B2A4A"/>
                </a:solidFill>
              </a:rPr>
              <a:t>MODEL</a:t>
            </a:r>
          </a:p>
        </p:txBody>
      </p:sp>
      <p:sp>
        <p:nvSpPr>
          <p:cNvPr id="29" name="TextBox 28"/>
          <p:cNvSpPr txBox="1"/>
          <p:nvPr/>
        </p:nvSpPr>
        <p:spPr>
          <a:xfrm>
            <a:off x="7392923" y="5029200"/>
            <a:ext cx="1883663" cy="423193"/>
          </a:xfrm>
          <a:prstGeom prst="rect">
            <a:avLst/>
          </a:prstGeom>
          <a:noFill/>
        </p:spPr>
        <p:txBody>
          <a:bodyPr wrap="square">
            <a:spAutoFit/>
          </a:bodyPr>
          <a:lstStyle/>
          <a:p>
            <a:r>
              <a:rPr sz="950" b="0" dirty="0">
                <a:solidFill>
                  <a:srgbClr val="2C3E50"/>
                </a:solidFill>
              </a:rPr>
              <a:t>AUC 0.912</a:t>
            </a:r>
          </a:p>
          <a:p>
            <a:pPr>
              <a:spcBef>
                <a:spcPts val="300"/>
              </a:spcBef>
            </a:pPr>
            <a:r>
              <a:rPr sz="950" b="0">
                <a:solidFill>
                  <a:srgbClr val="2C3E50"/>
                </a:solidFill>
              </a:rPr>
              <a:t>3-tier </a:t>
            </a:r>
            <a:r>
              <a:rPr sz="950" b="0" dirty="0">
                <a:solidFill>
                  <a:srgbClr val="2C3E50"/>
                </a:solidFill>
              </a:rPr>
              <a:t>probability scores</a:t>
            </a:r>
          </a:p>
        </p:txBody>
      </p:sp>
      <p:sp>
        <p:nvSpPr>
          <p:cNvPr id="30" name="Rectangle 29"/>
          <p:cNvSpPr/>
          <p:nvPr/>
        </p:nvSpPr>
        <p:spPr>
          <a:xfrm>
            <a:off x="9523476" y="3337560"/>
            <a:ext cx="2103120" cy="2926080"/>
          </a:xfrm>
          <a:prstGeom prst="rect">
            <a:avLst/>
          </a:prstGeom>
          <a:solidFill>
            <a:srgbClr val="F7F9FC"/>
          </a:solidFill>
          <a:ln w="12700">
            <a:solidFill>
              <a:srgbClr val="C8D4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9523476" y="3337560"/>
            <a:ext cx="2103120" cy="502920"/>
          </a:xfrm>
          <a:prstGeom prst="rect">
            <a:avLst/>
          </a:prstGeom>
          <a:solidFill>
            <a:srgbClr val="0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0340036" y="3392424"/>
            <a:ext cx="470000" cy="430887"/>
          </a:xfrm>
          <a:prstGeom prst="rect">
            <a:avLst/>
          </a:prstGeom>
          <a:noFill/>
        </p:spPr>
        <p:txBody>
          <a:bodyPr wrap="none">
            <a:spAutoFit/>
          </a:bodyPr>
          <a:lstStyle/>
          <a:p>
            <a:pPr algn="ctr"/>
            <a:r>
              <a:rPr lang="en-US" sz="2200" b="1" dirty="0">
                <a:solidFill>
                  <a:srgbClr val="C09840"/>
                </a:solidFill>
              </a:rPr>
              <a:t>05</a:t>
            </a:r>
            <a:endParaRPr sz="2200" b="1" dirty="0">
              <a:solidFill>
                <a:schemeClr val="bg1"/>
              </a:solidFill>
            </a:endParaRPr>
          </a:p>
        </p:txBody>
      </p:sp>
      <p:sp>
        <p:nvSpPr>
          <p:cNvPr id="33" name="TextBox 32"/>
          <p:cNvSpPr txBox="1"/>
          <p:nvPr/>
        </p:nvSpPr>
        <p:spPr>
          <a:xfrm>
            <a:off x="9633203" y="3913632"/>
            <a:ext cx="1883663" cy="1005840"/>
          </a:xfrm>
          <a:prstGeom prst="rect">
            <a:avLst/>
          </a:prstGeom>
          <a:noFill/>
        </p:spPr>
        <p:txBody>
          <a:bodyPr wrap="square">
            <a:spAutoFit/>
          </a:bodyPr>
          <a:lstStyle/>
          <a:p>
            <a:pPr>
              <a:spcBef>
                <a:spcPts val="0"/>
              </a:spcBef>
            </a:pPr>
            <a:r>
              <a:rPr sz="1200" b="1">
                <a:solidFill>
                  <a:srgbClr val="0B2A4A"/>
                </a:solidFill>
              </a:rPr>
              <a:t>SEGMENTATION</a:t>
            </a:r>
          </a:p>
          <a:p>
            <a:r>
              <a:rPr sz="1200" b="1">
                <a:solidFill>
                  <a:srgbClr val="0B2A4A"/>
                </a:solidFill>
              </a:rPr>
              <a:t>&amp; IMPACT</a:t>
            </a:r>
          </a:p>
        </p:txBody>
      </p:sp>
      <p:sp>
        <p:nvSpPr>
          <p:cNvPr id="34" name="TextBox 33"/>
          <p:cNvSpPr txBox="1"/>
          <p:nvPr/>
        </p:nvSpPr>
        <p:spPr>
          <a:xfrm>
            <a:off x="9633203" y="5029200"/>
            <a:ext cx="1883663" cy="423193"/>
          </a:xfrm>
          <a:prstGeom prst="rect">
            <a:avLst/>
          </a:prstGeom>
          <a:noFill/>
        </p:spPr>
        <p:txBody>
          <a:bodyPr wrap="square">
            <a:spAutoFit/>
          </a:bodyPr>
          <a:lstStyle/>
          <a:p>
            <a:r>
              <a:rPr sz="950" b="0" dirty="0">
                <a:solidFill>
                  <a:srgbClr val="2C3E50"/>
                </a:solidFill>
              </a:rPr>
              <a:t>Low / Med / High tiers</a:t>
            </a:r>
          </a:p>
          <a:p>
            <a:pPr>
              <a:spcBef>
                <a:spcPts val="300"/>
              </a:spcBef>
            </a:pPr>
            <a:r>
              <a:rPr sz="950" b="0" dirty="0">
                <a:solidFill>
                  <a:srgbClr val="2C3E50"/>
                </a:solidFill>
              </a:rPr>
              <a:t>83.9% loyalty </a:t>
            </a:r>
            <a:r>
              <a:rPr sz="950" b="0">
                <a:solidFill>
                  <a:srgbClr val="2C3E50"/>
                </a:solidFill>
              </a:rPr>
              <a:t>in High</a:t>
            </a:r>
            <a:endParaRPr sz="950" b="0" dirty="0">
              <a:solidFill>
                <a:srgbClr val="2C3E5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88952" cy="1051560"/>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1430000" cy="640080"/>
          </a:xfrm>
          <a:prstGeom prst="rect">
            <a:avLst/>
          </a:prstGeom>
          <a:noFill/>
        </p:spPr>
        <p:txBody>
          <a:bodyPr wrap="square">
            <a:spAutoFit/>
          </a:bodyPr>
          <a:lstStyle/>
          <a:p>
            <a:pPr algn="l"/>
            <a:r>
              <a:rPr sz="2800" b="1" i="0">
                <a:solidFill>
                  <a:srgbClr val="FFFFFF"/>
                </a:solidFill>
                <a:latin typeface="Calibri Light"/>
              </a:rPr>
              <a:t>The Business Problem</a:t>
            </a:r>
          </a:p>
        </p:txBody>
      </p:sp>
      <p:sp>
        <p:nvSpPr>
          <p:cNvPr id="5" name="TextBox 4"/>
          <p:cNvSpPr txBox="1"/>
          <p:nvPr/>
        </p:nvSpPr>
        <p:spPr>
          <a:xfrm>
            <a:off x="274320" y="685800"/>
            <a:ext cx="9144000" cy="292388"/>
          </a:xfrm>
          <a:prstGeom prst="rect">
            <a:avLst/>
          </a:prstGeom>
          <a:noFill/>
        </p:spPr>
        <p:txBody>
          <a:bodyPr wrap="square">
            <a:spAutoFit/>
          </a:bodyPr>
          <a:lstStyle/>
          <a:p>
            <a:pPr algn="l"/>
            <a:r>
              <a:rPr lang="en-US" sz="1300" b="0" i="0" dirty="0">
                <a:solidFill>
                  <a:srgbClr val="B0C8E4"/>
                </a:solidFill>
                <a:latin typeface="Calibri Light"/>
              </a:rPr>
              <a:t>Defining what loyalty means for a BNPL platform, then predicting it before it is visible</a:t>
            </a:r>
            <a:endParaRPr sz="1300" b="0" i="0" dirty="0">
              <a:solidFill>
                <a:srgbClr val="B0C8E4"/>
              </a:solidFill>
              <a:latin typeface="Calibri Light"/>
            </a:endParaRPr>
          </a:p>
        </p:txBody>
      </p:sp>
      <p:sp>
        <p:nvSpPr>
          <p:cNvPr id="6" name="Rectangle 5"/>
          <p:cNvSpPr/>
          <p:nvPr/>
        </p:nvSpPr>
        <p:spPr>
          <a:xfrm>
            <a:off x="274320" y="1216152"/>
            <a:ext cx="109728" cy="1362456"/>
          </a:xfrm>
          <a:prstGeom prst="rect">
            <a:avLst/>
          </a:prstGeom>
          <a:solidFill>
            <a:srgbClr val="0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11480" y="1143000"/>
            <a:ext cx="11521440" cy="1508760"/>
          </a:xfrm>
          <a:prstGeom prst="rect">
            <a:avLst/>
          </a:prstGeom>
          <a:solidFill>
            <a:srgbClr val="F5F5F5"/>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02920" y="1216152"/>
            <a:ext cx="3200400" cy="320040"/>
          </a:xfrm>
          <a:prstGeom prst="rect">
            <a:avLst/>
          </a:prstGeom>
          <a:noFill/>
        </p:spPr>
        <p:txBody>
          <a:bodyPr wrap="none">
            <a:spAutoFit/>
          </a:bodyPr>
          <a:lstStyle/>
          <a:p>
            <a:r>
              <a:rPr sz="950" b="1">
                <a:solidFill>
                  <a:srgbClr val="0B2A4A"/>
                </a:solidFill>
              </a:rPr>
              <a:t>WHAT IS SPENDY?</a:t>
            </a:r>
          </a:p>
        </p:txBody>
      </p:sp>
      <p:sp>
        <p:nvSpPr>
          <p:cNvPr id="9" name="TextBox 8"/>
          <p:cNvSpPr txBox="1"/>
          <p:nvPr/>
        </p:nvSpPr>
        <p:spPr>
          <a:xfrm>
            <a:off x="502920" y="1527048"/>
            <a:ext cx="7498079" cy="1051560"/>
          </a:xfrm>
          <a:prstGeom prst="rect">
            <a:avLst/>
          </a:prstGeom>
          <a:noFill/>
        </p:spPr>
        <p:txBody>
          <a:bodyPr wrap="square">
            <a:spAutoFit/>
          </a:bodyPr>
          <a:lstStyle/>
          <a:p>
            <a:pPr>
              <a:spcBef>
                <a:spcPts val="0"/>
              </a:spcBef>
            </a:pPr>
            <a:r>
              <a:rPr sz="1050">
                <a:solidFill>
                  <a:srgbClr val="2C3E50"/>
                </a:solidFill>
              </a:rPr>
              <a:t>–  Buy Now, Pay Later (BNPL) platform operating across Japan.</a:t>
            </a:r>
          </a:p>
          <a:p>
            <a:pPr>
              <a:spcBef>
                <a:spcPts val="200"/>
              </a:spcBef>
            </a:pPr>
            <a:r>
              <a:rPr sz="1050">
                <a:solidFill>
                  <a:srgbClr val="2C3E50"/>
                </a:solidFill>
              </a:rPr>
              <a:t>–  Revenue: merchant transaction fees + consumer instalment interest.</a:t>
            </a:r>
          </a:p>
          <a:p>
            <a:pPr>
              <a:spcBef>
                <a:spcPts val="200"/>
              </a:spcBef>
            </a:pPr>
            <a:r>
              <a:rPr sz="1050">
                <a:solidFill>
                  <a:srgbClr val="2C3E50"/>
                </a:solidFill>
              </a:rPr>
              <a:t>–  Dataset: 759K transactions, 136.8K users, 711 shops  (Jun – Dec 2020).</a:t>
            </a:r>
          </a:p>
        </p:txBody>
      </p:sp>
      <p:sp>
        <p:nvSpPr>
          <p:cNvPr id="10" name="Rectangle 9"/>
          <p:cNvSpPr/>
          <p:nvPr/>
        </p:nvSpPr>
        <p:spPr>
          <a:xfrm>
            <a:off x="274320" y="2862072"/>
            <a:ext cx="109728" cy="1453896"/>
          </a:xfrm>
          <a:prstGeom prst="rect">
            <a:avLst/>
          </a:prstGeom>
          <a:solidFill>
            <a:srgbClr val="0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11480" y="2788920"/>
            <a:ext cx="11521440" cy="1600200"/>
          </a:xfrm>
          <a:prstGeom prst="rect">
            <a:avLst/>
          </a:prstGeom>
          <a:solidFill>
            <a:srgbClr val="F5F5F5"/>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2862072"/>
            <a:ext cx="3200400" cy="320040"/>
          </a:xfrm>
          <a:prstGeom prst="rect">
            <a:avLst/>
          </a:prstGeom>
          <a:noFill/>
        </p:spPr>
        <p:txBody>
          <a:bodyPr wrap="none">
            <a:spAutoFit/>
          </a:bodyPr>
          <a:lstStyle/>
          <a:p>
            <a:r>
              <a:rPr sz="950" b="1">
                <a:solidFill>
                  <a:srgbClr val="0B2A4A"/>
                </a:solidFill>
              </a:rPr>
              <a:t>THE BRAND LOYALIST PROBLEM</a:t>
            </a:r>
          </a:p>
        </p:txBody>
      </p:sp>
      <p:sp>
        <p:nvSpPr>
          <p:cNvPr id="13" name="TextBox 12"/>
          <p:cNvSpPr txBox="1"/>
          <p:nvPr/>
        </p:nvSpPr>
        <p:spPr>
          <a:xfrm>
            <a:off x="502920" y="3172968"/>
            <a:ext cx="7498079" cy="1143000"/>
          </a:xfrm>
          <a:prstGeom prst="rect">
            <a:avLst/>
          </a:prstGeom>
          <a:noFill/>
        </p:spPr>
        <p:txBody>
          <a:bodyPr wrap="square">
            <a:spAutoFit/>
          </a:bodyPr>
          <a:lstStyle/>
          <a:p>
            <a:pPr>
              <a:spcBef>
                <a:spcPts val="0"/>
              </a:spcBef>
            </a:pPr>
            <a:r>
              <a:rPr sz="1050">
                <a:solidFill>
                  <a:srgbClr val="2C3E50"/>
                </a:solidFill>
              </a:rPr>
              <a:t>–  75% of users bought from exactly ONE merchant: they are loyal to the shop, not to Spendy.</a:t>
            </a:r>
          </a:p>
          <a:p>
            <a:pPr>
              <a:spcBef>
                <a:spcPts val="200"/>
              </a:spcBef>
            </a:pPr>
            <a:r>
              <a:rPr sz="1050">
                <a:solidFill>
                  <a:srgbClr val="2C3E50"/>
                </a:solidFill>
              </a:rPr>
              <a:t>–  If that merchant stops accepting Spendy, the customer disappears entirely.</a:t>
            </a:r>
          </a:p>
          <a:p>
            <a:pPr>
              <a:spcBef>
                <a:spcPts val="200"/>
              </a:spcBef>
            </a:pPr>
            <a:r>
              <a:rPr sz="1050">
                <a:solidFill>
                  <a:srgbClr val="2C3E50"/>
                </a:solidFill>
              </a:rPr>
              <a:t>–  Raw purchase counts reward these single-shop users: a loyalty programme built on that metric wastes budget.</a:t>
            </a:r>
          </a:p>
        </p:txBody>
      </p:sp>
      <p:sp>
        <p:nvSpPr>
          <p:cNvPr id="14" name="Rectangle 13"/>
          <p:cNvSpPr/>
          <p:nvPr/>
        </p:nvSpPr>
        <p:spPr>
          <a:xfrm>
            <a:off x="274320" y="4599432"/>
            <a:ext cx="109728" cy="1316736"/>
          </a:xfrm>
          <a:prstGeom prst="rect">
            <a:avLst/>
          </a:prstGeom>
          <a:solidFill>
            <a:srgbClr val="0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11480" y="4526280"/>
            <a:ext cx="11521440" cy="1463040"/>
          </a:xfrm>
          <a:prstGeom prst="rect">
            <a:avLst/>
          </a:prstGeom>
          <a:solidFill>
            <a:srgbClr val="F5F5F5"/>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02920" y="4599432"/>
            <a:ext cx="3200400" cy="320040"/>
          </a:xfrm>
          <a:prstGeom prst="rect">
            <a:avLst/>
          </a:prstGeom>
          <a:noFill/>
        </p:spPr>
        <p:txBody>
          <a:bodyPr wrap="none">
            <a:spAutoFit/>
          </a:bodyPr>
          <a:lstStyle/>
          <a:p>
            <a:r>
              <a:rPr sz="950" b="1">
                <a:solidFill>
                  <a:srgbClr val="0B2A4A"/>
                </a:solidFill>
              </a:rPr>
              <a:t>WHY PREDICT EARLY?</a:t>
            </a:r>
          </a:p>
        </p:txBody>
      </p:sp>
      <p:sp>
        <p:nvSpPr>
          <p:cNvPr id="17" name="TextBox 16"/>
          <p:cNvSpPr txBox="1"/>
          <p:nvPr/>
        </p:nvSpPr>
        <p:spPr>
          <a:xfrm>
            <a:off x="502920" y="4910328"/>
            <a:ext cx="7498079" cy="628377"/>
          </a:xfrm>
          <a:prstGeom prst="rect">
            <a:avLst/>
          </a:prstGeom>
          <a:noFill/>
        </p:spPr>
        <p:txBody>
          <a:bodyPr wrap="square">
            <a:spAutoFit/>
          </a:bodyPr>
          <a:lstStyle/>
          <a:p>
            <a:pPr>
              <a:spcBef>
                <a:spcPts val="0"/>
              </a:spcBef>
            </a:pPr>
            <a:r>
              <a:rPr sz="1050" dirty="0">
                <a:solidFill>
                  <a:srgbClr val="2C3E50"/>
                </a:solidFill>
              </a:rPr>
              <a:t>–  At Month 2 a user's habits are still forming: an incentive now is far cheaper than re-acquisition later.</a:t>
            </a:r>
          </a:p>
          <a:p>
            <a:pPr>
              <a:spcBef>
                <a:spcPts val="200"/>
              </a:spcBef>
            </a:pPr>
            <a:r>
              <a:rPr sz="1050" dirty="0">
                <a:solidFill>
                  <a:srgbClr val="2C3E50"/>
                </a:solidFill>
              </a:rPr>
              <a:t>–  Not all new users have the same potential: the model separates high-value targets from the rest.</a:t>
            </a:r>
          </a:p>
          <a:p>
            <a:pPr>
              <a:spcBef>
                <a:spcPts val="200"/>
              </a:spcBef>
            </a:pPr>
            <a:r>
              <a:rPr sz="1050" dirty="0">
                <a:solidFill>
                  <a:srgbClr val="2C3E50"/>
                </a:solidFill>
              </a:rPr>
              <a:t>–  Proactive segmentation at Month 2 → differentiated campaigns → better ROI per </a:t>
            </a:r>
            <a:r>
              <a:rPr sz="1050">
                <a:solidFill>
                  <a:srgbClr val="2C3E50"/>
                </a:solidFill>
              </a:rPr>
              <a:t>marketing </a:t>
            </a:r>
            <a:r>
              <a:rPr lang="en-US" sz="1050">
                <a:solidFill>
                  <a:srgbClr val="2C3E50"/>
                </a:solidFill>
              </a:rPr>
              <a:t>cost</a:t>
            </a:r>
            <a:r>
              <a:rPr sz="1050">
                <a:solidFill>
                  <a:srgbClr val="2C3E50"/>
                </a:solidFill>
              </a:rPr>
              <a:t>.</a:t>
            </a:r>
            <a:endParaRPr sz="1050" dirty="0">
              <a:solidFill>
                <a:srgbClr val="2C3E5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1430000" cy="640080"/>
          </a:xfrm>
          <a:prstGeom prst="rect">
            <a:avLst/>
          </a:prstGeom>
          <a:noFill/>
        </p:spPr>
        <p:txBody>
          <a:bodyPr wrap="square">
            <a:spAutoFit/>
          </a:bodyPr>
          <a:lstStyle/>
          <a:p>
            <a:pPr algn="l"/>
            <a:r>
              <a:rPr sz="2800" b="1" i="0">
                <a:solidFill>
                  <a:srgbClr val="FFFFFF"/>
                </a:solidFill>
                <a:latin typeface="Calibri Light"/>
              </a:rPr>
              <a:t>Dataset Overview</a:t>
            </a:r>
          </a:p>
        </p:txBody>
      </p:sp>
      <p:sp>
        <p:nvSpPr>
          <p:cNvPr id="5" name="TextBox 4"/>
          <p:cNvSpPr txBox="1"/>
          <p:nvPr/>
        </p:nvSpPr>
        <p:spPr>
          <a:xfrm>
            <a:off x="274320" y="685800"/>
            <a:ext cx="9144000" cy="365760"/>
          </a:xfrm>
          <a:prstGeom prst="rect">
            <a:avLst/>
          </a:prstGeom>
          <a:noFill/>
        </p:spPr>
        <p:txBody>
          <a:bodyPr wrap="square">
            <a:spAutoFit/>
          </a:bodyPr>
          <a:lstStyle/>
          <a:p>
            <a:pPr algn="l"/>
            <a:r>
              <a:rPr sz="1300" b="0" i="0">
                <a:solidFill>
                  <a:srgbClr val="B0C8E4"/>
                </a:solidFill>
                <a:latin typeface="Calibri Light"/>
              </a:rPr>
              <a:t>Exploratory findings that shaped the modelling approach</a:t>
            </a:r>
          </a:p>
        </p:txBody>
      </p:sp>
      <p:sp>
        <p:nvSpPr>
          <p:cNvPr id="9" name="Rectangle 8"/>
          <p:cNvSpPr/>
          <p:nvPr/>
        </p:nvSpPr>
        <p:spPr>
          <a:xfrm>
            <a:off x="274320" y="1234440"/>
            <a:ext cx="2194560" cy="1005840"/>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1325880"/>
            <a:ext cx="2011680" cy="548640"/>
          </a:xfrm>
          <a:prstGeom prst="rect">
            <a:avLst/>
          </a:prstGeom>
          <a:noFill/>
        </p:spPr>
        <p:txBody>
          <a:bodyPr wrap="square">
            <a:spAutoFit/>
          </a:bodyPr>
          <a:lstStyle/>
          <a:p>
            <a:pPr algn="ctr"/>
            <a:r>
              <a:rPr sz="3200" b="1" i="0">
                <a:solidFill>
                  <a:srgbClr val="C09840"/>
                </a:solidFill>
                <a:latin typeface="Calibri"/>
              </a:rPr>
              <a:t>759K</a:t>
            </a:r>
          </a:p>
        </p:txBody>
      </p:sp>
      <p:sp>
        <p:nvSpPr>
          <p:cNvPr id="11" name="TextBox 10"/>
          <p:cNvSpPr txBox="1"/>
          <p:nvPr/>
        </p:nvSpPr>
        <p:spPr>
          <a:xfrm>
            <a:off x="365760" y="1828800"/>
            <a:ext cx="2011680" cy="457200"/>
          </a:xfrm>
          <a:prstGeom prst="rect">
            <a:avLst/>
          </a:prstGeom>
          <a:noFill/>
        </p:spPr>
        <p:txBody>
          <a:bodyPr wrap="square">
            <a:spAutoFit/>
          </a:bodyPr>
          <a:lstStyle/>
          <a:p>
            <a:pPr algn="ctr"/>
            <a:r>
              <a:rPr sz="1100" b="0" i="0">
                <a:solidFill>
                  <a:srgbClr val="FFFFFF"/>
                </a:solidFill>
                <a:latin typeface="Calibri Light"/>
              </a:rPr>
              <a:t>Transactions
(Jun–Dec 2020)</a:t>
            </a:r>
          </a:p>
        </p:txBody>
      </p:sp>
      <p:sp>
        <p:nvSpPr>
          <p:cNvPr id="12" name="Rectangle 11"/>
          <p:cNvSpPr/>
          <p:nvPr/>
        </p:nvSpPr>
        <p:spPr>
          <a:xfrm>
            <a:off x="2606040" y="1234440"/>
            <a:ext cx="2194560" cy="1005840"/>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697480" y="1325880"/>
            <a:ext cx="2011680" cy="548640"/>
          </a:xfrm>
          <a:prstGeom prst="rect">
            <a:avLst/>
          </a:prstGeom>
          <a:noFill/>
        </p:spPr>
        <p:txBody>
          <a:bodyPr wrap="square">
            <a:spAutoFit/>
          </a:bodyPr>
          <a:lstStyle/>
          <a:p>
            <a:pPr algn="ctr"/>
            <a:r>
              <a:rPr sz="3200" b="1" i="0">
                <a:solidFill>
                  <a:srgbClr val="C09840"/>
                </a:solidFill>
                <a:latin typeface="Calibri"/>
              </a:rPr>
              <a:t>136.8K</a:t>
            </a:r>
          </a:p>
        </p:txBody>
      </p:sp>
      <p:sp>
        <p:nvSpPr>
          <p:cNvPr id="14" name="TextBox 13"/>
          <p:cNvSpPr txBox="1"/>
          <p:nvPr/>
        </p:nvSpPr>
        <p:spPr>
          <a:xfrm>
            <a:off x="2697480" y="1828800"/>
            <a:ext cx="2011680" cy="457200"/>
          </a:xfrm>
          <a:prstGeom prst="rect">
            <a:avLst/>
          </a:prstGeom>
          <a:noFill/>
        </p:spPr>
        <p:txBody>
          <a:bodyPr wrap="square">
            <a:spAutoFit/>
          </a:bodyPr>
          <a:lstStyle/>
          <a:p>
            <a:pPr algn="ctr"/>
            <a:r>
              <a:rPr sz="1100" b="0" i="0">
                <a:solidFill>
                  <a:srgbClr val="FFFFFF"/>
                </a:solidFill>
                <a:latin typeface="Calibri Light"/>
              </a:rPr>
              <a:t>Unique Users</a:t>
            </a:r>
          </a:p>
        </p:txBody>
      </p:sp>
      <p:sp>
        <p:nvSpPr>
          <p:cNvPr id="15" name="Rectangle 14"/>
          <p:cNvSpPr/>
          <p:nvPr/>
        </p:nvSpPr>
        <p:spPr>
          <a:xfrm>
            <a:off x="4937760" y="1234440"/>
            <a:ext cx="2194560" cy="1005840"/>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029200" y="1325880"/>
            <a:ext cx="2011680" cy="548640"/>
          </a:xfrm>
          <a:prstGeom prst="rect">
            <a:avLst/>
          </a:prstGeom>
          <a:noFill/>
        </p:spPr>
        <p:txBody>
          <a:bodyPr wrap="square">
            <a:spAutoFit/>
          </a:bodyPr>
          <a:lstStyle/>
          <a:p>
            <a:pPr algn="ctr"/>
            <a:r>
              <a:rPr sz="3200" b="1" i="0">
                <a:solidFill>
                  <a:srgbClr val="C09840"/>
                </a:solidFill>
                <a:latin typeface="Calibri"/>
              </a:rPr>
              <a:t>711</a:t>
            </a:r>
          </a:p>
        </p:txBody>
      </p:sp>
      <p:sp>
        <p:nvSpPr>
          <p:cNvPr id="17" name="TextBox 16"/>
          <p:cNvSpPr txBox="1"/>
          <p:nvPr/>
        </p:nvSpPr>
        <p:spPr>
          <a:xfrm>
            <a:off x="5029200" y="1828800"/>
            <a:ext cx="2011680" cy="457200"/>
          </a:xfrm>
          <a:prstGeom prst="rect">
            <a:avLst/>
          </a:prstGeom>
          <a:noFill/>
        </p:spPr>
        <p:txBody>
          <a:bodyPr wrap="square">
            <a:spAutoFit/>
          </a:bodyPr>
          <a:lstStyle/>
          <a:p>
            <a:pPr algn="ctr"/>
            <a:r>
              <a:rPr sz="1100" b="0" i="0">
                <a:solidFill>
                  <a:srgbClr val="FFFFFF"/>
                </a:solidFill>
                <a:latin typeface="Calibri Light"/>
              </a:rPr>
              <a:t>Unique Shops</a:t>
            </a:r>
          </a:p>
        </p:txBody>
      </p:sp>
      <p:sp>
        <p:nvSpPr>
          <p:cNvPr id="18" name="Rectangle 17"/>
          <p:cNvSpPr/>
          <p:nvPr/>
        </p:nvSpPr>
        <p:spPr>
          <a:xfrm>
            <a:off x="7269480" y="1234440"/>
            <a:ext cx="2194560" cy="100584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360920" y="1325880"/>
            <a:ext cx="2011680" cy="548640"/>
          </a:xfrm>
          <a:prstGeom prst="rect">
            <a:avLst/>
          </a:prstGeom>
          <a:noFill/>
        </p:spPr>
        <p:txBody>
          <a:bodyPr wrap="square">
            <a:spAutoFit/>
          </a:bodyPr>
          <a:lstStyle/>
          <a:p>
            <a:pPr algn="ctr"/>
            <a:r>
              <a:rPr sz="3200" b="1" i="0">
                <a:solidFill>
                  <a:srgbClr val="C09840"/>
                </a:solidFill>
                <a:latin typeface="Calibri"/>
              </a:rPr>
              <a:t>7 mos</a:t>
            </a:r>
          </a:p>
        </p:txBody>
      </p:sp>
      <p:sp>
        <p:nvSpPr>
          <p:cNvPr id="20" name="TextBox 19"/>
          <p:cNvSpPr txBox="1"/>
          <p:nvPr/>
        </p:nvSpPr>
        <p:spPr>
          <a:xfrm>
            <a:off x="7360920" y="1828800"/>
            <a:ext cx="2011680" cy="457200"/>
          </a:xfrm>
          <a:prstGeom prst="rect">
            <a:avLst/>
          </a:prstGeom>
          <a:noFill/>
        </p:spPr>
        <p:txBody>
          <a:bodyPr wrap="square">
            <a:spAutoFit/>
          </a:bodyPr>
          <a:lstStyle/>
          <a:p>
            <a:pPr algn="ctr"/>
            <a:r>
              <a:rPr sz="1100" b="0" i="0">
                <a:solidFill>
                  <a:srgbClr val="FFFFFF"/>
                </a:solidFill>
                <a:latin typeface="Calibri Light"/>
              </a:rPr>
              <a:t>Observation Window</a:t>
            </a:r>
          </a:p>
        </p:txBody>
      </p:sp>
      <p:sp>
        <p:nvSpPr>
          <p:cNvPr id="21" name="Rectangle 20"/>
          <p:cNvSpPr/>
          <p:nvPr/>
        </p:nvSpPr>
        <p:spPr>
          <a:xfrm>
            <a:off x="9601200" y="1234440"/>
            <a:ext cx="2286000" cy="1005840"/>
          </a:xfrm>
          <a:prstGeom prst="rect">
            <a:avLst/>
          </a:prstGeom>
          <a:solidFill>
            <a:srgbClr val="3D6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692640" y="1325880"/>
            <a:ext cx="2103120" cy="548640"/>
          </a:xfrm>
          <a:prstGeom prst="rect">
            <a:avLst/>
          </a:prstGeom>
          <a:noFill/>
        </p:spPr>
        <p:txBody>
          <a:bodyPr wrap="square">
            <a:spAutoFit/>
          </a:bodyPr>
          <a:lstStyle/>
          <a:p>
            <a:pPr algn="ctr"/>
            <a:r>
              <a:rPr sz="3200" b="1" i="0">
                <a:solidFill>
                  <a:srgbClr val="C09840"/>
                </a:solidFill>
                <a:latin typeface="Calibri"/>
              </a:rPr>
              <a:t>Zero</a:t>
            </a:r>
          </a:p>
        </p:txBody>
      </p:sp>
      <p:sp>
        <p:nvSpPr>
          <p:cNvPr id="23" name="TextBox 22"/>
          <p:cNvSpPr txBox="1"/>
          <p:nvPr/>
        </p:nvSpPr>
        <p:spPr>
          <a:xfrm>
            <a:off x="9692640" y="1828800"/>
            <a:ext cx="2103120" cy="457200"/>
          </a:xfrm>
          <a:prstGeom prst="rect">
            <a:avLst/>
          </a:prstGeom>
          <a:noFill/>
        </p:spPr>
        <p:txBody>
          <a:bodyPr wrap="square">
            <a:spAutoFit/>
          </a:bodyPr>
          <a:lstStyle/>
          <a:p>
            <a:pPr algn="ctr"/>
            <a:r>
              <a:rPr sz="1100" b="0" i="0">
                <a:solidFill>
                  <a:srgbClr val="FFFFFF"/>
                </a:solidFill>
                <a:latin typeface="Calibri Light"/>
              </a:rPr>
              <a:t>Missing Values</a:t>
            </a:r>
          </a:p>
        </p:txBody>
      </p:sp>
      <p:sp>
        <p:nvSpPr>
          <p:cNvPr id="24" name="Rectangle 23"/>
          <p:cNvSpPr/>
          <p:nvPr/>
        </p:nvSpPr>
        <p:spPr>
          <a:xfrm>
            <a:off x="274320" y="2468880"/>
            <a:ext cx="3657600" cy="3657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274320" y="2468880"/>
            <a:ext cx="3657600" cy="54864"/>
          </a:xfrm>
          <a:prstGeom prst="rect">
            <a:avLst/>
          </a:prstGeom>
          <a:solidFill>
            <a:srgbClr val="5E7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65760" y="2560320"/>
            <a:ext cx="3474720" cy="347472"/>
          </a:xfrm>
          <a:prstGeom prst="rect">
            <a:avLst/>
          </a:prstGeom>
          <a:noFill/>
        </p:spPr>
        <p:txBody>
          <a:bodyPr wrap="square">
            <a:spAutoFit/>
          </a:bodyPr>
          <a:lstStyle/>
          <a:p>
            <a:pPr algn="l"/>
            <a:r>
              <a:rPr sz="1100" b="1" i="0">
                <a:solidFill>
                  <a:srgbClr val="0B2A4A"/>
                </a:solidFill>
                <a:latin typeface="Calibri"/>
              </a:rPr>
              <a:t>SKEWED PURCHASE DISTRIBUTION</a:t>
            </a:r>
          </a:p>
        </p:txBody>
      </p:sp>
      <p:sp>
        <p:nvSpPr>
          <p:cNvPr id="27" name="TextBox 26"/>
          <p:cNvSpPr txBox="1"/>
          <p:nvPr/>
        </p:nvSpPr>
        <p:spPr>
          <a:xfrm>
            <a:off x="365760" y="2926080"/>
            <a:ext cx="3383280" cy="320040"/>
          </a:xfrm>
          <a:prstGeom prst="rect">
            <a:avLst/>
          </a:prstGeom>
          <a:noFill/>
        </p:spPr>
        <p:txBody>
          <a:bodyPr wrap="square">
            <a:spAutoFit/>
          </a:bodyPr>
          <a:lstStyle/>
          <a:p>
            <a:pPr algn="l"/>
            <a:r>
              <a:rPr sz="2000" b="1" i="0">
                <a:solidFill>
                  <a:srgbClr val="7A6858"/>
                </a:solidFill>
                <a:latin typeface="Calibri"/>
              </a:rPr>
              <a:t>Median: 2 purchases per user</a:t>
            </a:r>
          </a:p>
        </p:txBody>
      </p:sp>
      <p:sp>
        <p:nvSpPr>
          <p:cNvPr id="28" name="TextBox 27"/>
          <p:cNvSpPr txBox="1"/>
          <p:nvPr/>
        </p:nvSpPr>
        <p:spPr>
          <a:xfrm>
            <a:off x="365760" y="3291840"/>
            <a:ext cx="3383280" cy="600164"/>
          </a:xfrm>
          <a:prstGeom prst="rect">
            <a:avLst/>
          </a:prstGeom>
          <a:noFill/>
        </p:spPr>
        <p:txBody>
          <a:bodyPr wrap="square">
            <a:spAutoFit/>
          </a:bodyPr>
          <a:lstStyle/>
          <a:p>
            <a:pPr algn="l"/>
            <a:r>
              <a:rPr sz="1100" b="0">
                <a:solidFill>
                  <a:srgbClr val="2C3E50"/>
                </a:solidFill>
                <a:latin typeface="Calibri"/>
              </a:rPr>
              <a:t>→  Raw purchase count is misleading</a:t>
            </a:r>
          </a:p>
          <a:p>
            <a:pPr algn="l"/>
            <a:r>
              <a:rPr sz="1100" b="0">
                <a:solidFill>
                  <a:srgbClr val="2C3E50"/>
                </a:solidFill>
                <a:latin typeface="Calibri"/>
              </a:rPr>
              <a:t>→  Must normalise by registration tenure</a:t>
            </a:r>
          </a:p>
          <a:p>
            <a:pPr algn="l"/>
            <a:r>
              <a:rPr sz="1100" b="0">
                <a:solidFill>
                  <a:srgbClr val="2C3E50"/>
                </a:solidFill>
                <a:latin typeface="Calibri"/>
              </a:rPr>
              <a:t>→  Frequency rate (purchases/month) is the right metric</a:t>
            </a:r>
          </a:p>
        </p:txBody>
      </p:sp>
      <p:sp>
        <p:nvSpPr>
          <p:cNvPr id="29" name="Rectangle 28"/>
          <p:cNvSpPr/>
          <p:nvPr/>
        </p:nvSpPr>
        <p:spPr>
          <a:xfrm>
            <a:off x="4114800" y="2468880"/>
            <a:ext cx="3657600" cy="3657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4114800" y="2468880"/>
            <a:ext cx="3657600" cy="54864"/>
          </a:xfrm>
          <a:prstGeom prst="rect">
            <a:avLst/>
          </a:prstGeom>
          <a:solidFill>
            <a:srgbClr val="5E7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206240" y="2560320"/>
            <a:ext cx="3474720" cy="347472"/>
          </a:xfrm>
          <a:prstGeom prst="rect">
            <a:avLst/>
          </a:prstGeom>
          <a:noFill/>
        </p:spPr>
        <p:txBody>
          <a:bodyPr wrap="square">
            <a:spAutoFit/>
          </a:bodyPr>
          <a:lstStyle/>
          <a:p>
            <a:pPr algn="l"/>
            <a:r>
              <a:rPr sz="1100" b="1" i="0">
                <a:solidFill>
                  <a:srgbClr val="0B2A4A"/>
                </a:solidFill>
                <a:latin typeface="Calibri"/>
              </a:rPr>
              <a:t>SINGLE-SHOP CONCENTRATION</a:t>
            </a:r>
          </a:p>
        </p:txBody>
      </p:sp>
      <p:sp>
        <p:nvSpPr>
          <p:cNvPr id="32" name="TextBox 31"/>
          <p:cNvSpPr txBox="1"/>
          <p:nvPr/>
        </p:nvSpPr>
        <p:spPr>
          <a:xfrm>
            <a:off x="4206240" y="2926080"/>
            <a:ext cx="3383280" cy="320040"/>
          </a:xfrm>
          <a:prstGeom prst="rect">
            <a:avLst/>
          </a:prstGeom>
          <a:noFill/>
        </p:spPr>
        <p:txBody>
          <a:bodyPr wrap="square">
            <a:spAutoFit/>
          </a:bodyPr>
          <a:lstStyle/>
          <a:p>
            <a:pPr algn="l"/>
            <a:r>
              <a:rPr sz="2000" b="1" i="0">
                <a:solidFill>
                  <a:srgbClr val="5E7080"/>
                </a:solidFill>
                <a:latin typeface="Calibri"/>
              </a:rPr>
              <a:t>75% shop at ONE merchant</a:t>
            </a:r>
          </a:p>
        </p:txBody>
      </p:sp>
      <p:sp>
        <p:nvSpPr>
          <p:cNvPr id="33" name="TextBox 32"/>
          <p:cNvSpPr txBox="1"/>
          <p:nvPr/>
        </p:nvSpPr>
        <p:spPr>
          <a:xfrm>
            <a:off x="4206240" y="3291840"/>
            <a:ext cx="3383280" cy="600164"/>
          </a:xfrm>
          <a:prstGeom prst="rect">
            <a:avLst/>
          </a:prstGeom>
          <a:noFill/>
        </p:spPr>
        <p:txBody>
          <a:bodyPr wrap="square">
            <a:spAutoFit/>
          </a:bodyPr>
          <a:lstStyle/>
          <a:p>
            <a:pPr algn="l"/>
            <a:r>
              <a:rPr sz="1100" b="0">
                <a:solidFill>
                  <a:srgbClr val="2C3E50"/>
                </a:solidFill>
                <a:latin typeface="Calibri"/>
              </a:rPr>
              <a:t>→  Merchant loyalty ≠ Platform loyalty</a:t>
            </a:r>
          </a:p>
          <a:p>
            <a:pPr algn="l"/>
            <a:r>
              <a:rPr sz="1100" b="0">
                <a:solidFill>
                  <a:srgbClr val="2C3E50"/>
                </a:solidFill>
                <a:latin typeface="Calibri"/>
              </a:rPr>
              <a:t>→  Requires explicit platform diversification check</a:t>
            </a:r>
          </a:p>
          <a:p>
            <a:pPr algn="l"/>
            <a:r>
              <a:rPr sz="1100" b="0">
                <a:solidFill>
                  <a:srgbClr val="2C3E50"/>
                </a:solidFill>
                <a:latin typeface="Calibri"/>
              </a:rPr>
              <a:t>→  Core motivation for the loyalty definition</a:t>
            </a:r>
          </a:p>
        </p:txBody>
      </p:sp>
      <p:sp>
        <p:nvSpPr>
          <p:cNvPr id="34" name="Rectangle 33"/>
          <p:cNvSpPr/>
          <p:nvPr/>
        </p:nvSpPr>
        <p:spPr>
          <a:xfrm>
            <a:off x="7955279" y="2468880"/>
            <a:ext cx="3931920" cy="3657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7955279" y="2468880"/>
            <a:ext cx="3931920" cy="54864"/>
          </a:xfrm>
          <a:prstGeom prst="rect">
            <a:avLst/>
          </a:prstGeom>
          <a:solidFill>
            <a:srgbClr val="2D6A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046720" y="2560320"/>
            <a:ext cx="3657600" cy="347472"/>
          </a:xfrm>
          <a:prstGeom prst="rect">
            <a:avLst/>
          </a:prstGeom>
          <a:noFill/>
        </p:spPr>
        <p:txBody>
          <a:bodyPr wrap="square">
            <a:spAutoFit/>
          </a:bodyPr>
          <a:lstStyle/>
          <a:p>
            <a:pPr algn="l"/>
            <a:r>
              <a:rPr sz="1100" b="1" i="0">
                <a:solidFill>
                  <a:srgbClr val="0B2A4A"/>
                </a:solidFill>
                <a:latin typeface="Calibri"/>
              </a:rPr>
              <a:t>TWO USER POPULATIONS</a:t>
            </a:r>
          </a:p>
        </p:txBody>
      </p:sp>
      <p:sp>
        <p:nvSpPr>
          <p:cNvPr id="37" name="TextBox 36"/>
          <p:cNvSpPr txBox="1"/>
          <p:nvPr/>
        </p:nvSpPr>
        <p:spPr>
          <a:xfrm>
            <a:off x="8046720" y="2926080"/>
            <a:ext cx="3657600" cy="320040"/>
          </a:xfrm>
          <a:prstGeom prst="rect">
            <a:avLst/>
          </a:prstGeom>
          <a:noFill/>
        </p:spPr>
        <p:txBody>
          <a:bodyPr wrap="square">
            <a:spAutoFit/>
          </a:bodyPr>
          <a:lstStyle/>
          <a:p>
            <a:pPr algn="l"/>
            <a:r>
              <a:rPr sz="1700" b="1" i="0">
                <a:solidFill>
                  <a:srgbClr val="2D6A9F"/>
                </a:solidFill>
                <a:latin typeface="Calibri"/>
              </a:rPr>
              <a:t>72.8K new  |  64K existing</a:t>
            </a:r>
          </a:p>
        </p:txBody>
      </p:sp>
      <p:sp>
        <p:nvSpPr>
          <p:cNvPr id="38" name="TextBox 37"/>
          <p:cNvSpPr txBox="1"/>
          <p:nvPr/>
        </p:nvSpPr>
        <p:spPr>
          <a:xfrm>
            <a:off x="8046720" y="3291840"/>
            <a:ext cx="3657600" cy="600164"/>
          </a:xfrm>
          <a:prstGeom prst="rect">
            <a:avLst/>
          </a:prstGeom>
          <a:noFill/>
        </p:spPr>
        <p:txBody>
          <a:bodyPr wrap="square">
            <a:spAutoFit/>
          </a:bodyPr>
          <a:lstStyle/>
          <a:p>
            <a:pPr algn="l"/>
            <a:r>
              <a:rPr sz="1100" b="0">
                <a:solidFill>
                  <a:srgbClr val="2C3E50"/>
                </a:solidFill>
                <a:latin typeface="Calibri"/>
              </a:rPr>
              <a:t>→  Loyalty definition: uses all users (more data)</a:t>
            </a:r>
          </a:p>
          <a:p>
            <a:pPr algn="l"/>
            <a:r>
              <a:rPr sz="1100" b="0">
                <a:solidFill>
                  <a:srgbClr val="2C3E50"/>
                </a:solidFill>
                <a:latin typeface="Calibri"/>
              </a:rPr>
              <a:t>→  ML model: uses only new users (clean join dates, no tenure ambiguity)</a:t>
            </a:r>
          </a:p>
        </p:txBody>
      </p:sp>
      <p:pic>
        <p:nvPicPr>
          <p:cNvPr id="39" name="Picture 38" descr="eda_frequency_distribution.png"/>
          <p:cNvPicPr>
            <a:picLocks noChangeAspect="1"/>
          </p:cNvPicPr>
          <p:nvPr/>
        </p:nvPicPr>
        <p:blipFill>
          <a:blip r:embed="rId3"/>
          <a:stretch>
            <a:fillRect/>
          </a:stretch>
        </p:blipFill>
        <p:spPr>
          <a:xfrm>
            <a:off x="402336" y="3962253"/>
            <a:ext cx="3401568" cy="2093977"/>
          </a:xfrm>
          <a:prstGeom prst="rect">
            <a:avLst/>
          </a:prstGeom>
        </p:spPr>
      </p:pic>
      <p:pic>
        <p:nvPicPr>
          <p:cNvPr id="40" name="Picture 39" descr="loyalty_merchant_vs_platform_pie.png"/>
          <p:cNvPicPr>
            <a:picLocks noChangeAspect="1"/>
          </p:cNvPicPr>
          <p:nvPr/>
        </p:nvPicPr>
        <p:blipFill>
          <a:blip r:embed="rId4"/>
          <a:stretch>
            <a:fillRect/>
          </a:stretch>
        </p:blipFill>
        <p:spPr>
          <a:xfrm>
            <a:off x="4242816" y="3977639"/>
            <a:ext cx="3401568" cy="2023727"/>
          </a:xfrm>
          <a:prstGeom prst="rect">
            <a:avLst/>
          </a:prstGeom>
        </p:spPr>
      </p:pic>
      <p:graphicFrame>
        <p:nvGraphicFramePr>
          <p:cNvPr id="41" name="Chart 40"/>
          <p:cNvGraphicFramePr>
            <a:graphicFrameLocks noGrp="1"/>
          </p:cNvGraphicFramePr>
          <p:nvPr>
            <p:extLst>
              <p:ext uri="{D42A27DB-BD31-4B8C-83A1-F6EECF244321}">
                <p14:modId xmlns:p14="http://schemas.microsoft.com/office/powerpoint/2010/main" val="2850344339"/>
              </p:ext>
            </p:extLst>
          </p:nvPr>
        </p:nvGraphicFramePr>
        <p:xfrm>
          <a:off x="8275318" y="3951658"/>
          <a:ext cx="3291841" cy="2115166"/>
        </p:xfrm>
        <a:graphic>
          <a:graphicData uri="http://schemas.openxmlformats.org/drawingml/2006/chart">
            <c:chart xmlns:c="http://schemas.openxmlformats.org/drawingml/2006/chart" xmlns:r="http://schemas.openxmlformats.org/officeDocument/2006/relationships" r:id="rId5"/>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1430000" cy="640080"/>
          </a:xfrm>
          <a:prstGeom prst="rect">
            <a:avLst/>
          </a:prstGeom>
          <a:noFill/>
        </p:spPr>
        <p:txBody>
          <a:bodyPr wrap="square">
            <a:spAutoFit/>
          </a:bodyPr>
          <a:lstStyle/>
          <a:p>
            <a:pPr algn="l"/>
            <a:r>
              <a:rPr sz="2800" b="1" i="0">
                <a:solidFill>
                  <a:srgbClr val="FFFFFF"/>
                </a:solidFill>
                <a:latin typeface="Calibri Light"/>
              </a:rPr>
              <a:t>Defining Customer Loyalty</a:t>
            </a:r>
          </a:p>
        </p:txBody>
      </p:sp>
      <p:sp>
        <p:nvSpPr>
          <p:cNvPr id="5" name="TextBox 4"/>
          <p:cNvSpPr txBox="1"/>
          <p:nvPr/>
        </p:nvSpPr>
        <p:spPr>
          <a:xfrm>
            <a:off x="274320" y="685800"/>
            <a:ext cx="9144000" cy="365760"/>
          </a:xfrm>
          <a:prstGeom prst="rect">
            <a:avLst/>
          </a:prstGeom>
          <a:noFill/>
        </p:spPr>
        <p:txBody>
          <a:bodyPr wrap="square">
            <a:spAutoFit/>
          </a:bodyPr>
          <a:lstStyle/>
          <a:p>
            <a:pPr algn="l"/>
            <a:r>
              <a:rPr sz="1300" b="0" i="0">
                <a:solidFill>
                  <a:srgbClr val="B0C8E4"/>
                </a:solidFill>
                <a:latin typeface="Calibri Light"/>
              </a:rPr>
              <a:t>Five components, grounded in data and business logic</a:t>
            </a:r>
          </a:p>
        </p:txBody>
      </p:sp>
      <p:sp>
        <p:nvSpPr>
          <p:cNvPr id="9" name="Rectangle 8"/>
          <p:cNvSpPr/>
          <p:nvPr/>
        </p:nvSpPr>
        <p:spPr>
          <a:xfrm>
            <a:off x="274320" y="1124711"/>
            <a:ext cx="5120640" cy="5212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Rectangle 9"/>
          <p:cNvSpPr/>
          <p:nvPr/>
        </p:nvSpPr>
        <p:spPr>
          <a:xfrm>
            <a:off x="274320" y="1124711"/>
            <a:ext cx="5120640" cy="384048"/>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65760" y="1152143"/>
            <a:ext cx="4937760" cy="329184"/>
          </a:xfrm>
          <a:prstGeom prst="rect">
            <a:avLst/>
          </a:prstGeom>
          <a:noFill/>
        </p:spPr>
        <p:txBody>
          <a:bodyPr wrap="square">
            <a:spAutoFit/>
          </a:bodyPr>
          <a:lstStyle/>
          <a:p>
            <a:pPr algn="l"/>
            <a:r>
              <a:rPr sz="1050" b="1" i="0">
                <a:solidFill>
                  <a:srgbClr val="FFFFFF"/>
                </a:solidFill>
                <a:latin typeface="Calibri"/>
              </a:rPr>
              <a:t>FOUR HARD REQUIREMENTS  (ALL must be met)</a:t>
            </a:r>
          </a:p>
        </p:txBody>
      </p:sp>
      <p:sp>
        <p:nvSpPr>
          <p:cNvPr id="37" name="Rectangle 36"/>
          <p:cNvSpPr/>
          <p:nvPr/>
        </p:nvSpPr>
        <p:spPr>
          <a:xfrm>
            <a:off x="6263640" y="1143000"/>
            <a:ext cx="5623560" cy="5212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6263640" y="1143000"/>
            <a:ext cx="5623560" cy="384048"/>
          </a:xfrm>
          <a:prstGeom prst="rect">
            <a:avLst/>
          </a:prstGeom>
          <a:solidFill>
            <a:srgbClr val="2D6A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355080" y="1170432"/>
            <a:ext cx="5394960" cy="329184"/>
          </a:xfrm>
          <a:prstGeom prst="rect">
            <a:avLst/>
          </a:prstGeom>
          <a:noFill/>
        </p:spPr>
        <p:txBody>
          <a:bodyPr wrap="square">
            <a:spAutoFit/>
          </a:bodyPr>
          <a:lstStyle/>
          <a:p>
            <a:pPr algn="l"/>
            <a:r>
              <a:rPr sz="1050" b="1" i="0">
                <a:solidFill>
                  <a:srgbClr val="FFFFFF"/>
                </a:solidFill>
                <a:latin typeface="Calibri"/>
              </a:rPr>
              <a:t>PLATFORM LOYALTY CHECK  (at least ONE path)</a:t>
            </a:r>
          </a:p>
        </p:txBody>
      </p:sp>
      <p:sp>
        <p:nvSpPr>
          <p:cNvPr id="40" name="Rectangle 39"/>
          <p:cNvSpPr/>
          <p:nvPr/>
        </p:nvSpPr>
        <p:spPr>
          <a:xfrm>
            <a:off x="6355080" y="1627632"/>
            <a:ext cx="5349240" cy="1828800"/>
          </a:xfrm>
          <a:prstGeom prst="rect">
            <a:avLst/>
          </a:prstGeom>
          <a:solidFill>
            <a:srgbClr val="DF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446520" y="1673352"/>
            <a:ext cx="5029200" cy="274320"/>
          </a:xfrm>
          <a:prstGeom prst="rect">
            <a:avLst/>
          </a:prstGeom>
          <a:noFill/>
        </p:spPr>
        <p:txBody>
          <a:bodyPr wrap="square">
            <a:spAutoFit/>
          </a:bodyPr>
          <a:lstStyle/>
          <a:p>
            <a:pPr algn="l"/>
            <a:r>
              <a:rPr sz="1000" b="1" i="0">
                <a:solidFill>
                  <a:srgbClr val="0B2A4A"/>
                </a:solidFill>
                <a:latin typeface="Calibri"/>
              </a:rPr>
              <a:t>PATH A: MERCHANT BREADTH</a:t>
            </a:r>
          </a:p>
        </p:txBody>
      </p:sp>
      <p:sp>
        <p:nvSpPr>
          <p:cNvPr id="42" name="TextBox 41"/>
          <p:cNvSpPr txBox="1"/>
          <p:nvPr/>
        </p:nvSpPr>
        <p:spPr>
          <a:xfrm>
            <a:off x="6446520" y="1920240"/>
            <a:ext cx="3657600" cy="384048"/>
          </a:xfrm>
          <a:prstGeom prst="rect">
            <a:avLst/>
          </a:prstGeom>
          <a:noFill/>
        </p:spPr>
        <p:txBody>
          <a:bodyPr wrap="square">
            <a:spAutoFit/>
          </a:bodyPr>
          <a:lstStyle/>
          <a:p>
            <a:pPr algn="l"/>
            <a:r>
              <a:rPr sz="2200" b="1" i="0">
                <a:solidFill>
                  <a:srgbClr val="2D6A9F"/>
                </a:solidFill>
                <a:latin typeface="Calibri"/>
              </a:rPr>
              <a:t>≥ 2 Unique Shops</a:t>
            </a:r>
          </a:p>
        </p:txBody>
      </p:sp>
      <p:sp>
        <p:nvSpPr>
          <p:cNvPr id="43" name="TextBox 42"/>
          <p:cNvSpPr txBox="1"/>
          <p:nvPr/>
        </p:nvSpPr>
        <p:spPr>
          <a:xfrm>
            <a:off x="6446520" y="2286000"/>
            <a:ext cx="2286000" cy="228600"/>
          </a:xfrm>
          <a:prstGeom prst="rect">
            <a:avLst/>
          </a:prstGeom>
          <a:noFill/>
        </p:spPr>
        <p:txBody>
          <a:bodyPr wrap="square">
            <a:spAutoFit/>
          </a:bodyPr>
          <a:lstStyle/>
          <a:p>
            <a:pPr algn="l"/>
            <a:r>
              <a:rPr sz="1000" b="0" i="0">
                <a:solidFill>
                  <a:srgbClr val="2E75B6"/>
                </a:solidFill>
                <a:latin typeface="Calibri"/>
              </a:rPr>
              <a:t>25.2% of users qualify</a:t>
            </a:r>
          </a:p>
        </p:txBody>
      </p:sp>
      <p:sp>
        <p:nvSpPr>
          <p:cNvPr id="44" name="TextBox 43"/>
          <p:cNvSpPr txBox="1"/>
          <p:nvPr/>
        </p:nvSpPr>
        <p:spPr>
          <a:xfrm>
            <a:off x="6446520" y="2487168"/>
            <a:ext cx="5120640" cy="457200"/>
          </a:xfrm>
          <a:prstGeom prst="rect">
            <a:avLst/>
          </a:prstGeom>
          <a:noFill/>
        </p:spPr>
        <p:txBody>
          <a:bodyPr wrap="square">
            <a:spAutoFit/>
          </a:bodyPr>
          <a:lstStyle/>
          <a:p>
            <a:pPr algn="l"/>
            <a:r>
              <a:rPr sz="950" b="0" i="0">
                <a:solidFill>
                  <a:srgbClr val="2C3E50"/>
                </a:solidFill>
                <a:latin typeface="Calibri Light"/>
              </a:rPr>
              <a:t>Signal: actively choosing Spendy in a new merchant context</a:t>
            </a:r>
          </a:p>
        </p:txBody>
      </p:sp>
      <p:sp>
        <p:nvSpPr>
          <p:cNvPr id="45" name="Rectangle 44"/>
          <p:cNvSpPr/>
          <p:nvPr/>
        </p:nvSpPr>
        <p:spPr>
          <a:xfrm>
            <a:off x="8503920" y="3520440"/>
            <a:ext cx="640080" cy="320040"/>
          </a:xfrm>
          <a:prstGeom prst="rect">
            <a:avLst/>
          </a:prstGeom>
          <a:solidFill>
            <a:srgbClr val="5E7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b="1" dirty="0">
                <a:solidFill>
                  <a:srgbClr val="FFFFFF"/>
                </a:solidFill>
              </a:rPr>
              <a:t>OR</a:t>
            </a:r>
            <a:endParaRPr dirty="0"/>
          </a:p>
        </p:txBody>
      </p:sp>
      <p:sp>
        <p:nvSpPr>
          <p:cNvPr id="47" name="Rectangle 46"/>
          <p:cNvSpPr/>
          <p:nvPr/>
        </p:nvSpPr>
        <p:spPr>
          <a:xfrm>
            <a:off x="6355080" y="3886200"/>
            <a:ext cx="5349240" cy="1920240"/>
          </a:xfrm>
          <a:prstGeom prst="rect">
            <a:avLst/>
          </a:prstGeom>
          <a:solidFill>
            <a:srgbClr val="DFEE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6446520" y="3931920"/>
            <a:ext cx="5029200" cy="274320"/>
          </a:xfrm>
          <a:prstGeom prst="rect">
            <a:avLst/>
          </a:prstGeom>
          <a:noFill/>
        </p:spPr>
        <p:txBody>
          <a:bodyPr wrap="square">
            <a:spAutoFit/>
          </a:bodyPr>
          <a:lstStyle/>
          <a:p>
            <a:pPr algn="l"/>
            <a:r>
              <a:rPr sz="1000" b="1" i="0">
                <a:solidFill>
                  <a:srgbClr val="0B2A4A"/>
                </a:solidFill>
                <a:latin typeface="Calibri"/>
              </a:rPr>
              <a:t>PATH B: SUSTAINED ENGAGEMENT</a:t>
            </a:r>
          </a:p>
        </p:txBody>
      </p:sp>
      <p:sp>
        <p:nvSpPr>
          <p:cNvPr id="49" name="TextBox 48"/>
          <p:cNvSpPr txBox="1"/>
          <p:nvPr/>
        </p:nvSpPr>
        <p:spPr>
          <a:xfrm>
            <a:off x="6446520" y="4178808"/>
            <a:ext cx="4114800" cy="384048"/>
          </a:xfrm>
          <a:prstGeom prst="rect">
            <a:avLst/>
          </a:prstGeom>
          <a:noFill/>
        </p:spPr>
        <p:txBody>
          <a:bodyPr wrap="square">
            <a:spAutoFit/>
          </a:bodyPr>
          <a:lstStyle/>
          <a:p>
            <a:pPr algn="l"/>
            <a:r>
              <a:rPr sz="2200" b="1" i="0" dirty="0">
                <a:solidFill>
                  <a:srgbClr val="2D6A9F"/>
                </a:solidFill>
                <a:latin typeface="Calibri"/>
              </a:rPr>
              <a:t>≥ 6 Active Months (of 7)</a:t>
            </a:r>
          </a:p>
        </p:txBody>
      </p:sp>
      <p:sp>
        <p:nvSpPr>
          <p:cNvPr id="50" name="TextBox 49"/>
          <p:cNvSpPr txBox="1"/>
          <p:nvPr/>
        </p:nvSpPr>
        <p:spPr>
          <a:xfrm>
            <a:off x="6446520" y="4544568"/>
            <a:ext cx="2286000" cy="228600"/>
          </a:xfrm>
          <a:prstGeom prst="rect">
            <a:avLst/>
          </a:prstGeom>
          <a:noFill/>
        </p:spPr>
        <p:txBody>
          <a:bodyPr wrap="square">
            <a:spAutoFit/>
          </a:bodyPr>
          <a:lstStyle/>
          <a:p>
            <a:pPr algn="l"/>
            <a:r>
              <a:rPr sz="1000" b="0" i="0">
                <a:solidFill>
                  <a:srgbClr val="2E75B6"/>
                </a:solidFill>
                <a:latin typeface="Calibri"/>
              </a:rPr>
              <a:t>8.0% of users qualify</a:t>
            </a:r>
          </a:p>
        </p:txBody>
      </p:sp>
      <p:sp>
        <p:nvSpPr>
          <p:cNvPr id="51" name="TextBox 50"/>
          <p:cNvSpPr txBox="1"/>
          <p:nvPr/>
        </p:nvSpPr>
        <p:spPr>
          <a:xfrm>
            <a:off x="6446520" y="4754880"/>
            <a:ext cx="5120640" cy="457200"/>
          </a:xfrm>
          <a:prstGeom prst="rect">
            <a:avLst/>
          </a:prstGeom>
          <a:noFill/>
        </p:spPr>
        <p:txBody>
          <a:bodyPr wrap="square">
            <a:spAutoFit/>
          </a:bodyPr>
          <a:lstStyle/>
          <a:p>
            <a:pPr algn="l"/>
            <a:r>
              <a:rPr sz="950" b="0" i="0">
                <a:solidFill>
                  <a:srgbClr val="2C3E50"/>
                </a:solidFill>
                <a:latin typeface="Calibri Light"/>
              </a:rPr>
              <a:t>Near-perfect monthly attendance &gt; 2-shop breadth with low activity</a:t>
            </a:r>
          </a:p>
        </p:txBody>
      </p:sp>
      <p:sp>
        <p:nvSpPr>
          <p:cNvPr id="52" name="Rectangle 51"/>
          <p:cNvSpPr/>
          <p:nvPr/>
        </p:nvSpPr>
        <p:spPr>
          <a:xfrm>
            <a:off x="274320" y="6400800"/>
            <a:ext cx="11640312" cy="256032"/>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365760" y="6419088"/>
            <a:ext cx="11430000" cy="219456"/>
          </a:xfrm>
          <a:prstGeom prst="rect">
            <a:avLst/>
          </a:prstGeom>
          <a:noFill/>
        </p:spPr>
        <p:txBody>
          <a:bodyPr wrap="square">
            <a:spAutoFit/>
          </a:bodyPr>
          <a:lstStyle/>
          <a:p>
            <a:pPr algn="ctr"/>
            <a:r>
              <a:rPr sz="950" b="1" i="0">
                <a:solidFill>
                  <a:srgbClr val="C09840"/>
                </a:solidFill>
                <a:latin typeface="Calibri"/>
              </a:rPr>
              <a:t>4.6% of users qualify as Loyal  (6,273 users)  |  Conservative by design: real rewards have real costs</a:t>
            </a:r>
          </a:p>
        </p:txBody>
      </p:sp>
      <p:sp>
        <p:nvSpPr>
          <p:cNvPr id="54" name="Rectangle 53"/>
          <p:cNvSpPr/>
          <p:nvPr/>
        </p:nvSpPr>
        <p:spPr>
          <a:xfrm>
            <a:off x="384048" y="1536190"/>
            <a:ext cx="4901183" cy="1051560"/>
          </a:xfrm>
          <a:prstGeom prst="rect">
            <a:avLst/>
          </a:prstGeom>
          <a:solidFill>
            <a:srgbClr val="F2F5F8"/>
          </a:solidFill>
          <a:ln w="6350">
            <a:solidFill>
              <a:srgbClr val="CC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384048" y="1536190"/>
            <a:ext cx="54864" cy="1051560"/>
          </a:xfrm>
          <a:prstGeom prst="rect">
            <a:avLst/>
          </a:prstGeom>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512064" y="1600198"/>
            <a:ext cx="3200400" cy="256032"/>
          </a:xfrm>
          <a:prstGeom prst="rect">
            <a:avLst/>
          </a:prstGeom>
          <a:noFill/>
        </p:spPr>
        <p:txBody>
          <a:bodyPr wrap="none">
            <a:spAutoFit/>
          </a:bodyPr>
          <a:lstStyle/>
          <a:p>
            <a:r>
              <a:rPr sz="1000" b="1">
                <a:solidFill>
                  <a:srgbClr val="0B2A4A"/>
                </a:solidFill>
              </a:rPr>
              <a:t>① PURCHASE FREQUENCY</a:t>
            </a:r>
          </a:p>
        </p:txBody>
      </p:sp>
      <p:sp>
        <p:nvSpPr>
          <p:cNvPr id="57" name="TextBox 56"/>
          <p:cNvSpPr txBox="1"/>
          <p:nvPr/>
        </p:nvSpPr>
        <p:spPr>
          <a:xfrm>
            <a:off x="512064" y="1901950"/>
            <a:ext cx="2743200" cy="274320"/>
          </a:xfrm>
          <a:prstGeom prst="rect">
            <a:avLst/>
          </a:prstGeom>
          <a:noFill/>
        </p:spPr>
        <p:txBody>
          <a:bodyPr wrap="none">
            <a:spAutoFit/>
          </a:bodyPr>
          <a:lstStyle/>
          <a:p>
            <a:r>
              <a:rPr sz="1100" b="1">
                <a:solidFill>
                  <a:srgbClr val="2E75B6"/>
                </a:solidFill>
              </a:rPr>
              <a:t>≥ 2 purchases / month</a:t>
            </a:r>
          </a:p>
        </p:txBody>
      </p:sp>
      <p:sp>
        <p:nvSpPr>
          <p:cNvPr id="58" name="Rectangle 57"/>
          <p:cNvSpPr/>
          <p:nvPr/>
        </p:nvSpPr>
        <p:spPr>
          <a:xfrm>
            <a:off x="3931920" y="1618486"/>
            <a:ext cx="1188720" cy="245364"/>
          </a:xfrm>
          <a:prstGeom prst="rect">
            <a:avLst/>
          </a:prstGeom>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931920" y="1627630"/>
            <a:ext cx="1188720" cy="228600"/>
          </a:xfrm>
          <a:prstGeom prst="rect">
            <a:avLst/>
          </a:prstGeom>
          <a:noFill/>
        </p:spPr>
        <p:txBody>
          <a:bodyPr wrap="none">
            <a:spAutoFit/>
          </a:bodyPr>
          <a:lstStyle/>
          <a:p>
            <a:pPr algn="ctr"/>
            <a:r>
              <a:rPr sz="850" b="1">
                <a:solidFill>
                  <a:srgbClr val="FFFFFF"/>
                </a:solidFill>
              </a:rPr>
              <a:t>18.4% qualify</a:t>
            </a:r>
          </a:p>
        </p:txBody>
      </p:sp>
      <p:sp>
        <p:nvSpPr>
          <p:cNvPr id="60" name="TextBox 59"/>
          <p:cNvSpPr txBox="1"/>
          <p:nvPr/>
        </p:nvSpPr>
        <p:spPr>
          <a:xfrm>
            <a:off x="512064" y="2258566"/>
            <a:ext cx="3438143" cy="292608"/>
          </a:xfrm>
          <a:prstGeom prst="rect">
            <a:avLst/>
          </a:prstGeom>
          <a:noFill/>
        </p:spPr>
        <p:txBody>
          <a:bodyPr wrap="square">
            <a:spAutoFit/>
          </a:bodyPr>
          <a:lstStyle/>
          <a:p>
            <a:r>
              <a:rPr sz="900" b="0">
                <a:solidFill>
                  <a:srgbClr val="5E7080"/>
                </a:solidFill>
              </a:rPr>
              <a:t>Natural elbow at 2.0: marks habit vs occasional use</a:t>
            </a:r>
          </a:p>
        </p:txBody>
      </p:sp>
      <p:sp>
        <p:nvSpPr>
          <p:cNvPr id="61" name="Rectangle 60"/>
          <p:cNvSpPr/>
          <p:nvPr/>
        </p:nvSpPr>
        <p:spPr>
          <a:xfrm>
            <a:off x="384048" y="2770630"/>
            <a:ext cx="4901183" cy="1051560"/>
          </a:xfrm>
          <a:prstGeom prst="rect">
            <a:avLst/>
          </a:prstGeom>
          <a:solidFill>
            <a:srgbClr val="F2F5F8"/>
          </a:solidFill>
          <a:ln w="6350">
            <a:solidFill>
              <a:srgbClr val="CC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384048" y="2770630"/>
            <a:ext cx="54864" cy="1051560"/>
          </a:xfrm>
          <a:prstGeom prst="rect">
            <a:avLst/>
          </a:prstGeom>
          <a:solidFill>
            <a:srgbClr val="2D6A9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512064" y="2834638"/>
            <a:ext cx="3200400" cy="256032"/>
          </a:xfrm>
          <a:prstGeom prst="rect">
            <a:avLst/>
          </a:prstGeom>
          <a:noFill/>
        </p:spPr>
        <p:txBody>
          <a:bodyPr wrap="none">
            <a:spAutoFit/>
          </a:bodyPr>
          <a:lstStyle/>
          <a:p>
            <a:r>
              <a:rPr sz="1000" b="1">
                <a:solidFill>
                  <a:srgbClr val="0B2A4A"/>
                </a:solidFill>
              </a:rPr>
              <a:t>② MONTHLY SPEND</a:t>
            </a:r>
          </a:p>
        </p:txBody>
      </p:sp>
      <p:sp>
        <p:nvSpPr>
          <p:cNvPr id="64" name="TextBox 63"/>
          <p:cNvSpPr txBox="1"/>
          <p:nvPr/>
        </p:nvSpPr>
        <p:spPr>
          <a:xfrm>
            <a:off x="512064" y="3136390"/>
            <a:ext cx="2743200" cy="274320"/>
          </a:xfrm>
          <a:prstGeom prst="rect">
            <a:avLst/>
          </a:prstGeom>
          <a:noFill/>
        </p:spPr>
        <p:txBody>
          <a:bodyPr wrap="none">
            <a:spAutoFit/>
          </a:bodyPr>
          <a:lstStyle/>
          <a:p>
            <a:r>
              <a:rPr sz="1100" b="1">
                <a:solidFill>
                  <a:srgbClr val="2D6A9F"/>
                </a:solidFill>
              </a:rPr>
              <a:t>≥ ¥10,000 / month</a:t>
            </a:r>
          </a:p>
        </p:txBody>
      </p:sp>
      <p:sp>
        <p:nvSpPr>
          <p:cNvPr id="65" name="Rectangle 64"/>
          <p:cNvSpPr/>
          <p:nvPr/>
        </p:nvSpPr>
        <p:spPr>
          <a:xfrm>
            <a:off x="3931920" y="2852926"/>
            <a:ext cx="1188720" cy="245364"/>
          </a:xfrm>
          <a:prstGeom prst="rect">
            <a:avLst/>
          </a:prstGeom>
          <a:solidFill>
            <a:srgbClr val="2D6A9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3931920" y="2862070"/>
            <a:ext cx="1188720" cy="228600"/>
          </a:xfrm>
          <a:prstGeom prst="rect">
            <a:avLst/>
          </a:prstGeom>
          <a:noFill/>
        </p:spPr>
        <p:txBody>
          <a:bodyPr wrap="none">
            <a:spAutoFit/>
          </a:bodyPr>
          <a:lstStyle/>
          <a:p>
            <a:pPr algn="ctr"/>
            <a:r>
              <a:rPr sz="850" b="1">
                <a:solidFill>
                  <a:srgbClr val="FFFFFF"/>
                </a:solidFill>
              </a:rPr>
              <a:t>16.3% qualify</a:t>
            </a:r>
          </a:p>
        </p:txBody>
      </p:sp>
      <p:sp>
        <p:nvSpPr>
          <p:cNvPr id="67" name="TextBox 66"/>
          <p:cNvSpPr txBox="1"/>
          <p:nvPr/>
        </p:nvSpPr>
        <p:spPr>
          <a:xfrm>
            <a:off x="512064" y="3493006"/>
            <a:ext cx="3438143" cy="292608"/>
          </a:xfrm>
          <a:prstGeom prst="rect">
            <a:avLst/>
          </a:prstGeom>
          <a:noFill/>
        </p:spPr>
        <p:txBody>
          <a:bodyPr wrap="square">
            <a:spAutoFit/>
          </a:bodyPr>
          <a:lstStyle/>
          <a:p>
            <a:r>
              <a:rPr sz="900" b="0">
                <a:solidFill>
                  <a:srgbClr val="5E7080"/>
                </a:solidFill>
              </a:rPr>
              <a:t>Above mean (¥6K): captures top spending tier</a:t>
            </a:r>
          </a:p>
        </p:txBody>
      </p:sp>
      <p:sp>
        <p:nvSpPr>
          <p:cNvPr id="68" name="Rectangle 67"/>
          <p:cNvSpPr/>
          <p:nvPr/>
        </p:nvSpPr>
        <p:spPr>
          <a:xfrm>
            <a:off x="384048" y="4005069"/>
            <a:ext cx="4901183" cy="1051560"/>
          </a:xfrm>
          <a:prstGeom prst="rect">
            <a:avLst/>
          </a:prstGeom>
          <a:solidFill>
            <a:srgbClr val="F2F5F8"/>
          </a:solidFill>
          <a:ln w="6350">
            <a:solidFill>
              <a:srgbClr val="CC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ectangle 68"/>
          <p:cNvSpPr/>
          <p:nvPr/>
        </p:nvSpPr>
        <p:spPr>
          <a:xfrm>
            <a:off x="384048" y="4005069"/>
            <a:ext cx="54864" cy="1051560"/>
          </a:xfrm>
          <a:prstGeom prst="rect">
            <a:avLst/>
          </a:prstGeom>
          <a:solidFill>
            <a:srgbClr val="5E7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512064" y="4069078"/>
            <a:ext cx="3200400" cy="256032"/>
          </a:xfrm>
          <a:prstGeom prst="rect">
            <a:avLst/>
          </a:prstGeom>
          <a:noFill/>
        </p:spPr>
        <p:txBody>
          <a:bodyPr wrap="none">
            <a:spAutoFit/>
          </a:bodyPr>
          <a:lstStyle/>
          <a:p>
            <a:r>
              <a:rPr sz="1000" b="1">
                <a:solidFill>
                  <a:srgbClr val="0B2A4A"/>
                </a:solidFill>
              </a:rPr>
              <a:t>③ RECENCY</a:t>
            </a:r>
          </a:p>
        </p:txBody>
      </p:sp>
      <p:sp>
        <p:nvSpPr>
          <p:cNvPr id="71" name="TextBox 70"/>
          <p:cNvSpPr txBox="1"/>
          <p:nvPr/>
        </p:nvSpPr>
        <p:spPr>
          <a:xfrm>
            <a:off x="512064" y="4370830"/>
            <a:ext cx="2743200" cy="274320"/>
          </a:xfrm>
          <a:prstGeom prst="rect">
            <a:avLst/>
          </a:prstGeom>
          <a:noFill/>
        </p:spPr>
        <p:txBody>
          <a:bodyPr wrap="none">
            <a:spAutoFit/>
          </a:bodyPr>
          <a:lstStyle/>
          <a:p>
            <a:r>
              <a:rPr sz="1100" b="1">
                <a:solidFill>
                  <a:srgbClr val="5E7080"/>
                </a:solidFill>
              </a:rPr>
              <a:t>Last purchase within 2 months</a:t>
            </a:r>
          </a:p>
        </p:txBody>
      </p:sp>
      <p:sp>
        <p:nvSpPr>
          <p:cNvPr id="72" name="Rectangle 71"/>
          <p:cNvSpPr/>
          <p:nvPr/>
        </p:nvSpPr>
        <p:spPr>
          <a:xfrm>
            <a:off x="3931920" y="4087365"/>
            <a:ext cx="1188720" cy="245364"/>
          </a:xfrm>
          <a:prstGeom prst="rect">
            <a:avLst/>
          </a:prstGeom>
          <a:solidFill>
            <a:srgbClr val="0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TextBox 72"/>
          <p:cNvSpPr txBox="1"/>
          <p:nvPr/>
        </p:nvSpPr>
        <p:spPr>
          <a:xfrm>
            <a:off x="4138998" y="4096509"/>
            <a:ext cx="774572" cy="223138"/>
          </a:xfrm>
          <a:prstGeom prst="rect">
            <a:avLst/>
          </a:prstGeom>
          <a:noFill/>
        </p:spPr>
        <p:txBody>
          <a:bodyPr wrap="none">
            <a:spAutoFit/>
          </a:bodyPr>
          <a:lstStyle/>
          <a:p>
            <a:pPr algn="ctr"/>
            <a:r>
              <a:rPr lang="en-US" sz="850" b="1" dirty="0">
                <a:solidFill>
                  <a:srgbClr val="FFFFFF"/>
                </a:solidFill>
              </a:rPr>
              <a:t>Business rule</a:t>
            </a:r>
            <a:endParaRPr sz="850" b="1" dirty="0">
              <a:solidFill>
                <a:srgbClr val="FFFFFF"/>
              </a:solidFill>
            </a:endParaRPr>
          </a:p>
        </p:txBody>
      </p:sp>
      <p:sp>
        <p:nvSpPr>
          <p:cNvPr id="74" name="TextBox 73"/>
          <p:cNvSpPr txBox="1"/>
          <p:nvPr/>
        </p:nvSpPr>
        <p:spPr>
          <a:xfrm>
            <a:off x="512064" y="4727446"/>
            <a:ext cx="3438143" cy="292608"/>
          </a:xfrm>
          <a:prstGeom prst="rect">
            <a:avLst/>
          </a:prstGeom>
          <a:noFill/>
        </p:spPr>
        <p:txBody>
          <a:bodyPr wrap="square">
            <a:spAutoFit/>
          </a:bodyPr>
          <a:lstStyle/>
          <a:p>
            <a:r>
              <a:rPr sz="900" b="0">
                <a:solidFill>
                  <a:srgbClr val="5E7080"/>
                </a:solidFill>
              </a:rPr>
              <a:t>Keeps the label current: rewards active users only</a:t>
            </a:r>
          </a:p>
        </p:txBody>
      </p:sp>
      <p:sp>
        <p:nvSpPr>
          <p:cNvPr id="75" name="Rectangle 74"/>
          <p:cNvSpPr/>
          <p:nvPr/>
        </p:nvSpPr>
        <p:spPr>
          <a:xfrm>
            <a:off x="384048" y="5239509"/>
            <a:ext cx="4901183" cy="1051560"/>
          </a:xfrm>
          <a:prstGeom prst="rect">
            <a:avLst/>
          </a:prstGeom>
          <a:solidFill>
            <a:srgbClr val="F2F5F8"/>
          </a:solidFill>
          <a:ln w="6350">
            <a:solidFill>
              <a:srgbClr val="CC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ectangle 75"/>
          <p:cNvSpPr/>
          <p:nvPr/>
        </p:nvSpPr>
        <p:spPr>
          <a:xfrm>
            <a:off x="384048" y="5239509"/>
            <a:ext cx="54864" cy="1051560"/>
          </a:xfrm>
          <a:prstGeom prst="rect">
            <a:avLst/>
          </a:prstGeom>
          <a:solidFill>
            <a:srgbClr val="0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TextBox 76"/>
          <p:cNvSpPr txBox="1"/>
          <p:nvPr/>
        </p:nvSpPr>
        <p:spPr>
          <a:xfrm>
            <a:off x="512064" y="5303518"/>
            <a:ext cx="3200400" cy="256032"/>
          </a:xfrm>
          <a:prstGeom prst="rect">
            <a:avLst/>
          </a:prstGeom>
          <a:noFill/>
        </p:spPr>
        <p:txBody>
          <a:bodyPr wrap="none">
            <a:spAutoFit/>
          </a:bodyPr>
          <a:lstStyle/>
          <a:p>
            <a:r>
              <a:rPr sz="1000" b="1">
                <a:solidFill>
                  <a:srgbClr val="0B2A4A"/>
                </a:solidFill>
              </a:rPr>
              <a:t>④ REGISTRATION</a:t>
            </a:r>
          </a:p>
        </p:txBody>
      </p:sp>
      <p:sp>
        <p:nvSpPr>
          <p:cNvPr id="78" name="TextBox 77"/>
          <p:cNvSpPr txBox="1"/>
          <p:nvPr/>
        </p:nvSpPr>
        <p:spPr>
          <a:xfrm>
            <a:off x="512064" y="5605270"/>
            <a:ext cx="2743200" cy="274320"/>
          </a:xfrm>
          <a:prstGeom prst="rect">
            <a:avLst/>
          </a:prstGeom>
          <a:noFill/>
        </p:spPr>
        <p:txBody>
          <a:bodyPr wrap="none">
            <a:spAutoFit/>
          </a:bodyPr>
          <a:lstStyle/>
          <a:p>
            <a:r>
              <a:rPr sz="1100" b="1">
                <a:solidFill>
                  <a:srgbClr val="0B2A4A"/>
                </a:solidFill>
              </a:rPr>
              <a:t>≥ 3 months on platform</a:t>
            </a:r>
          </a:p>
        </p:txBody>
      </p:sp>
      <p:sp>
        <p:nvSpPr>
          <p:cNvPr id="79" name="Rectangle 78"/>
          <p:cNvSpPr/>
          <p:nvPr/>
        </p:nvSpPr>
        <p:spPr>
          <a:xfrm>
            <a:off x="3931920" y="5321805"/>
            <a:ext cx="1188720" cy="245364"/>
          </a:xfrm>
          <a:prstGeom prst="rect">
            <a:avLst/>
          </a:prstGeom>
          <a:solidFill>
            <a:srgbClr val="0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3931920" y="5330949"/>
            <a:ext cx="1188720" cy="228600"/>
          </a:xfrm>
          <a:prstGeom prst="rect">
            <a:avLst/>
          </a:prstGeom>
          <a:noFill/>
        </p:spPr>
        <p:txBody>
          <a:bodyPr wrap="none">
            <a:spAutoFit/>
          </a:bodyPr>
          <a:lstStyle/>
          <a:p>
            <a:pPr algn="ctr"/>
            <a:r>
              <a:rPr sz="850" b="1">
                <a:solidFill>
                  <a:srgbClr val="FFFFFF"/>
                </a:solidFill>
              </a:rPr>
              <a:t>Business rule</a:t>
            </a:r>
          </a:p>
        </p:txBody>
      </p:sp>
      <p:sp>
        <p:nvSpPr>
          <p:cNvPr id="81" name="TextBox 80"/>
          <p:cNvSpPr txBox="1"/>
          <p:nvPr/>
        </p:nvSpPr>
        <p:spPr>
          <a:xfrm>
            <a:off x="512064" y="5961885"/>
            <a:ext cx="3438143" cy="292608"/>
          </a:xfrm>
          <a:prstGeom prst="rect">
            <a:avLst/>
          </a:prstGeom>
          <a:noFill/>
        </p:spPr>
        <p:txBody>
          <a:bodyPr wrap="square">
            <a:spAutoFit/>
          </a:bodyPr>
          <a:lstStyle/>
          <a:p>
            <a:r>
              <a:rPr sz="900" b="0">
                <a:solidFill>
                  <a:srgbClr val="5E7080"/>
                </a:solidFill>
              </a:rPr>
              <a:t>Guards against seasonal spikes (Dec joiners: 1 month only)</a:t>
            </a:r>
          </a:p>
        </p:txBody>
      </p:sp>
      <p:sp>
        <p:nvSpPr>
          <p:cNvPr id="82" name="TextBox 81"/>
          <p:cNvSpPr txBox="1"/>
          <p:nvPr/>
        </p:nvSpPr>
        <p:spPr>
          <a:xfrm>
            <a:off x="5394959" y="3758182"/>
            <a:ext cx="731520" cy="411480"/>
          </a:xfrm>
          <a:prstGeom prst="rect">
            <a:avLst/>
          </a:prstGeom>
          <a:noFill/>
        </p:spPr>
        <p:txBody>
          <a:bodyPr wrap="none">
            <a:spAutoFit/>
          </a:bodyPr>
          <a:lstStyle/>
          <a:p>
            <a:pPr algn="ctr"/>
            <a:r>
              <a:rPr sz="1300" b="1" dirty="0">
                <a:solidFill>
                  <a:srgbClr val="5E7080"/>
                </a:solidFill>
              </a:rPr>
              <a:t>AND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1430000" cy="640080"/>
          </a:xfrm>
          <a:prstGeom prst="rect">
            <a:avLst/>
          </a:prstGeom>
          <a:noFill/>
        </p:spPr>
        <p:txBody>
          <a:bodyPr wrap="square">
            <a:spAutoFit/>
          </a:bodyPr>
          <a:lstStyle/>
          <a:p>
            <a:pPr algn="l"/>
            <a:r>
              <a:rPr sz="2800" b="1" i="0">
                <a:solidFill>
                  <a:srgbClr val="FFFFFF"/>
                </a:solidFill>
                <a:latin typeface="Calibri Light"/>
              </a:rPr>
              <a:t>Feature Engineering</a:t>
            </a:r>
          </a:p>
        </p:txBody>
      </p:sp>
      <p:sp>
        <p:nvSpPr>
          <p:cNvPr id="5" name="TextBox 4"/>
          <p:cNvSpPr txBox="1"/>
          <p:nvPr/>
        </p:nvSpPr>
        <p:spPr>
          <a:xfrm>
            <a:off x="274320" y="685800"/>
            <a:ext cx="9144000" cy="365760"/>
          </a:xfrm>
          <a:prstGeom prst="rect">
            <a:avLst/>
          </a:prstGeom>
          <a:noFill/>
        </p:spPr>
        <p:txBody>
          <a:bodyPr wrap="square">
            <a:spAutoFit/>
          </a:bodyPr>
          <a:lstStyle/>
          <a:p>
            <a:pPr algn="l"/>
            <a:r>
              <a:rPr sz="1300" b="0" i="0">
                <a:solidFill>
                  <a:srgbClr val="B0C8E4"/>
                </a:solidFill>
                <a:latin typeface="Calibri Light"/>
              </a:rPr>
              <a:t>Every feature is a proxy for a loyalty component; no feature without a reason</a:t>
            </a:r>
          </a:p>
        </p:txBody>
      </p:sp>
      <p:sp>
        <p:nvSpPr>
          <p:cNvPr id="12" name="Rectangle 11"/>
          <p:cNvSpPr/>
          <p:nvPr/>
        </p:nvSpPr>
        <p:spPr>
          <a:xfrm>
            <a:off x="274320" y="1431123"/>
            <a:ext cx="2103120" cy="347472"/>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47472" y="1485987"/>
            <a:ext cx="1956816" cy="274320"/>
          </a:xfrm>
          <a:prstGeom prst="rect">
            <a:avLst/>
          </a:prstGeom>
          <a:noFill/>
        </p:spPr>
        <p:txBody>
          <a:bodyPr wrap="square">
            <a:spAutoFit/>
          </a:bodyPr>
          <a:lstStyle/>
          <a:p>
            <a:pPr algn="l"/>
            <a:r>
              <a:rPr sz="1000" b="1" i="0">
                <a:solidFill>
                  <a:srgbClr val="FFFFFF"/>
                </a:solidFill>
                <a:latin typeface="Calibri"/>
              </a:rPr>
              <a:t>Feature</a:t>
            </a:r>
          </a:p>
        </p:txBody>
      </p:sp>
      <p:sp>
        <p:nvSpPr>
          <p:cNvPr id="14" name="Rectangle 13"/>
          <p:cNvSpPr/>
          <p:nvPr/>
        </p:nvSpPr>
        <p:spPr>
          <a:xfrm>
            <a:off x="2423160" y="1431123"/>
            <a:ext cx="2377440" cy="347472"/>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496312" y="1485987"/>
            <a:ext cx="2231136" cy="274320"/>
          </a:xfrm>
          <a:prstGeom prst="rect">
            <a:avLst/>
          </a:prstGeom>
          <a:noFill/>
        </p:spPr>
        <p:txBody>
          <a:bodyPr wrap="square">
            <a:spAutoFit/>
          </a:bodyPr>
          <a:lstStyle/>
          <a:p>
            <a:pPr algn="l"/>
            <a:r>
              <a:rPr sz="1000" b="1" i="0">
                <a:solidFill>
                  <a:srgbClr val="FFFFFF"/>
                </a:solidFill>
                <a:latin typeface="Calibri"/>
              </a:rPr>
              <a:t>Maps to Loyalty Component</a:t>
            </a:r>
          </a:p>
        </p:txBody>
      </p:sp>
      <p:sp>
        <p:nvSpPr>
          <p:cNvPr id="16" name="Rectangle 15"/>
          <p:cNvSpPr/>
          <p:nvPr/>
        </p:nvSpPr>
        <p:spPr>
          <a:xfrm>
            <a:off x="4846320" y="1431123"/>
            <a:ext cx="6858000" cy="347472"/>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919472" y="1485987"/>
            <a:ext cx="6711696" cy="274320"/>
          </a:xfrm>
          <a:prstGeom prst="rect">
            <a:avLst/>
          </a:prstGeom>
          <a:noFill/>
        </p:spPr>
        <p:txBody>
          <a:bodyPr wrap="square">
            <a:spAutoFit/>
          </a:bodyPr>
          <a:lstStyle/>
          <a:p>
            <a:pPr algn="l"/>
            <a:r>
              <a:rPr sz="1000" b="1" i="0">
                <a:solidFill>
                  <a:srgbClr val="FFFFFF"/>
                </a:solidFill>
                <a:latin typeface="Calibri"/>
              </a:rPr>
              <a:t>Why It Predicts Loyalty</a:t>
            </a:r>
          </a:p>
        </p:txBody>
      </p:sp>
      <p:sp>
        <p:nvSpPr>
          <p:cNvPr id="18" name="Rectangle 17"/>
          <p:cNvSpPr/>
          <p:nvPr/>
        </p:nvSpPr>
        <p:spPr>
          <a:xfrm>
            <a:off x="274320" y="1778595"/>
            <a:ext cx="2103120" cy="804672"/>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347472" y="1842603"/>
            <a:ext cx="1956816" cy="676656"/>
          </a:xfrm>
          <a:prstGeom prst="rect">
            <a:avLst/>
          </a:prstGeom>
          <a:noFill/>
        </p:spPr>
        <p:txBody>
          <a:bodyPr wrap="square">
            <a:spAutoFit/>
          </a:bodyPr>
          <a:lstStyle/>
          <a:p>
            <a:pPr algn="l"/>
            <a:r>
              <a:rPr sz="1100" b="1" i="0">
                <a:solidFill>
                  <a:srgbClr val="2D6A9F"/>
                </a:solidFill>
                <a:latin typeface="Calibri"/>
              </a:rPr>
              <a:t>freq_rate_2m</a:t>
            </a:r>
          </a:p>
        </p:txBody>
      </p:sp>
      <p:sp>
        <p:nvSpPr>
          <p:cNvPr id="20" name="Rectangle 19"/>
          <p:cNvSpPr/>
          <p:nvPr/>
        </p:nvSpPr>
        <p:spPr>
          <a:xfrm>
            <a:off x="2423160" y="1778595"/>
            <a:ext cx="2377440" cy="804672"/>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496312" y="1842603"/>
            <a:ext cx="2231136" cy="676656"/>
          </a:xfrm>
          <a:prstGeom prst="rect">
            <a:avLst/>
          </a:prstGeom>
          <a:noFill/>
        </p:spPr>
        <p:txBody>
          <a:bodyPr wrap="square">
            <a:spAutoFit/>
          </a:bodyPr>
          <a:lstStyle/>
          <a:p>
            <a:pPr algn="l"/>
            <a:r>
              <a:rPr sz="1100" b="1" i="0">
                <a:solidFill>
                  <a:srgbClr val="2D6A9F"/>
                </a:solidFill>
                <a:latin typeface="Calibri"/>
              </a:rPr>
              <a:t>Purchase Frequency
(≥ 2/month)</a:t>
            </a:r>
          </a:p>
        </p:txBody>
      </p:sp>
      <p:sp>
        <p:nvSpPr>
          <p:cNvPr id="22" name="Rectangle 21"/>
          <p:cNvSpPr/>
          <p:nvPr/>
        </p:nvSpPr>
        <p:spPr>
          <a:xfrm>
            <a:off x="4846320" y="1778595"/>
            <a:ext cx="6858000" cy="804672"/>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919472" y="1842603"/>
            <a:ext cx="6711696" cy="676656"/>
          </a:xfrm>
          <a:prstGeom prst="rect">
            <a:avLst/>
          </a:prstGeom>
          <a:noFill/>
        </p:spPr>
        <p:txBody>
          <a:bodyPr wrap="square">
            <a:spAutoFit/>
          </a:bodyPr>
          <a:lstStyle/>
          <a:p>
            <a:r>
              <a:rPr lang="en-US" sz="1000" b="0" dirty="0">
                <a:solidFill>
                  <a:srgbClr val="2C3E50"/>
                </a:solidFill>
              </a:rPr>
              <a:t>Users above the 2/month threshold in their first 60 days are demonstrating a habit, not an experiment: early frequency is the strongest predictor of sustained frequency.</a:t>
            </a:r>
          </a:p>
        </p:txBody>
      </p:sp>
      <p:sp>
        <p:nvSpPr>
          <p:cNvPr id="24" name="Rectangle 23"/>
          <p:cNvSpPr/>
          <p:nvPr/>
        </p:nvSpPr>
        <p:spPr>
          <a:xfrm>
            <a:off x="274320" y="2583267"/>
            <a:ext cx="2103120" cy="804672"/>
          </a:xfrm>
          <a:prstGeom prst="rect">
            <a:avLst/>
          </a:prstGeom>
          <a:solidFill>
            <a:srgbClr val="F2F5F8"/>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47472" y="2647275"/>
            <a:ext cx="1956816" cy="676656"/>
          </a:xfrm>
          <a:prstGeom prst="rect">
            <a:avLst/>
          </a:prstGeom>
          <a:noFill/>
        </p:spPr>
        <p:txBody>
          <a:bodyPr wrap="square">
            <a:spAutoFit/>
          </a:bodyPr>
          <a:lstStyle/>
          <a:p>
            <a:pPr algn="l"/>
            <a:r>
              <a:rPr sz="1100" b="1" i="0">
                <a:solidFill>
                  <a:srgbClr val="2D6A9F"/>
                </a:solidFill>
                <a:latin typeface="Calibri"/>
              </a:rPr>
              <a:t>spend_rate_2m</a:t>
            </a:r>
          </a:p>
        </p:txBody>
      </p:sp>
      <p:sp>
        <p:nvSpPr>
          <p:cNvPr id="26" name="Rectangle 25"/>
          <p:cNvSpPr/>
          <p:nvPr/>
        </p:nvSpPr>
        <p:spPr>
          <a:xfrm>
            <a:off x="2423160" y="2583267"/>
            <a:ext cx="2377440" cy="804672"/>
          </a:xfrm>
          <a:prstGeom prst="rect">
            <a:avLst/>
          </a:prstGeom>
          <a:solidFill>
            <a:srgbClr val="F2F5F8"/>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2496312" y="2647275"/>
            <a:ext cx="2231136" cy="676656"/>
          </a:xfrm>
          <a:prstGeom prst="rect">
            <a:avLst/>
          </a:prstGeom>
          <a:noFill/>
        </p:spPr>
        <p:txBody>
          <a:bodyPr wrap="square">
            <a:spAutoFit/>
          </a:bodyPr>
          <a:lstStyle/>
          <a:p>
            <a:pPr algn="l"/>
            <a:r>
              <a:rPr sz="1100" b="1" i="0">
                <a:solidFill>
                  <a:srgbClr val="2D6A9F"/>
                </a:solidFill>
                <a:latin typeface="Calibri"/>
              </a:rPr>
              <a:t>Monthly Spend
(≥ ¥10K/month)</a:t>
            </a:r>
          </a:p>
        </p:txBody>
      </p:sp>
      <p:sp>
        <p:nvSpPr>
          <p:cNvPr id="28" name="Rectangle 27"/>
          <p:cNvSpPr/>
          <p:nvPr/>
        </p:nvSpPr>
        <p:spPr>
          <a:xfrm>
            <a:off x="4846320" y="2583267"/>
            <a:ext cx="6858000" cy="804672"/>
          </a:xfrm>
          <a:prstGeom prst="rect">
            <a:avLst/>
          </a:prstGeom>
          <a:solidFill>
            <a:srgbClr val="F2F5F8"/>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919472" y="2647275"/>
            <a:ext cx="6711696" cy="676656"/>
          </a:xfrm>
          <a:prstGeom prst="rect">
            <a:avLst/>
          </a:prstGeom>
          <a:noFill/>
        </p:spPr>
        <p:txBody>
          <a:bodyPr wrap="square">
            <a:spAutoFit/>
          </a:bodyPr>
          <a:lstStyle/>
          <a:p>
            <a:r>
              <a:rPr lang="en-US" sz="1000" b="0" dirty="0">
                <a:solidFill>
                  <a:srgbClr val="2C3E50"/>
                </a:solidFill>
              </a:rPr>
              <a:t>Reaching ¥10K/month spend within 60 days signals the user is already committing financially: they are not testing, they are buying.</a:t>
            </a:r>
          </a:p>
        </p:txBody>
      </p:sp>
      <p:sp>
        <p:nvSpPr>
          <p:cNvPr id="30" name="Rectangle 29"/>
          <p:cNvSpPr/>
          <p:nvPr/>
        </p:nvSpPr>
        <p:spPr>
          <a:xfrm>
            <a:off x="274320" y="3387939"/>
            <a:ext cx="2103120" cy="804672"/>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347472" y="3451947"/>
            <a:ext cx="1956816" cy="676656"/>
          </a:xfrm>
          <a:prstGeom prst="rect">
            <a:avLst/>
          </a:prstGeom>
          <a:noFill/>
        </p:spPr>
        <p:txBody>
          <a:bodyPr wrap="square">
            <a:spAutoFit/>
          </a:bodyPr>
          <a:lstStyle/>
          <a:p>
            <a:pPr algn="l"/>
            <a:r>
              <a:rPr sz="1100" b="1" i="0">
                <a:solidFill>
                  <a:srgbClr val="2D6A9F"/>
                </a:solidFill>
                <a:latin typeface="Calibri"/>
              </a:rPr>
              <a:t>unique_shops_2m</a:t>
            </a:r>
          </a:p>
        </p:txBody>
      </p:sp>
      <p:sp>
        <p:nvSpPr>
          <p:cNvPr id="32" name="Rectangle 31"/>
          <p:cNvSpPr/>
          <p:nvPr/>
        </p:nvSpPr>
        <p:spPr>
          <a:xfrm>
            <a:off x="2423160" y="3387939"/>
            <a:ext cx="2377440" cy="804672"/>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496312" y="3451947"/>
            <a:ext cx="2231136" cy="676656"/>
          </a:xfrm>
          <a:prstGeom prst="rect">
            <a:avLst/>
          </a:prstGeom>
          <a:noFill/>
        </p:spPr>
        <p:txBody>
          <a:bodyPr wrap="square">
            <a:spAutoFit/>
          </a:bodyPr>
          <a:lstStyle/>
          <a:p>
            <a:pPr algn="l"/>
            <a:r>
              <a:rPr sz="1100" b="1" i="0">
                <a:solidFill>
                  <a:srgbClr val="2D6A9F"/>
                </a:solidFill>
                <a:latin typeface="Calibri"/>
              </a:rPr>
              <a:t>Merchant Breadth
(Platform loyalty Path A)</a:t>
            </a:r>
          </a:p>
        </p:txBody>
      </p:sp>
      <p:sp>
        <p:nvSpPr>
          <p:cNvPr id="34" name="Rectangle 33"/>
          <p:cNvSpPr/>
          <p:nvPr/>
        </p:nvSpPr>
        <p:spPr>
          <a:xfrm>
            <a:off x="4846320" y="3387939"/>
            <a:ext cx="6858000" cy="804672"/>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4919472" y="3451947"/>
            <a:ext cx="6711696" cy="676656"/>
          </a:xfrm>
          <a:prstGeom prst="rect">
            <a:avLst/>
          </a:prstGeom>
          <a:noFill/>
        </p:spPr>
        <p:txBody>
          <a:bodyPr wrap="square">
            <a:spAutoFit/>
          </a:bodyPr>
          <a:lstStyle/>
          <a:p>
            <a:r>
              <a:rPr lang="en-US" sz="1000" b="0" dirty="0">
                <a:solidFill>
                  <a:srgbClr val="2C3E50"/>
                </a:solidFill>
              </a:rPr>
              <a:t>Visiting a second merchant in 60 days means the user actively chose Spendy in a new context: early breadth is the clearest signal of platform loyalty vs merchant loyalty.</a:t>
            </a:r>
          </a:p>
        </p:txBody>
      </p:sp>
      <p:sp>
        <p:nvSpPr>
          <p:cNvPr id="36" name="Rectangle 35"/>
          <p:cNvSpPr/>
          <p:nvPr/>
        </p:nvSpPr>
        <p:spPr>
          <a:xfrm>
            <a:off x="274320" y="4192611"/>
            <a:ext cx="2103120" cy="804672"/>
          </a:xfrm>
          <a:prstGeom prst="rect">
            <a:avLst/>
          </a:prstGeom>
          <a:solidFill>
            <a:srgbClr val="F2F5F8"/>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47472" y="4256619"/>
            <a:ext cx="1956816" cy="676656"/>
          </a:xfrm>
          <a:prstGeom prst="rect">
            <a:avLst/>
          </a:prstGeom>
          <a:noFill/>
        </p:spPr>
        <p:txBody>
          <a:bodyPr wrap="square">
            <a:spAutoFit/>
          </a:bodyPr>
          <a:lstStyle/>
          <a:p>
            <a:pPr algn="l"/>
            <a:r>
              <a:rPr sz="1100" b="1" i="0" dirty="0" err="1">
                <a:solidFill>
                  <a:srgbClr val="2D6A9F"/>
                </a:solidFill>
                <a:latin typeface="Calibri"/>
              </a:rPr>
              <a:t>days_since_last_purchase</a:t>
            </a:r>
            <a:r>
              <a:rPr sz="1100" b="1" i="0" dirty="0">
                <a:solidFill>
                  <a:srgbClr val="2D6A9F"/>
                </a:solidFill>
                <a:latin typeface="Calibri"/>
              </a:rPr>
              <a:t>
_</a:t>
            </a:r>
            <a:r>
              <a:rPr sz="1100" b="1" i="0" dirty="0" err="1">
                <a:solidFill>
                  <a:srgbClr val="2D6A9F"/>
                </a:solidFill>
                <a:latin typeface="Calibri"/>
              </a:rPr>
              <a:t>in_window</a:t>
            </a:r>
            <a:endParaRPr sz="1100" b="1" i="0" dirty="0">
              <a:solidFill>
                <a:srgbClr val="2D6A9F"/>
              </a:solidFill>
              <a:latin typeface="Calibri"/>
            </a:endParaRPr>
          </a:p>
        </p:txBody>
      </p:sp>
      <p:sp>
        <p:nvSpPr>
          <p:cNvPr id="38" name="Rectangle 37"/>
          <p:cNvSpPr/>
          <p:nvPr/>
        </p:nvSpPr>
        <p:spPr>
          <a:xfrm>
            <a:off x="2423160" y="4192611"/>
            <a:ext cx="2377440" cy="804672"/>
          </a:xfrm>
          <a:prstGeom prst="rect">
            <a:avLst/>
          </a:prstGeom>
          <a:solidFill>
            <a:srgbClr val="F2F5F8"/>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2496312" y="4256619"/>
            <a:ext cx="2231136" cy="676656"/>
          </a:xfrm>
          <a:prstGeom prst="rect">
            <a:avLst/>
          </a:prstGeom>
          <a:noFill/>
        </p:spPr>
        <p:txBody>
          <a:bodyPr wrap="square">
            <a:spAutoFit/>
          </a:bodyPr>
          <a:lstStyle/>
          <a:p>
            <a:pPr algn="l"/>
            <a:r>
              <a:rPr sz="1100" b="1" i="0">
                <a:solidFill>
                  <a:srgbClr val="2D6A9F"/>
                </a:solidFill>
                <a:latin typeface="Calibri"/>
              </a:rPr>
              <a:t>Recency
(within 2 months)</a:t>
            </a:r>
          </a:p>
        </p:txBody>
      </p:sp>
      <p:sp>
        <p:nvSpPr>
          <p:cNvPr id="40" name="Rectangle 39"/>
          <p:cNvSpPr/>
          <p:nvPr/>
        </p:nvSpPr>
        <p:spPr>
          <a:xfrm>
            <a:off x="4846320" y="4192611"/>
            <a:ext cx="6858000" cy="804672"/>
          </a:xfrm>
          <a:prstGeom prst="rect">
            <a:avLst/>
          </a:prstGeom>
          <a:solidFill>
            <a:srgbClr val="F2F5F8"/>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919472" y="4256619"/>
            <a:ext cx="6711696" cy="676656"/>
          </a:xfrm>
          <a:prstGeom prst="rect">
            <a:avLst/>
          </a:prstGeom>
          <a:noFill/>
        </p:spPr>
        <p:txBody>
          <a:bodyPr wrap="square">
            <a:spAutoFit/>
          </a:bodyPr>
          <a:lstStyle/>
          <a:p>
            <a:r>
              <a:rPr lang="en-US" sz="1000" b="0" dirty="0">
                <a:solidFill>
                  <a:srgbClr val="2C3E50"/>
                </a:solidFill>
              </a:rPr>
              <a:t>A user who has gone quiet before day 60 is unlikely to sustain loyalty: recency flags early drop-off before it becomes churn.</a:t>
            </a:r>
          </a:p>
        </p:txBody>
      </p:sp>
      <p:sp>
        <p:nvSpPr>
          <p:cNvPr id="42" name="Rectangle 41"/>
          <p:cNvSpPr/>
          <p:nvPr/>
        </p:nvSpPr>
        <p:spPr>
          <a:xfrm>
            <a:off x="274320" y="4997283"/>
            <a:ext cx="2103120" cy="804672"/>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347472" y="5061291"/>
            <a:ext cx="1956816" cy="676656"/>
          </a:xfrm>
          <a:prstGeom prst="rect">
            <a:avLst/>
          </a:prstGeom>
          <a:noFill/>
        </p:spPr>
        <p:txBody>
          <a:bodyPr wrap="square">
            <a:spAutoFit/>
          </a:bodyPr>
          <a:lstStyle/>
          <a:p>
            <a:pPr algn="l"/>
            <a:r>
              <a:rPr sz="1100" b="1" i="0">
                <a:solidFill>
                  <a:srgbClr val="2D6A9F"/>
                </a:solidFill>
                <a:latin typeface="Calibri"/>
              </a:rPr>
              <a:t>spend_month_comparison</a:t>
            </a:r>
          </a:p>
        </p:txBody>
      </p:sp>
      <p:sp>
        <p:nvSpPr>
          <p:cNvPr id="44" name="Rectangle 43"/>
          <p:cNvSpPr/>
          <p:nvPr/>
        </p:nvSpPr>
        <p:spPr>
          <a:xfrm>
            <a:off x="2423160" y="4997283"/>
            <a:ext cx="2377440" cy="804672"/>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2496312" y="5061291"/>
            <a:ext cx="2231136" cy="676656"/>
          </a:xfrm>
          <a:prstGeom prst="rect">
            <a:avLst/>
          </a:prstGeom>
          <a:noFill/>
        </p:spPr>
        <p:txBody>
          <a:bodyPr wrap="square">
            <a:spAutoFit/>
          </a:bodyPr>
          <a:lstStyle/>
          <a:p>
            <a:pPr algn="l"/>
            <a:r>
              <a:rPr sz="1100" b="1" i="0">
                <a:solidFill>
                  <a:srgbClr val="2D6A9F"/>
                </a:solidFill>
                <a:latin typeface="Calibri"/>
              </a:rPr>
              <a:t>Spend Trend
(Month 1 → Month 2)</a:t>
            </a:r>
          </a:p>
        </p:txBody>
      </p:sp>
      <p:sp>
        <p:nvSpPr>
          <p:cNvPr id="46" name="Rectangle 45"/>
          <p:cNvSpPr/>
          <p:nvPr/>
        </p:nvSpPr>
        <p:spPr>
          <a:xfrm>
            <a:off x="4846320" y="4997283"/>
            <a:ext cx="6858000" cy="804672"/>
          </a:xfrm>
          <a:prstGeom prst="rect">
            <a:avLst/>
          </a:prstGeom>
          <a:solidFill>
            <a:srgbClr val="FFFFFF"/>
          </a:solidFill>
          <a:ln w="6350">
            <a:solidFill>
              <a:srgbClr val="D0D0D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4919472" y="5061291"/>
            <a:ext cx="6711696" cy="676656"/>
          </a:xfrm>
          <a:prstGeom prst="rect">
            <a:avLst/>
          </a:prstGeom>
          <a:noFill/>
        </p:spPr>
        <p:txBody>
          <a:bodyPr wrap="square">
            <a:spAutoFit/>
          </a:bodyPr>
          <a:lstStyle/>
          <a:p>
            <a:r>
              <a:rPr lang="en-US" sz="1000" b="0" dirty="0">
                <a:solidFill>
                  <a:srgbClr val="2C3E50"/>
                </a:solidFill>
              </a:rPr>
              <a:t>Growing spend from Month 1 to Month 2 shows momentum: a user approaching the ¥10K threshold is on a trajectory consistent with loyalty.</a:t>
            </a:r>
          </a:p>
        </p:txBody>
      </p:sp>
      <p:sp>
        <p:nvSpPr>
          <p:cNvPr id="48" name="Rectangle 47"/>
          <p:cNvSpPr/>
          <p:nvPr/>
        </p:nvSpPr>
        <p:spPr>
          <a:xfrm>
            <a:off x="287972" y="5998464"/>
            <a:ext cx="11430000" cy="310896"/>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25132" y="6035040"/>
            <a:ext cx="11338560" cy="274320"/>
          </a:xfrm>
          <a:prstGeom prst="rect">
            <a:avLst/>
          </a:prstGeom>
          <a:noFill/>
        </p:spPr>
        <p:txBody>
          <a:bodyPr wrap="square">
            <a:spAutoFit/>
          </a:bodyPr>
          <a:lstStyle/>
          <a:p>
            <a:pPr algn="l"/>
            <a:r>
              <a:rPr sz="950" b="0" i="0">
                <a:solidFill>
                  <a:srgbClr val="2C3E50"/>
                </a:solidFill>
                <a:latin typeface="Calibri"/>
              </a:rPr>
              <a:t>DATA LEAKAGE GUARD:  Features: days 0-60  |  Labels: Dec 31  |  Windows strictly separated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1430000" cy="640080"/>
          </a:xfrm>
          <a:prstGeom prst="rect">
            <a:avLst/>
          </a:prstGeom>
          <a:noFill/>
        </p:spPr>
        <p:txBody>
          <a:bodyPr wrap="square">
            <a:spAutoFit/>
          </a:bodyPr>
          <a:lstStyle/>
          <a:p>
            <a:pPr algn="l"/>
            <a:r>
              <a:rPr sz="2800" b="1" i="0">
                <a:solidFill>
                  <a:srgbClr val="FFFFFF"/>
                </a:solidFill>
                <a:latin typeface="Calibri Light"/>
              </a:rPr>
              <a:t>Model Selection</a:t>
            </a:r>
          </a:p>
        </p:txBody>
      </p:sp>
      <p:sp>
        <p:nvSpPr>
          <p:cNvPr id="5" name="TextBox 4"/>
          <p:cNvSpPr txBox="1"/>
          <p:nvPr/>
        </p:nvSpPr>
        <p:spPr>
          <a:xfrm>
            <a:off x="274320" y="685800"/>
            <a:ext cx="9144000" cy="292388"/>
          </a:xfrm>
          <a:prstGeom prst="rect">
            <a:avLst/>
          </a:prstGeom>
          <a:noFill/>
        </p:spPr>
        <p:txBody>
          <a:bodyPr wrap="square">
            <a:spAutoFit/>
          </a:bodyPr>
          <a:lstStyle/>
          <a:p>
            <a:pPr algn="l"/>
            <a:r>
              <a:rPr lang="en-US" sz="1300" b="0" i="0" dirty="0">
                <a:solidFill>
                  <a:srgbClr val="B0C8E4"/>
                </a:solidFill>
                <a:latin typeface="Calibri Light"/>
              </a:rPr>
              <a:t>Why Random Forest: a model-fit argument, not a default</a:t>
            </a:r>
            <a:endParaRPr sz="1300" b="0" i="0" dirty="0">
              <a:solidFill>
                <a:srgbClr val="B0C8E4"/>
              </a:solidFill>
              <a:latin typeface="Calibri Light"/>
            </a:endParaRPr>
          </a:p>
        </p:txBody>
      </p:sp>
      <p:sp>
        <p:nvSpPr>
          <p:cNvPr id="6" name="Rectangle 5"/>
          <p:cNvSpPr/>
          <p:nvPr/>
        </p:nvSpPr>
        <p:spPr>
          <a:xfrm>
            <a:off x="274320" y="1170432"/>
            <a:ext cx="5623560" cy="1325880"/>
          </a:xfrm>
          <a:prstGeom prst="rect">
            <a:avLst/>
          </a:prstGeom>
          <a:solidFill>
            <a:srgbClr val="F2F5F8"/>
          </a:solidFill>
          <a:ln w="9525">
            <a:solidFill>
              <a:srgbClr val="CC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274320" y="1170432"/>
            <a:ext cx="64008" cy="1325880"/>
          </a:xfrm>
          <a:prstGeom prst="rect">
            <a:avLst/>
          </a:prstGeom>
          <a:solidFill>
            <a:srgbClr val="0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02336" y="1280160"/>
            <a:ext cx="329184" cy="329184"/>
          </a:xfrm>
          <a:prstGeom prst="rect">
            <a:avLst/>
          </a:prstGeom>
          <a:solidFill>
            <a:srgbClr val="0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02336" y="1289304"/>
            <a:ext cx="329184" cy="301752"/>
          </a:xfrm>
          <a:prstGeom prst="rect">
            <a:avLst/>
          </a:prstGeom>
          <a:noFill/>
        </p:spPr>
        <p:txBody>
          <a:bodyPr wrap="none">
            <a:spAutoFit/>
          </a:bodyPr>
          <a:lstStyle/>
          <a:p>
            <a:pPr algn="ctr"/>
            <a:r>
              <a:rPr sz="1000" b="1">
                <a:solidFill>
                  <a:srgbClr val="FFFFFF"/>
                </a:solidFill>
              </a:rPr>
              <a:t>01</a:t>
            </a:r>
          </a:p>
        </p:txBody>
      </p:sp>
      <p:sp>
        <p:nvSpPr>
          <p:cNvPr id="10" name="TextBox 9"/>
          <p:cNvSpPr txBox="1"/>
          <p:nvPr/>
        </p:nvSpPr>
        <p:spPr>
          <a:xfrm>
            <a:off x="822959" y="1271016"/>
            <a:ext cx="4965192" cy="310896"/>
          </a:xfrm>
          <a:prstGeom prst="rect">
            <a:avLst/>
          </a:prstGeom>
          <a:noFill/>
        </p:spPr>
        <p:txBody>
          <a:bodyPr wrap="none">
            <a:spAutoFit/>
          </a:bodyPr>
          <a:lstStyle/>
          <a:p>
            <a:r>
              <a:rPr sz="1150" b="1">
                <a:solidFill>
                  <a:srgbClr val="0B2A4A"/>
                </a:solidFill>
              </a:rPr>
              <a:t>Non-linear thresholds by design</a:t>
            </a:r>
          </a:p>
        </p:txBody>
      </p:sp>
      <p:sp>
        <p:nvSpPr>
          <p:cNvPr id="11" name="TextBox 10"/>
          <p:cNvSpPr txBox="1"/>
          <p:nvPr/>
        </p:nvSpPr>
        <p:spPr>
          <a:xfrm>
            <a:off x="822959" y="1664208"/>
            <a:ext cx="4965192" cy="749808"/>
          </a:xfrm>
          <a:prstGeom prst="rect">
            <a:avLst/>
          </a:prstGeom>
          <a:noFill/>
        </p:spPr>
        <p:txBody>
          <a:bodyPr wrap="square">
            <a:spAutoFit/>
          </a:bodyPr>
          <a:lstStyle/>
          <a:p>
            <a:r>
              <a:rPr sz="1000" b="0">
                <a:solidFill>
                  <a:srgbClr val="2C3E50"/>
                </a:solidFill>
              </a:rPr>
              <a:t>Loyalty uses hard gates (≥2/mo, ≥¥10K). RF decision splits mirror this structure naturally: logistic regression cannot replicate hard boundaries.</a:t>
            </a:r>
          </a:p>
        </p:txBody>
      </p:sp>
      <p:sp>
        <p:nvSpPr>
          <p:cNvPr id="12" name="Rectangle 11"/>
          <p:cNvSpPr/>
          <p:nvPr/>
        </p:nvSpPr>
        <p:spPr>
          <a:xfrm>
            <a:off x="274320" y="2660904"/>
            <a:ext cx="5623560" cy="1325880"/>
          </a:xfrm>
          <a:prstGeom prst="rect">
            <a:avLst/>
          </a:prstGeom>
          <a:solidFill>
            <a:srgbClr val="F2F5F8"/>
          </a:solidFill>
          <a:ln w="9525">
            <a:solidFill>
              <a:srgbClr val="CC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74320" y="2660904"/>
            <a:ext cx="64008" cy="1325880"/>
          </a:xfrm>
          <a:prstGeom prst="rect">
            <a:avLst/>
          </a:prstGeom>
          <a:solidFill>
            <a:srgbClr val="2D6A9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02336" y="2770632"/>
            <a:ext cx="329184" cy="329184"/>
          </a:xfrm>
          <a:prstGeom prst="rect">
            <a:avLst/>
          </a:prstGeom>
          <a:solidFill>
            <a:srgbClr val="2D6A9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02336" y="2779776"/>
            <a:ext cx="329184" cy="301752"/>
          </a:xfrm>
          <a:prstGeom prst="rect">
            <a:avLst/>
          </a:prstGeom>
          <a:noFill/>
        </p:spPr>
        <p:txBody>
          <a:bodyPr wrap="none">
            <a:spAutoFit/>
          </a:bodyPr>
          <a:lstStyle/>
          <a:p>
            <a:pPr algn="ctr"/>
            <a:r>
              <a:rPr sz="1000" b="1">
                <a:solidFill>
                  <a:srgbClr val="FFFFFF"/>
                </a:solidFill>
              </a:rPr>
              <a:t>02</a:t>
            </a:r>
          </a:p>
        </p:txBody>
      </p:sp>
      <p:sp>
        <p:nvSpPr>
          <p:cNvPr id="16" name="TextBox 15"/>
          <p:cNvSpPr txBox="1"/>
          <p:nvPr/>
        </p:nvSpPr>
        <p:spPr>
          <a:xfrm>
            <a:off x="822959" y="2761488"/>
            <a:ext cx="4965192" cy="310896"/>
          </a:xfrm>
          <a:prstGeom prst="rect">
            <a:avLst/>
          </a:prstGeom>
          <a:noFill/>
        </p:spPr>
        <p:txBody>
          <a:bodyPr wrap="none">
            <a:spAutoFit/>
          </a:bodyPr>
          <a:lstStyle/>
          <a:p>
            <a:r>
              <a:rPr sz="1150" b="1">
                <a:solidFill>
                  <a:srgbClr val="0B2A4A"/>
                </a:solidFill>
              </a:rPr>
              <a:t>Feature interactions captured</a:t>
            </a:r>
          </a:p>
        </p:txBody>
      </p:sp>
      <p:sp>
        <p:nvSpPr>
          <p:cNvPr id="17" name="TextBox 16"/>
          <p:cNvSpPr txBox="1"/>
          <p:nvPr/>
        </p:nvSpPr>
        <p:spPr>
          <a:xfrm>
            <a:off x="822959" y="3154680"/>
            <a:ext cx="4965192" cy="749808"/>
          </a:xfrm>
          <a:prstGeom prst="rect">
            <a:avLst/>
          </a:prstGeom>
          <a:noFill/>
        </p:spPr>
        <p:txBody>
          <a:bodyPr wrap="square">
            <a:spAutoFit/>
          </a:bodyPr>
          <a:lstStyle/>
          <a:p>
            <a:r>
              <a:rPr sz="1000" b="0">
                <a:solidFill>
                  <a:srgbClr val="2C3E50"/>
                </a:solidFill>
              </a:rPr>
              <a:t>High frequency AND high spend differs from either alone. RF captures these joint conditions in every tree split without explicit feature engineering.</a:t>
            </a:r>
          </a:p>
        </p:txBody>
      </p:sp>
      <p:sp>
        <p:nvSpPr>
          <p:cNvPr id="18" name="Rectangle 17"/>
          <p:cNvSpPr/>
          <p:nvPr/>
        </p:nvSpPr>
        <p:spPr>
          <a:xfrm>
            <a:off x="274320" y="4151376"/>
            <a:ext cx="5623560" cy="1325880"/>
          </a:xfrm>
          <a:prstGeom prst="rect">
            <a:avLst/>
          </a:prstGeom>
          <a:solidFill>
            <a:srgbClr val="F2F5F8"/>
          </a:solidFill>
          <a:ln w="9525">
            <a:solidFill>
              <a:srgbClr val="CC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274320" y="4151376"/>
            <a:ext cx="64008" cy="1325880"/>
          </a:xfrm>
          <a:prstGeom prst="rect">
            <a:avLst/>
          </a:prstGeom>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402336" y="4261104"/>
            <a:ext cx="329184" cy="329184"/>
          </a:xfrm>
          <a:prstGeom prst="rect">
            <a:avLst/>
          </a:prstGeom>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02336" y="4270248"/>
            <a:ext cx="329184" cy="301752"/>
          </a:xfrm>
          <a:prstGeom prst="rect">
            <a:avLst/>
          </a:prstGeom>
          <a:noFill/>
        </p:spPr>
        <p:txBody>
          <a:bodyPr wrap="none">
            <a:spAutoFit/>
          </a:bodyPr>
          <a:lstStyle/>
          <a:p>
            <a:pPr algn="ctr"/>
            <a:r>
              <a:rPr sz="1000" b="1">
                <a:solidFill>
                  <a:srgbClr val="FFFFFF"/>
                </a:solidFill>
              </a:rPr>
              <a:t>03</a:t>
            </a:r>
          </a:p>
        </p:txBody>
      </p:sp>
      <p:sp>
        <p:nvSpPr>
          <p:cNvPr id="22" name="TextBox 21"/>
          <p:cNvSpPr txBox="1"/>
          <p:nvPr/>
        </p:nvSpPr>
        <p:spPr>
          <a:xfrm>
            <a:off x="822959" y="4251960"/>
            <a:ext cx="4965192" cy="310896"/>
          </a:xfrm>
          <a:prstGeom prst="rect">
            <a:avLst/>
          </a:prstGeom>
          <a:noFill/>
        </p:spPr>
        <p:txBody>
          <a:bodyPr wrap="none">
            <a:spAutoFit/>
          </a:bodyPr>
          <a:lstStyle/>
          <a:p>
            <a:r>
              <a:rPr sz="1150" b="1">
                <a:solidFill>
                  <a:srgbClr val="0B2A4A"/>
                </a:solidFill>
              </a:rPr>
              <a:t>Scale &amp; correlation robustness</a:t>
            </a:r>
          </a:p>
        </p:txBody>
      </p:sp>
      <p:sp>
        <p:nvSpPr>
          <p:cNvPr id="23" name="TextBox 22"/>
          <p:cNvSpPr txBox="1"/>
          <p:nvPr/>
        </p:nvSpPr>
        <p:spPr>
          <a:xfrm>
            <a:off x="822959" y="4645152"/>
            <a:ext cx="4965192" cy="749808"/>
          </a:xfrm>
          <a:prstGeom prst="rect">
            <a:avLst/>
          </a:prstGeom>
          <a:noFill/>
        </p:spPr>
        <p:txBody>
          <a:bodyPr wrap="square">
            <a:spAutoFit/>
          </a:bodyPr>
          <a:lstStyle/>
          <a:p>
            <a:r>
              <a:rPr sz="1000" b="0">
                <a:solidFill>
                  <a:srgbClr val="2C3E50"/>
                </a:solidFill>
              </a:rPr>
              <a:t>Mixed units and correlated features (freq vs spend) need no normalisation. RF is invariant to monotone transformations and handles multicollinearity.</a:t>
            </a:r>
          </a:p>
        </p:txBody>
      </p:sp>
      <p:sp>
        <p:nvSpPr>
          <p:cNvPr id="24" name="Rectangle 23"/>
          <p:cNvSpPr/>
          <p:nvPr/>
        </p:nvSpPr>
        <p:spPr>
          <a:xfrm>
            <a:off x="6126480" y="1170432"/>
            <a:ext cx="5788152" cy="1325880"/>
          </a:xfrm>
          <a:prstGeom prst="rect">
            <a:avLst/>
          </a:prstGeom>
          <a:solidFill>
            <a:srgbClr val="F2F5F8"/>
          </a:solidFill>
          <a:ln w="9525">
            <a:solidFill>
              <a:srgbClr val="CC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126480" y="1170432"/>
            <a:ext cx="64008" cy="1325880"/>
          </a:xfrm>
          <a:prstGeom prst="rect">
            <a:avLst/>
          </a:prstGeom>
          <a:solidFill>
            <a:srgbClr val="5E7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254496" y="1280160"/>
            <a:ext cx="329184" cy="329184"/>
          </a:xfrm>
          <a:prstGeom prst="rect">
            <a:avLst/>
          </a:prstGeom>
          <a:solidFill>
            <a:srgbClr val="5E708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254496" y="1289304"/>
            <a:ext cx="329184" cy="301752"/>
          </a:xfrm>
          <a:prstGeom prst="rect">
            <a:avLst/>
          </a:prstGeom>
          <a:noFill/>
        </p:spPr>
        <p:txBody>
          <a:bodyPr wrap="none">
            <a:spAutoFit/>
          </a:bodyPr>
          <a:lstStyle/>
          <a:p>
            <a:pPr algn="ctr"/>
            <a:r>
              <a:rPr sz="1000" b="1">
                <a:solidFill>
                  <a:srgbClr val="FFFFFF"/>
                </a:solidFill>
              </a:rPr>
              <a:t>04</a:t>
            </a:r>
          </a:p>
        </p:txBody>
      </p:sp>
      <p:sp>
        <p:nvSpPr>
          <p:cNvPr id="28" name="TextBox 27"/>
          <p:cNvSpPr txBox="1"/>
          <p:nvPr/>
        </p:nvSpPr>
        <p:spPr>
          <a:xfrm>
            <a:off x="6675120" y="1271016"/>
            <a:ext cx="5129784" cy="310896"/>
          </a:xfrm>
          <a:prstGeom prst="rect">
            <a:avLst/>
          </a:prstGeom>
          <a:noFill/>
        </p:spPr>
        <p:txBody>
          <a:bodyPr wrap="none">
            <a:spAutoFit/>
          </a:bodyPr>
          <a:lstStyle/>
          <a:p>
            <a:r>
              <a:rPr sz="1150" b="1">
                <a:solidFill>
                  <a:srgbClr val="0B2A4A"/>
                </a:solidFill>
              </a:rPr>
              <a:t>Probability output for segmentation</a:t>
            </a:r>
          </a:p>
        </p:txBody>
      </p:sp>
      <p:sp>
        <p:nvSpPr>
          <p:cNvPr id="29" name="TextBox 28"/>
          <p:cNvSpPr txBox="1"/>
          <p:nvPr/>
        </p:nvSpPr>
        <p:spPr>
          <a:xfrm>
            <a:off x="6675120" y="1664208"/>
            <a:ext cx="5129784" cy="749808"/>
          </a:xfrm>
          <a:prstGeom prst="rect">
            <a:avLst/>
          </a:prstGeom>
          <a:noFill/>
        </p:spPr>
        <p:txBody>
          <a:bodyPr wrap="square">
            <a:spAutoFit/>
          </a:bodyPr>
          <a:lstStyle/>
          <a:p>
            <a:r>
              <a:rPr sz="1000" b="0">
                <a:solidFill>
                  <a:srgbClr val="2C3E50"/>
                </a:solidFill>
              </a:rPr>
              <a:t>predict_proba() delivers a continuous loyalty score per user: not a binary label. This is the mathematical foundation for Low / Medium / High tiering.</a:t>
            </a:r>
          </a:p>
        </p:txBody>
      </p:sp>
      <p:sp>
        <p:nvSpPr>
          <p:cNvPr id="30" name="Rectangle 29"/>
          <p:cNvSpPr/>
          <p:nvPr/>
        </p:nvSpPr>
        <p:spPr>
          <a:xfrm>
            <a:off x="6126480" y="2660904"/>
            <a:ext cx="5788152" cy="1325880"/>
          </a:xfrm>
          <a:prstGeom prst="rect">
            <a:avLst/>
          </a:prstGeom>
          <a:solidFill>
            <a:srgbClr val="F2F5F8"/>
          </a:solidFill>
          <a:ln w="9525">
            <a:solidFill>
              <a:srgbClr val="CC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6126480" y="2660904"/>
            <a:ext cx="64008" cy="1325880"/>
          </a:xfrm>
          <a:prstGeom prst="rect">
            <a:avLst/>
          </a:prstGeom>
          <a:solidFill>
            <a:srgbClr val="C09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6254496" y="2770632"/>
            <a:ext cx="329184" cy="329184"/>
          </a:xfrm>
          <a:prstGeom prst="rect">
            <a:avLst/>
          </a:prstGeom>
          <a:solidFill>
            <a:srgbClr val="C09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254496" y="2779776"/>
            <a:ext cx="329184" cy="301752"/>
          </a:xfrm>
          <a:prstGeom prst="rect">
            <a:avLst/>
          </a:prstGeom>
          <a:noFill/>
        </p:spPr>
        <p:txBody>
          <a:bodyPr wrap="none">
            <a:spAutoFit/>
          </a:bodyPr>
          <a:lstStyle/>
          <a:p>
            <a:pPr algn="ctr"/>
            <a:r>
              <a:rPr sz="1000" b="1">
                <a:solidFill>
                  <a:srgbClr val="FFFFFF"/>
                </a:solidFill>
              </a:rPr>
              <a:t>05</a:t>
            </a:r>
          </a:p>
        </p:txBody>
      </p:sp>
      <p:sp>
        <p:nvSpPr>
          <p:cNvPr id="34" name="TextBox 33"/>
          <p:cNvSpPr txBox="1"/>
          <p:nvPr/>
        </p:nvSpPr>
        <p:spPr>
          <a:xfrm>
            <a:off x="6675120" y="2761488"/>
            <a:ext cx="5129784" cy="310896"/>
          </a:xfrm>
          <a:prstGeom prst="rect">
            <a:avLst/>
          </a:prstGeom>
          <a:noFill/>
        </p:spPr>
        <p:txBody>
          <a:bodyPr wrap="none">
            <a:spAutoFit/>
          </a:bodyPr>
          <a:lstStyle/>
          <a:p>
            <a:r>
              <a:rPr sz="1150" b="1">
                <a:solidFill>
                  <a:srgbClr val="0B2A4A"/>
                </a:solidFill>
              </a:rPr>
              <a:t>Built-in feature explainability</a:t>
            </a:r>
          </a:p>
        </p:txBody>
      </p:sp>
      <p:sp>
        <p:nvSpPr>
          <p:cNvPr id="35" name="TextBox 34"/>
          <p:cNvSpPr txBox="1"/>
          <p:nvPr/>
        </p:nvSpPr>
        <p:spPr>
          <a:xfrm>
            <a:off x="6675120" y="3154680"/>
            <a:ext cx="5129784" cy="749808"/>
          </a:xfrm>
          <a:prstGeom prst="rect">
            <a:avLst/>
          </a:prstGeom>
          <a:noFill/>
        </p:spPr>
        <p:txBody>
          <a:bodyPr wrap="square">
            <a:spAutoFit/>
          </a:bodyPr>
          <a:lstStyle/>
          <a:p>
            <a:pPr algn="l"/>
            <a:r>
              <a:rPr lang="en-US" sz="1000" b="0" dirty="0">
                <a:solidFill>
                  <a:srgbClr val="2C3E50"/>
                </a:solidFill>
              </a:rPr>
              <a:t>Frequency (30%) and spend (26%) drive over half the model’s predictions, confirming the model learned the same logic as the loyalty definition.</a:t>
            </a:r>
          </a:p>
          <a:p>
            <a:pPr algn="l"/>
            <a:r>
              <a:rPr lang="en-US" sz="1000" b="0" dirty="0">
                <a:solidFill>
                  <a:srgbClr val="2C3E50"/>
                </a:solidFill>
              </a:rPr>
              <a:t>Recency (24%) and spend trend (19%) add momentum signal.</a:t>
            </a:r>
          </a:p>
          <a:p>
            <a:pPr algn="l"/>
            <a:r>
              <a:rPr lang="en-US" sz="1000" b="0" dirty="0">
                <a:solidFill>
                  <a:srgbClr val="2C3E50"/>
                </a:solidFill>
              </a:rPr>
              <a:t>Shop variety at 2% is near-irrelevant: loyal users go deep at one merchant, not wide across many.</a:t>
            </a:r>
          </a:p>
        </p:txBody>
      </p:sp>
      <p:sp>
        <p:nvSpPr>
          <p:cNvPr id="36" name="Rectangle 35"/>
          <p:cNvSpPr/>
          <p:nvPr/>
        </p:nvSpPr>
        <p:spPr>
          <a:xfrm>
            <a:off x="6126480" y="4151376"/>
            <a:ext cx="5788152" cy="1325880"/>
          </a:xfrm>
          <a:prstGeom prst="rect">
            <a:avLst/>
          </a:prstGeom>
          <a:solidFill>
            <a:srgbClr val="EBF2F8"/>
          </a:solidFill>
          <a:ln w="1270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6126480" y="4151376"/>
            <a:ext cx="64008" cy="1325880"/>
          </a:xfrm>
          <a:prstGeom prst="rect">
            <a:avLst/>
          </a:prstGeom>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254496" y="4251960"/>
            <a:ext cx="5568696" cy="256032"/>
          </a:xfrm>
          <a:prstGeom prst="rect">
            <a:avLst/>
          </a:prstGeom>
          <a:noFill/>
        </p:spPr>
        <p:txBody>
          <a:bodyPr wrap="none">
            <a:spAutoFit/>
          </a:bodyPr>
          <a:lstStyle/>
          <a:p>
            <a:r>
              <a:rPr lang="en-US" sz="1000" b="1" dirty="0">
                <a:solidFill>
                  <a:srgbClr val="0B2A4A"/>
                </a:solidFill>
              </a:rPr>
              <a:t>HANDLING THE IMBALANCED DATA CHALLENGE</a:t>
            </a:r>
          </a:p>
        </p:txBody>
      </p:sp>
      <p:sp>
        <p:nvSpPr>
          <p:cNvPr id="39" name="TextBox 38"/>
          <p:cNvSpPr txBox="1"/>
          <p:nvPr/>
        </p:nvSpPr>
        <p:spPr>
          <a:xfrm>
            <a:off x="6254496" y="4572000"/>
            <a:ext cx="5568696" cy="822960"/>
          </a:xfrm>
          <a:prstGeom prst="rect">
            <a:avLst/>
          </a:prstGeom>
          <a:noFill/>
        </p:spPr>
        <p:txBody>
          <a:bodyPr wrap="square">
            <a:spAutoFit/>
          </a:bodyPr>
          <a:lstStyle/>
          <a:p>
            <a:r>
              <a:rPr lang="en-US" sz="950" b="0" dirty="0">
                <a:solidFill>
                  <a:srgbClr val="2C3E50"/>
                </a:solidFill>
              </a:rPr>
              <a:t>In our training data, only 1 in 31 users is genuinely loyal. Left unchecked, the model would learn the easy answer: label everyone ‘not loyal’: and score 96.8% accuracy while being completely useless. To fix this, we tell the model during training that each loyal user counts as much as 31 non-loyal users. The model must then work hard to understand what loyalty actually looks like, not just take the lazy majority shortcut.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88952" cy="1051560"/>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1430000" cy="640080"/>
          </a:xfrm>
          <a:prstGeom prst="rect">
            <a:avLst/>
          </a:prstGeom>
          <a:noFill/>
        </p:spPr>
        <p:txBody>
          <a:bodyPr wrap="square">
            <a:spAutoFit/>
          </a:bodyPr>
          <a:lstStyle/>
          <a:p>
            <a:pPr algn="l"/>
            <a:r>
              <a:rPr sz="2800" b="1" i="0">
                <a:solidFill>
                  <a:srgbClr val="FFFFFF"/>
                </a:solidFill>
                <a:latin typeface="Calibri Light"/>
              </a:rPr>
              <a:t>Model Performance</a:t>
            </a:r>
          </a:p>
        </p:txBody>
      </p:sp>
      <p:sp>
        <p:nvSpPr>
          <p:cNvPr id="16" name="Rectangle 15"/>
          <p:cNvSpPr/>
          <p:nvPr/>
        </p:nvSpPr>
        <p:spPr>
          <a:xfrm>
            <a:off x="3931920" y="1344168"/>
            <a:ext cx="7738633" cy="26151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023360" y="1389888"/>
            <a:ext cx="7772400" cy="292608"/>
          </a:xfrm>
          <a:prstGeom prst="rect">
            <a:avLst/>
          </a:prstGeom>
          <a:noFill/>
        </p:spPr>
        <p:txBody>
          <a:bodyPr wrap="square">
            <a:spAutoFit/>
          </a:bodyPr>
          <a:lstStyle/>
          <a:p>
            <a:pPr algn="l"/>
            <a:r>
              <a:rPr sz="1100" b="1" i="0">
                <a:solidFill>
                  <a:srgbClr val="0B2A4A"/>
                </a:solidFill>
                <a:latin typeface="Calibri"/>
              </a:rPr>
              <a:t>CONFUSION MATRIX (Test Set, 6,884 users)</a:t>
            </a:r>
          </a:p>
        </p:txBody>
      </p:sp>
      <p:sp>
        <p:nvSpPr>
          <p:cNvPr id="18" name="Rectangle 17"/>
          <p:cNvSpPr/>
          <p:nvPr/>
        </p:nvSpPr>
        <p:spPr>
          <a:xfrm>
            <a:off x="4023360" y="1709928"/>
            <a:ext cx="2468880" cy="621792"/>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069079" y="1819656"/>
            <a:ext cx="2377440" cy="530352"/>
          </a:xfrm>
          <a:prstGeom prst="rect">
            <a:avLst/>
          </a:prstGeom>
          <a:noFill/>
        </p:spPr>
        <p:txBody>
          <a:bodyPr wrap="square">
            <a:spAutoFit/>
          </a:bodyPr>
          <a:lstStyle/>
          <a:p>
            <a:pPr algn="ctr"/>
            <a:endParaRPr/>
          </a:p>
        </p:txBody>
      </p:sp>
      <p:sp>
        <p:nvSpPr>
          <p:cNvPr id="20" name="Rectangle 19"/>
          <p:cNvSpPr/>
          <p:nvPr/>
        </p:nvSpPr>
        <p:spPr>
          <a:xfrm>
            <a:off x="6492240" y="1709928"/>
            <a:ext cx="2468880" cy="621792"/>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537960" y="1819656"/>
            <a:ext cx="2377440" cy="530352"/>
          </a:xfrm>
          <a:prstGeom prst="rect">
            <a:avLst/>
          </a:prstGeom>
          <a:noFill/>
        </p:spPr>
        <p:txBody>
          <a:bodyPr wrap="square">
            <a:spAutoFit/>
          </a:bodyPr>
          <a:lstStyle/>
          <a:p>
            <a:pPr algn="ctr"/>
            <a:r>
              <a:rPr sz="1000" b="1" i="0">
                <a:solidFill>
                  <a:srgbClr val="FFFFFF"/>
                </a:solidFill>
                <a:latin typeface="Calibri"/>
              </a:rPr>
              <a:t>Predicted: NOT LOYAL</a:t>
            </a:r>
          </a:p>
        </p:txBody>
      </p:sp>
      <p:sp>
        <p:nvSpPr>
          <p:cNvPr id="22" name="Rectangle 21"/>
          <p:cNvSpPr/>
          <p:nvPr/>
        </p:nvSpPr>
        <p:spPr>
          <a:xfrm>
            <a:off x="8961120" y="1709928"/>
            <a:ext cx="2468880" cy="621792"/>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006840" y="1819656"/>
            <a:ext cx="2377440" cy="530352"/>
          </a:xfrm>
          <a:prstGeom prst="rect">
            <a:avLst/>
          </a:prstGeom>
          <a:noFill/>
        </p:spPr>
        <p:txBody>
          <a:bodyPr wrap="square">
            <a:spAutoFit/>
          </a:bodyPr>
          <a:lstStyle/>
          <a:p>
            <a:pPr algn="ctr"/>
            <a:r>
              <a:rPr sz="1000" b="1" i="0">
                <a:solidFill>
                  <a:srgbClr val="FFFFFF"/>
                </a:solidFill>
                <a:latin typeface="Calibri"/>
              </a:rPr>
              <a:t>Predicted: LOYAL</a:t>
            </a:r>
          </a:p>
        </p:txBody>
      </p:sp>
      <p:sp>
        <p:nvSpPr>
          <p:cNvPr id="24" name="Rectangle 23"/>
          <p:cNvSpPr/>
          <p:nvPr/>
        </p:nvSpPr>
        <p:spPr>
          <a:xfrm>
            <a:off x="4023360" y="2331720"/>
            <a:ext cx="2468880" cy="621792"/>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069079" y="2441448"/>
            <a:ext cx="2377440" cy="530352"/>
          </a:xfrm>
          <a:prstGeom prst="rect">
            <a:avLst/>
          </a:prstGeom>
          <a:noFill/>
        </p:spPr>
        <p:txBody>
          <a:bodyPr wrap="square">
            <a:spAutoFit/>
          </a:bodyPr>
          <a:lstStyle/>
          <a:p>
            <a:pPr algn="l"/>
            <a:r>
              <a:rPr sz="1000" b="1" i="0">
                <a:solidFill>
                  <a:srgbClr val="FFFFFF"/>
                </a:solidFill>
                <a:latin typeface="Calibri"/>
              </a:rPr>
              <a:t>Actual: NOT LOYAL</a:t>
            </a:r>
          </a:p>
        </p:txBody>
      </p:sp>
      <p:sp>
        <p:nvSpPr>
          <p:cNvPr id="26" name="Rectangle 25"/>
          <p:cNvSpPr/>
          <p:nvPr/>
        </p:nvSpPr>
        <p:spPr>
          <a:xfrm>
            <a:off x="6492240" y="2331720"/>
            <a:ext cx="2468880" cy="621792"/>
          </a:xfrm>
          <a:prstGeom prst="rect">
            <a:avLst/>
          </a:prstGeom>
          <a:solidFill>
            <a:srgbClr val="3D6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537960" y="2404872"/>
            <a:ext cx="2377440" cy="365760"/>
          </a:xfrm>
          <a:prstGeom prst="rect">
            <a:avLst/>
          </a:prstGeom>
          <a:noFill/>
        </p:spPr>
        <p:txBody>
          <a:bodyPr wrap="square">
            <a:spAutoFit/>
          </a:bodyPr>
          <a:lstStyle/>
          <a:p>
            <a:pPr algn="ctr"/>
            <a:r>
              <a:rPr sz="1400" b="1" i="0">
                <a:solidFill>
                  <a:srgbClr val="FFFFFF"/>
                </a:solidFill>
                <a:latin typeface="Calibri"/>
              </a:rPr>
              <a:t>6,396  ✔  True Neg</a:t>
            </a:r>
          </a:p>
        </p:txBody>
      </p:sp>
      <p:sp>
        <p:nvSpPr>
          <p:cNvPr id="28" name="Rectangle 27"/>
          <p:cNvSpPr/>
          <p:nvPr/>
        </p:nvSpPr>
        <p:spPr>
          <a:xfrm>
            <a:off x="8961120" y="2331720"/>
            <a:ext cx="2468880" cy="621792"/>
          </a:xfrm>
          <a:prstGeom prst="rect">
            <a:avLst/>
          </a:prstGeom>
          <a:solidFill>
            <a:srgbClr val="5E7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006840" y="2404872"/>
            <a:ext cx="2377440" cy="365760"/>
          </a:xfrm>
          <a:prstGeom prst="rect">
            <a:avLst/>
          </a:prstGeom>
          <a:noFill/>
        </p:spPr>
        <p:txBody>
          <a:bodyPr wrap="square">
            <a:spAutoFit/>
          </a:bodyPr>
          <a:lstStyle/>
          <a:p>
            <a:pPr algn="ctr"/>
            <a:r>
              <a:rPr sz="1300" b="1" i="0">
                <a:solidFill>
                  <a:srgbClr val="FFFFFF"/>
                </a:solidFill>
                <a:latin typeface="Calibri"/>
              </a:rPr>
              <a:t>234  ✘  False Pos</a:t>
            </a:r>
          </a:p>
        </p:txBody>
      </p:sp>
      <p:sp>
        <p:nvSpPr>
          <p:cNvPr id="30" name="Rectangle 29"/>
          <p:cNvSpPr/>
          <p:nvPr/>
        </p:nvSpPr>
        <p:spPr>
          <a:xfrm>
            <a:off x="4023360" y="2953512"/>
            <a:ext cx="2468880" cy="621792"/>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069079" y="3063240"/>
            <a:ext cx="2377440" cy="530352"/>
          </a:xfrm>
          <a:prstGeom prst="rect">
            <a:avLst/>
          </a:prstGeom>
          <a:noFill/>
        </p:spPr>
        <p:txBody>
          <a:bodyPr wrap="square">
            <a:spAutoFit/>
          </a:bodyPr>
          <a:lstStyle/>
          <a:p>
            <a:pPr algn="l"/>
            <a:r>
              <a:rPr sz="1000" b="1" i="0">
                <a:solidFill>
                  <a:srgbClr val="FFFFFF"/>
                </a:solidFill>
                <a:latin typeface="Calibri"/>
              </a:rPr>
              <a:t>Actual: LOYAL</a:t>
            </a:r>
          </a:p>
        </p:txBody>
      </p:sp>
      <p:sp>
        <p:nvSpPr>
          <p:cNvPr id="32" name="Rectangle 31"/>
          <p:cNvSpPr/>
          <p:nvPr/>
        </p:nvSpPr>
        <p:spPr>
          <a:xfrm>
            <a:off x="6492240" y="2953512"/>
            <a:ext cx="2468880" cy="621792"/>
          </a:xfrm>
          <a:prstGeom prst="rect">
            <a:avLst/>
          </a:prstGeom>
          <a:solidFill>
            <a:srgbClr val="5E7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537960" y="3026664"/>
            <a:ext cx="2377440" cy="365760"/>
          </a:xfrm>
          <a:prstGeom prst="rect">
            <a:avLst/>
          </a:prstGeom>
          <a:noFill/>
        </p:spPr>
        <p:txBody>
          <a:bodyPr wrap="square">
            <a:spAutoFit/>
          </a:bodyPr>
          <a:lstStyle/>
          <a:p>
            <a:pPr algn="ctr"/>
            <a:r>
              <a:rPr sz="1300" b="1" i="0">
                <a:solidFill>
                  <a:srgbClr val="FFFFFF"/>
                </a:solidFill>
                <a:latin typeface="Calibri"/>
              </a:rPr>
              <a:t>122  ✘  False Neg</a:t>
            </a:r>
          </a:p>
        </p:txBody>
      </p:sp>
      <p:sp>
        <p:nvSpPr>
          <p:cNvPr id="34" name="Rectangle 33"/>
          <p:cNvSpPr/>
          <p:nvPr/>
        </p:nvSpPr>
        <p:spPr>
          <a:xfrm>
            <a:off x="8961120" y="2953512"/>
            <a:ext cx="2468880" cy="621792"/>
          </a:xfrm>
          <a:prstGeom prst="rect">
            <a:avLst/>
          </a:prstGeom>
          <a:solidFill>
            <a:srgbClr val="3D6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006840" y="3026664"/>
            <a:ext cx="2377440" cy="365760"/>
          </a:xfrm>
          <a:prstGeom prst="rect">
            <a:avLst/>
          </a:prstGeom>
          <a:noFill/>
        </p:spPr>
        <p:txBody>
          <a:bodyPr wrap="square">
            <a:spAutoFit/>
          </a:bodyPr>
          <a:lstStyle/>
          <a:p>
            <a:pPr algn="ctr"/>
            <a:r>
              <a:rPr sz="1400" b="1" i="0">
                <a:solidFill>
                  <a:srgbClr val="FFFFFF"/>
                </a:solidFill>
                <a:latin typeface="Calibri"/>
              </a:rPr>
              <a:t>132  ✔  True Pos</a:t>
            </a:r>
          </a:p>
        </p:txBody>
      </p:sp>
      <p:sp>
        <p:nvSpPr>
          <p:cNvPr id="78" name="Rectangle 77"/>
          <p:cNvSpPr/>
          <p:nvPr/>
        </p:nvSpPr>
        <p:spPr>
          <a:xfrm>
            <a:off x="274320" y="4617720"/>
            <a:ext cx="11612880" cy="1965960"/>
          </a:xfrm>
          <a:prstGeom prst="rect">
            <a:avLst/>
          </a:prstGeom>
          <a:solidFill>
            <a:srgbClr val="EBF2F8"/>
          </a:solidFill>
          <a:ln w="25400">
            <a:solidFill>
              <a:srgbClr val="C09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457200" y="4663440"/>
            <a:ext cx="11247120" cy="1828800"/>
          </a:xfrm>
          <a:prstGeom prst="rect">
            <a:avLst/>
          </a:prstGeom>
          <a:noFill/>
        </p:spPr>
        <p:txBody>
          <a:bodyPr wrap="square">
            <a:spAutoFit/>
          </a:bodyPr>
          <a:lstStyle/>
          <a:p>
            <a:r>
              <a:rPr lang="en-US" sz="1000" b="0" dirty="0">
                <a:solidFill>
                  <a:srgbClr val="0B2A4A"/>
                </a:solidFill>
              </a:rPr>
              <a:t>AUC 0.912: the model correctly ranks a loyal user above a non-loyal one 91.2% of the time - this is what makes the segmentation trustworthy.</a:t>
            </a:r>
          </a:p>
          <a:p>
            <a:endParaRPr lang="en-US" sz="1000" b="0" dirty="0">
              <a:solidFill>
                <a:srgbClr val="0B2A4A"/>
              </a:solidFill>
            </a:endParaRPr>
          </a:p>
          <a:p>
            <a:r>
              <a:rPr lang="en-US" sz="1000" b="1" dirty="0">
                <a:solidFill>
                  <a:srgbClr val="0B2A4A"/>
                </a:solidFill>
              </a:rPr>
              <a:t>KEY METRICS - loyal class:   Precision 0.34  |  Recall 0.45  |  F1 0.39</a:t>
            </a:r>
          </a:p>
          <a:p>
            <a:r>
              <a:rPr lang="en-US" sz="1000" b="0" dirty="0">
                <a:solidFill>
                  <a:srgbClr val="2C3E50"/>
                </a:solidFill>
              </a:rPr>
              <a:t>Not Loyal class:   Precision 0.98  |  Recall 0.96  |  F1 0.97</a:t>
            </a:r>
          </a:p>
          <a:p>
            <a:endParaRPr lang="en-US" sz="1000" b="0" dirty="0">
              <a:solidFill>
                <a:srgbClr val="2C3E50"/>
              </a:solidFill>
            </a:endParaRPr>
          </a:p>
          <a:p>
            <a:r>
              <a:rPr lang="en-US" sz="1000" b="0" dirty="0">
                <a:solidFill>
                  <a:srgbClr val="2C3E50"/>
                </a:solidFill>
              </a:rPr>
              <a:t>Recall 0.45: model catches 45% of loyal users at the default 0.5 threshold - the primary improvement priority. Lower the threshold or switch to Gradient Boosting to improve recall. The High segment (score &gt; 0.66) achieves 83.9% observed loyalty, confirming the model confidence predictions are highly accurate.</a:t>
            </a:r>
          </a:p>
        </p:txBody>
      </p:sp>
      <p:grpSp>
        <p:nvGrpSpPr>
          <p:cNvPr id="2" name="Group 1">
            <a:extLst>
              <a:ext uri="{FF2B5EF4-FFF2-40B4-BE49-F238E27FC236}">
                <a16:creationId xmlns:a16="http://schemas.microsoft.com/office/drawing/2014/main" id="{974E1499-E1A0-E54E-20D5-0BD18DEF0630}"/>
              </a:ext>
            </a:extLst>
          </p:cNvPr>
          <p:cNvGrpSpPr/>
          <p:nvPr/>
        </p:nvGrpSpPr>
        <p:grpSpPr>
          <a:xfrm>
            <a:off x="609712" y="1170096"/>
            <a:ext cx="2545858" cy="3127584"/>
            <a:chOff x="274320" y="1143000"/>
            <a:chExt cx="2788920" cy="3383280"/>
          </a:xfrm>
        </p:grpSpPr>
        <p:sp>
          <p:nvSpPr>
            <p:cNvPr id="9" name="Rectangle 8"/>
            <p:cNvSpPr/>
            <p:nvPr/>
          </p:nvSpPr>
          <p:spPr>
            <a:xfrm>
              <a:off x="274320" y="1143000"/>
              <a:ext cx="2788920" cy="3383280"/>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TextBox 9"/>
            <p:cNvSpPr txBox="1"/>
            <p:nvPr/>
          </p:nvSpPr>
          <p:spPr>
            <a:xfrm>
              <a:off x="411480" y="1234440"/>
              <a:ext cx="2527459" cy="307777"/>
            </a:xfrm>
            <a:prstGeom prst="rect">
              <a:avLst/>
            </a:prstGeom>
            <a:noFill/>
          </p:spPr>
          <p:txBody>
            <a:bodyPr wrap="square">
              <a:spAutoFit/>
            </a:bodyPr>
            <a:lstStyle/>
            <a:p>
              <a:pPr algn="ctr"/>
              <a:r>
                <a:rPr sz="1400" b="1" i="0">
                  <a:solidFill>
                    <a:srgbClr val="FFFFFF"/>
                  </a:solidFill>
                  <a:latin typeface="Calibri"/>
                </a:rPr>
                <a:t>ROC-AUC</a:t>
              </a:r>
            </a:p>
          </p:txBody>
        </p:sp>
        <p:sp>
          <p:nvSpPr>
            <p:cNvPr id="11" name="TextBox 10"/>
            <p:cNvSpPr txBox="1"/>
            <p:nvPr/>
          </p:nvSpPr>
          <p:spPr>
            <a:xfrm>
              <a:off x="411480" y="1572768"/>
              <a:ext cx="2527459" cy="892552"/>
            </a:xfrm>
            <a:prstGeom prst="rect">
              <a:avLst/>
            </a:prstGeom>
            <a:noFill/>
          </p:spPr>
          <p:txBody>
            <a:bodyPr wrap="square">
              <a:spAutoFit/>
            </a:bodyPr>
            <a:lstStyle/>
            <a:p>
              <a:pPr algn="ctr"/>
              <a:r>
                <a:rPr sz="5200" b="1" i="0" dirty="0">
                  <a:solidFill>
                    <a:srgbClr val="C09840"/>
                  </a:solidFill>
                  <a:latin typeface="Calibri"/>
                </a:rPr>
                <a:t>0.912</a:t>
              </a:r>
            </a:p>
          </p:txBody>
        </p:sp>
        <p:sp>
          <p:nvSpPr>
            <p:cNvPr id="12" name="TextBox 11"/>
            <p:cNvSpPr txBox="1"/>
            <p:nvPr/>
          </p:nvSpPr>
          <p:spPr>
            <a:xfrm>
              <a:off x="411480" y="2304288"/>
              <a:ext cx="2527459" cy="507831"/>
            </a:xfrm>
            <a:prstGeom prst="rect">
              <a:avLst/>
            </a:prstGeom>
            <a:noFill/>
          </p:spPr>
          <p:txBody>
            <a:bodyPr wrap="square">
              <a:spAutoFit/>
            </a:bodyPr>
            <a:lstStyle/>
            <a:p>
              <a:pPr algn="ctr"/>
              <a:r>
                <a:rPr sz="900" b="0" i="0" dirty="0">
                  <a:solidFill>
                    <a:srgbClr val="B0C8E4"/>
                  </a:solidFill>
                  <a:latin typeface="Calibri Light"/>
                </a:rPr>
                <a:t>The model correctly ranks
a loyal user above a non-loyal
one 91.2% of the time</a:t>
              </a:r>
            </a:p>
          </p:txBody>
        </p:sp>
        <p:sp>
          <p:nvSpPr>
            <p:cNvPr id="104" name="Rectangle 103"/>
            <p:cNvSpPr/>
            <p:nvPr/>
          </p:nvSpPr>
          <p:spPr>
            <a:xfrm>
              <a:off x="457200" y="2990087"/>
              <a:ext cx="2353151" cy="45719"/>
            </a:xfrm>
            <a:prstGeom prst="rect">
              <a:avLst/>
            </a:prstGeom>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5" name="TextBox 104"/>
            <p:cNvSpPr txBox="1"/>
            <p:nvPr/>
          </p:nvSpPr>
          <p:spPr>
            <a:xfrm>
              <a:off x="457200" y="3063240"/>
              <a:ext cx="2353151" cy="207749"/>
            </a:xfrm>
            <a:prstGeom prst="rect">
              <a:avLst/>
            </a:prstGeom>
            <a:noFill/>
          </p:spPr>
          <p:txBody>
            <a:bodyPr wrap="square">
              <a:spAutoFit/>
            </a:bodyPr>
            <a:lstStyle/>
            <a:p>
              <a:pPr algn="l"/>
              <a:r>
                <a:rPr sz="750" b="1">
                  <a:solidFill>
                    <a:srgbClr val="B0C8E4"/>
                  </a:solidFill>
                </a:rPr>
                <a:t>LOYAL CLASS METRICS</a:t>
              </a:r>
            </a:p>
          </p:txBody>
        </p:sp>
        <p:sp>
          <p:nvSpPr>
            <p:cNvPr id="106" name="TextBox 105"/>
            <p:cNvSpPr txBox="1"/>
            <p:nvPr/>
          </p:nvSpPr>
          <p:spPr>
            <a:xfrm>
              <a:off x="457200" y="3410712"/>
              <a:ext cx="1394460" cy="215444"/>
            </a:xfrm>
            <a:prstGeom prst="rect">
              <a:avLst/>
            </a:prstGeom>
            <a:noFill/>
          </p:spPr>
          <p:txBody>
            <a:bodyPr wrap="square">
              <a:spAutoFit/>
            </a:bodyPr>
            <a:lstStyle/>
            <a:p>
              <a:pPr algn="l"/>
              <a:r>
                <a:rPr sz="800" b="0">
                  <a:solidFill>
                    <a:srgbClr val="B0C8E4"/>
                  </a:solidFill>
                </a:rPr>
                <a:t>PRECISION</a:t>
              </a:r>
            </a:p>
          </p:txBody>
        </p:sp>
        <p:sp>
          <p:nvSpPr>
            <p:cNvPr id="107" name="TextBox 106"/>
            <p:cNvSpPr txBox="1"/>
            <p:nvPr/>
          </p:nvSpPr>
          <p:spPr>
            <a:xfrm>
              <a:off x="1965960" y="3410712"/>
              <a:ext cx="871538" cy="292388"/>
            </a:xfrm>
            <a:prstGeom prst="rect">
              <a:avLst/>
            </a:prstGeom>
            <a:noFill/>
          </p:spPr>
          <p:txBody>
            <a:bodyPr wrap="square">
              <a:spAutoFit/>
            </a:bodyPr>
            <a:lstStyle/>
            <a:p>
              <a:pPr algn="l"/>
              <a:r>
                <a:rPr sz="1300" b="1">
                  <a:solidFill>
                    <a:srgbClr val="FFFFFF"/>
                  </a:solidFill>
                </a:rPr>
                <a:t>0.34</a:t>
              </a:r>
            </a:p>
          </p:txBody>
        </p:sp>
        <p:sp>
          <p:nvSpPr>
            <p:cNvPr id="108" name="TextBox 107"/>
            <p:cNvSpPr txBox="1"/>
            <p:nvPr/>
          </p:nvSpPr>
          <p:spPr>
            <a:xfrm>
              <a:off x="457200" y="3776472"/>
              <a:ext cx="1394460" cy="215444"/>
            </a:xfrm>
            <a:prstGeom prst="rect">
              <a:avLst/>
            </a:prstGeom>
            <a:noFill/>
          </p:spPr>
          <p:txBody>
            <a:bodyPr wrap="square">
              <a:spAutoFit/>
            </a:bodyPr>
            <a:lstStyle/>
            <a:p>
              <a:pPr algn="l"/>
              <a:r>
                <a:rPr sz="800" b="0">
                  <a:solidFill>
                    <a:srgbClr val="B0C8E4"/>
                  </a:solidFill>
                </a:rPr>
                <a:t>RECALL</a:t>
              </a:r>
            </a:p>
          </p:txBody>
        </p:sp>
        <p:sp>
          <p:nvSpPr>
            <p:cNvPr id="109" name="TextBox 108"/>
            <p:cNvSpPr txBox="1"/>
            <p:nvPr/>
          </p:nvSpPr>
          <p:spPr>
            <a:xfrm>
              <a:off x="1965960" y="3776472"/>
              <a:ext cx="871538" cy="292388"/>
            </a:xfrm>
            <a:prstGeom prst="rect">
              <a:avLst/>
            </a:prstGeom>
            <a:noFill/>
          </p:spPr>
          <p:txBody>
            <a:bodyPr wrap="square">
              <a:spAutoFit/>
            </a:bodyPr>
            <a:lstStyle/>
            <a:p>
              <a:pPr algn="l"/>
              <a:r>
                <a:rPr sz="1300" b="1">
                  <a:solidFill>
                    <a:srgbClr val="FFFFFF"/>
                  </a:solidFill>
                </a:rPr>
                <a:t>0.45</a:t>
              </a:r>
            </a:p>
          </p:txBody>
        </p:sp>
        <p:sp>
          <p:nvSpPr>
            <p:cNvPr id="110" name="TextBox 109"/>
            <p:cNvSpPr txBox="1"/>
            <p:nvPr/>
          </p:nvSpPr>
          <p:spPr>
            <a:xfrm>
              <a:off x="457200" y="4142232"/>
              <a:ext cx="1394460" cy="215444"/>
            </a:xfrm>
            <a:prstGeom prst="rect">
              <a:avLst/>
            </a:prstGeom>
            <a:noFill/>
          </p:spPr>
          <p:txBody>
            <a:bodyPr wrap="square">
              <a:spAutoFit/>
            </a:bodyPr>
            <a:lstStyle/>
            <a:p>
              <a:pPr algn="l"/>
              <a:r>
                <a:rPr sz="800" b="0">
                  <a:solidFill>
                    <a:srgbClr val="B0C8E4"/>
                  </a:solidFill>
                </a:rPr>
                <a:t>F1-SCORE</a:t>
              </a:r>
            </a:p>
          </p:txBody>
        </p:sp>
        <p:sp>
          <p:nvSpPr>
            <p:cNvPr id="111" name="TextBox 110"/>
            <p:cNvSpPr txBox="1"/>
            <p:nvPr/>
          </p:nvSpPr>
          <p:spPr>
            <a:xfrm>
              <a:off x="1965960" y="4142232"/>
              <a:ext cx="871538" cy="292388"/>
            </a:xfrm>
            <a:prstGeom prst="rect">
              <a:avLst/>
            </a:prstGeom>
            <a:noFill/>
          </p:spPr>
          <p:txBody>
            <a:bodyPr wrap="square">
              <a:spAutoFit/>
            </a:bodyPr>
            <a:lstStyle/>
            <a:p>
              <a:pPr algn="l"/>
              <a:r>
                <a:rPr sz="1300" b="1">
                  <a:solidFill>
                    <a:srgbClr val="FFFFFF"/>
                  </a:solidFill>
                </a:rPr>
                <a:t>0.39</a:t>
              </a:r>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1430000" cy="640080"/>
          </a:xfrm>
          <a:prstGeom prst="rect">
            <a:avLst/>
          </a:prstGeom>
          <a:noFill/>
        </p:spPr>
        <p:txBody>
          <a:bodyPr wrap="square">
            <a:spAutoFit/>
          </a:bodyPr>
          <a:lstStyle/>
          <a:p>
            <a:pPr algn="l"/>
            <a:r>
              <a:rPr sz="2800" b="1" i="0">
                <a:solidFill>
                  <a:srgbClr val="FFFFFF"/>
                </a:solidFill>
                <a:latin typeface="Calibri Light"/>
              </a:rPr>
              <a:t>Business Segmentation</a:t>
            </a:r>
          </a:p>
        </p:txBody>
      </p:sp>
      <p:sp>
        <p:nvSpPr>
          <p:cNvPr id="5" name="TextBox 4"/>
          <p:cNvSpPr txBox="1"/>
          <p:nvPr/>
        </p:nvSpPr>
        <p:spPr>
          <a:xfrm>
            <a:off x="274320" y="685800"/>
            <a:ext cx="9144000" cy="365760"/>
          </a:xfrm>
          <a:prstGeom prst="rect">
            <a:avLst/>
          </a:prstGeom>
          <a:noFill/>
        </p:spPr>
        <p:txBody>
          <a:bodyPr wrap="square">
            <a:spAutoFit/>
          </a:bodyPr>
          <a:lstStyle/>
          <a:p>
            <a:pPr algn="l"/>
            <a:r>
              <a:rPr sz="1300" b="0" i="0">
                <a:solidFill>
                  <a:srgbClr val="B0C8E4"/>
                </a:solidFill>
                <a:latin typeface="Calibri Light"/>
              </a:rPr>
              <a:t>Three actionable customer segments: each with a distinct marketing playbook</a:t>
            </a:r>
          </a:p>
        </p:txBody>
      </p:sp>
      <p:sp>
        <p:nvSpPr>
          <p:cNvPr id="9" name="Rectangle 8"/>
          <p:cNvSpPr/>
          <p:nvPr/>
        </p:nvSpPr>
        <p:spPr>
          <a:xfrm>
            <a:off x="274320" y="1143000"/>
            <a:ext cx="3794760" cy="685800"/>
          </a:xfrm>
          <a:prstGeom prst="rect">
            <a:avLst/>
          </a:prstGeom>
          <a:solidFill>
            <a:srgbClr val="5E70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1170432"/>
            <a:ext cx="3611880" cy="292608"/>
          </a:xfrm>
          <a:prstGeom prst="rect">
            <a:avLst/>
          </a:prstGeom>
          <a:noFill/>
        </p:spPr>
        <p:txBody>
          <a:bodyPr wrap="square">
            <a:spAutoFit/>
          </a:bodyPr>
          <a:lstStyle/>
          <a:p>
            <a:pPr algn="ctr"/>
            <a:r>
              <a:rPr sz="1300" b="1" i="0">
                <a:solidFill>
                  <a:srgbClr val="FFFFFF"/>
                </a:solidFill>
                <a:latin typeface="Calibri"/>
              </a:rPr>
              <a:t>LOW LIKELIHOOD</a:t>
            </a:r>
          </a:p>
        </p:txBody>
      </p:sp>
      <p:sp>
        <p:nvSpPr>
          <p:cNvPr id="11" name="TextBox 10"/>
          <p:cNvSpPr txBox="1"/>
          <p:nvPr/>
        </p:nvSpPr>
        <p:spPr>
          <a:xfrm>
            <a:off x="365760" y="1444752"/>
            <a:ext cx="3611880" cy="320040"/>
          </a:xfrm>
          <a:prstGeom prst="rect">
            <a:avLst/>
          </a:prstGeom>
          <a:noFill/>
        </p:spPr>
        <p:txBody>
          <a:bodyPr wrap="square">
            <a:spAutoFit/>
          </a:bodyPr>
          <a:lstStyle/>
          <a:p>
            <a:pPr algn="ctr"/>
            <a:r>
              <a:rPr sz="1600" b="1" i="0">
                <a:solidFill>
                  <a:srgbClr val="FFFFFF"/>
                </a:solidFill>
                <a:latin typeface="Calibri"/>
              </a:rPr>
              <a:t>&lt; 33%</a:t>
            </a:r>
          </a:p>
        </p:txBody>
      </p:sp>
      <p:sp>
        <p:nvSpPr>
          <p:cNvPr id="12" name="Rectangle 11"/>
          <p:cNvSpPr/>
          <p:nvPr/>
        </p:nvSpPr>
        <p:spPr>
          <a:xfrm>
            <a:off x="274320" y="1828800"/>
            <a:ext cx="3794760" cy="502920"/>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5760" y="1874519"/>
            <a:ext cx="3611880" cy="256032"/>
          </a:xfrm>
          <a:prstGeom prst="rect">
            <a:avLst/>
          </a:prstGeom>
          <a:noFill/>
        </p:spPr>
        <p:txBody>
          <a:bodyPr wrap="square">
            <a:spAutoFit/>
          </a:bodyPr>
          <a:lstStyle/>
          <a:p>
            <a:pPr algn="ctr"/>
            <a:r>
              <a:rPr sz="950" b="1" i="0">
                <a:solidFill>
                  <a:srgbClr val="95A5A6"/>
                </a:solidFill>
                <a:latin typeface="Calibri"/>
              </a:rPr>
              <a:t>26,225 users   |   1.0% observed loyalty</a:t>
            </a:r>
          </a:p>
        </p:txBody>
      </p:sp>
      <p:sp>
        <p:nvSpPr>
          <p:cNvPr id="14" name="TextBox 13"/>
          <p:cNvSpPr txBox="1"/>
          <p:nvPr/>
        </p:nvSpPr>
        <p:spPr>
          <a:xfrm>
            <a:off x="365760" y="2084831"/>
            <a:ext cx="3611880" cy="201168"/>
          </a:xfrm>
          <a:prstGeom prst="rect">
            <a:avLst/>
          </a:prstGeom>
          <a:noFill/>
        </p:spPr>
        <p:txBody>
          <a:bodyPr wrap="square">
            <a:spAutoFit/>
          </a:bodyPr>
          <a:lstStyle/>
          <a:p>
            <a:pPr algn="ctr"/>
            <a:r>
              <a:rPr sz="850" b="0" i="0">
                <a:solidFill>
                  <a:srgbClr val="95A5A6"/>
                </a:solidFill>
                <a:latin typeface="Calibri"/>
              </a:rPr>
              <a:t>Avg score: 0.10</a:t>
            </a:r>
          </a:p>
        </p:txBody>
      </p:sp>
      <p:sp>
        <p:nvSpPr>
          <p:cNvPr id="15" name="Rectangle 14"/>
          <p:cNvSpPr/>
          <p:nvPr/>
        </p:nvSpPr>
        <p:spPr>
          <a:xfrm>
            <a:off x="274320" y="2331720"/>
            <a:ext cx="3794760" cy="347472"/>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65760" y="2359152"/>
            <a:ext cx="3611880" cy="292608"/>
          </a:xfrm>
          <a:prstGeom prst="rect">
            <a:avLst/>
          </a:prstGeom>
          <a:noFill/>
        </p:spPr>
        <p:txBody>
          <a:bodyPr wrap="square">
            <a:spAutoFit/>
          </a:bodyPr>
          <a:lstStyle/>
          <a:p>
            <a:pPr algn="ctr"/>
            <a:r>
              <a:rPr sz="1050" b="1" i="0">
                <a:solidFill>
                  <a:srgbClr val="FFFFFF"/>
                </a:solidFill>
                <a:latin typeface="Calibri"/>
              </a:rPr>
              <a:t>RE-ENGAGE OR DEPRIORITISE</a:t>
            </a:r>
          </a:p>
        </p:txBody>
      </p:sp>
      <p:sp>
        <p:nvSpPr>
          <p:cNvPr id="17" name="Rectangle 16"/>
          <p:cNvSpPr/>
          <p:nvPr/>
        </p:nvSpPr>
        <p:spPr>
          <a:xfrm>
            <a:off x="274320" y="2679192"/>
            <a:ext cx="3794760"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84048" y="2679192"/>
            <a:ext cx="3593592" cy="914400"/>
          </a:xfrm>
          <a:prstGeom prst="rect">
            <a:avLst/>
          </a:prstGeom>
          <a:noFill/>
        </p:spPr>
        <p:txBody>
          <a:bodyPr wrap="square" anchor="ctr"/>
          <a:lstStyle/>
          <a:p>
            <a:pPr algn="l"/>
            <a:r>
              <a:rPr sz="1050" b="0">
                <a:solidFill>
                  <a:srgbClr val="2C3E50"/>
                </a:solidFill>
                <a:latin typeface="Calibri"/>
              </a:rPr>
              <a:t>→  Investigate drop-off: was it price? UX? merchant gap?</a:t>
            </a:r>
          </a:p>
          <a:p>
            <a:pPr algn="l"/>
            <a:r>
              <a:rPr sz="1050" b="0">
                <a:solidFill>
                  <a:srgbClr val="2C3E50"/>
                </a:solidFill>
                <a:latin typeface="Calibri"/>
              </a:rPr>
              <a:t>→  Test a low-cost re-engagement trigger (email / push)</a:t>
            </a:r>
          </a:p>
        </p:txBody>
      </p:sp>
      <p:sp>
        <p:nvSpPr>
          <p:cNvPr id="21" name="Rectangle 20"/>
          <p:cNvSpPr/>
          <p:nvPr/>
        </p:nvSpPr>
        <p:spPr>
          <a:xfrm>
            <a:off x="4206240" y="1143000"/>
            <a:ext cx="3794760" cy="685800"/>
          </a:xfrm>
          <a:prstGeom prst="rect">
            <a:avLst/>
          </a:prstGeom>
          <a:solidFill>
            <a:srgbClr val="2D6A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297680" y="1170432"/>
            <a:ext cx="3611880" cy="292608"/>
          </a:xfrm>
          <a:prstGeom prst="rect">
            <a:avLst/>
          </a:prstGeom>
          <a:noFill/>
        </p:spPr>
        <p:txBody>
          <a:bodyPr wrap="square">
            <a:spAutoFit/>
          </a:bodyPr>
          <a:lstStyle/>
          <a:p>
            <a:pPr algn="ctr"/>
            <a:r>
              <a:rPr sz="1300" b="1" i="0">
                <a:solidFill>
                  <a:srgbClr val="2C3E50"/>
                </a:solidFill>
                <a:latin typeface="Calibri"/>
              </a:rPr>
              <a:t>MEDIUM LIKELIHOOD</a:t>
            </a:r>
          </a:p>
        </p:txBody>
      </p:sp>
      <p:sp>
        <p:nvSpPr>
          <p:cNvPr id="23" name="TextBox 22"/>
          <p:cNvSpPr txBox="1"/>
          <p:nvPr/>
        </p:nvSpPr>
        <p:spPr>
          <a:xfrm>
            <a:off x="4297680" y="1444752"/>
            <a:ext cx="3611880" cy="320040"/>
          </a:xfrm>
          <a:prstGeom prst="rect">
            <a:avLst/>
          </a:prstGeom>
          <a:noFill/>
        </p:spPr>
        <p:txBody>
          <a:bodyPr wrap="square">
            <a:spAutoFit/>
          </a:bodyPr>
          <a:lstStyle/>
          <a:p>
            <a:pPr algn="ctr"/>
            <a:r>
              <a:rPr sz="1600" b="1" i="0">
                <a:solidFill>
                  <a:srgbClr val="2C3E50"/>
                </a:solidFill>
                <a:latin typeface="Calibri"/>
              </a:rPr>
              <a:t>33% – 66%</a:t>
            </a:r>
          </a:p>
        </p:txBody>
      </p:sp>
      <p:sp>
        <p:nvSpPr>
          <p:cNvPr id="24" name="Rectangle 23"/>
          <p:cNvSpPr/>
          <p:nvPr/>
        </p:nvSpPr>
        <p:spPr>
          <a:xfrm>
            <a:off x="4206240" y="1828800"/>
            <a:ext cx="3794760" cy="502920"/>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4297680" y="1874519"/>
            <a:ext cx="3611880" cy="256032"/>
          </a:xfrm>
          <a:prstGeom prst="rect">
            <a:avLst/>
          </a:prstGeom>
          <a:noFill/>
        </p:spPr>
        <p:txBody>
          <a:bodyPr wrap="square">
            <a:spAutoFit/>
          </a:bodyPr>
          <a:lstStyle/>
          <a:p>
            <a:pPr algn="ctr"/>
            <a:r>
              <a:rPr sz="950" b="1" i="0">
                <a:solidFill>
                  <a:srgbClr val="2E75B6"/>
                </a:solidFill>
                <a:latin typeface="Calibri"/>
              </a:rPr>
              <a:t>6,060 users   |   6.3% observed loyalty</a:t>
            </a:r>
          </a:p>
        </p:txBody>
      </p:sp>
      <p:sp>
        <p:nvSpPr>
          <p:cNvPr id="26" name="TextBox 25"/>
          <p:cNvSpPr txBox="1"/>
          <p:nvPr/>
        </p:nvSpPr>
        <p:spPr>
          <a:xfrm>
            <a:off x="4297680" y="2084831"/>
            <a:ext cx="3611880" cy="201168"/>
          </a:xfrm>
          <a:prstGeom prst="rect">
            <a:avLst/>
          </a:prstGeom>
          <a:noFill/>
        </p:spPr>
        <p:txBody>
          <a:bodyPr wrap="square">
            <a:spAutoFit/>
          </a:bodyPr>
          <a:lstStyle/>
          <a:p>
            <a:pPr algn="ctr"/>
            <a:r>
              <a:rPr sz="850" b="0" i="0">
                <a:solidFill>
                  <a:srgbClr val="95A5A6"/>
                </a:solidFill>
                <a:latin typeface="Calibri"/>
              </a:rPr>
              <a:t>Avg score: 0.44</a:t>
            </a:r>
          </a:p>
        </p:txBody>
      </p:sp>
      <p:sp>
        <p:nvSpPr>
          <p:cNvPr id="27" name="Rectangle 26"/>
          <p:cNvSpPr/>
          <p:nvPr/>
        </p:nvSpPr>
        <p:spPr>
          <a:xfrm>
            <a:off x="4206240" y="2331720"/>
            <a:ext cx="3794760" cy="347472"/>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297680" y="2359152"/>
            <a:ext cx="3611880" cy="292608"/>
          </a:xfrm>
          <a:prstGeom prst="rect">
            <a:avLst/>
          </a:prstGeom>
          <a:noFill/>
        </p:spPr>
        <p:txBody>
          <a:bodyPr wrap="square">
            <a:spAutoFit/>
          </a:bodyPr>
          <a:lstStyle/>
          <a:p>
            <a:pPr algn="ctr"/>
            <a:r>
              <a:rPr sz="1050" b="1" i="0">
                <a:solidFill>
                  <a:srgbClr val="FFFFFF"/>
                </a:solidFill>
                <a:latin typeface="Calibri"/>
              </a:rPr>
              <a:t>NUDGE &amp; CONVERT</a:t>
            </a:r>
          </a:p>
        </p:txBody>
      </p:sp>
      <p:sp>
        <p:nvSpPr>
          <p:cNvPr id="29" name="Rectangle 28"/>
          <p:cNvSpPr/>
          <p:nvPr/>
        </p:nvSpPr>
        <p:spPr>
          <a:xfrm>
            <a:off x="4206240" y="2679192"/>
            <a:ext cx="3794760"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315968" y="2679192"/>
            <a:ext cx="3593592" cy="914400"/>
          </a:xfrm>
          <a:prstGeom prst="rect">
            <a:avLst/>
          </a:prstGeom>
          <a:noFill/>
        </p:spPr>
        <p:txBody>
          <a:bodyPr wrap="square" anchor="ctr"/>
          <a:lstStyle/>
          <a:p>
            <a:pPr algn="l"/>
            <a:r>
              <a:rPr sz="1050" b="0">
                <a:solidFill>
                  <a:srgbClr val="2C3E50"/>
                </a:solidFill>
                <a:latin typeface="Calibri"/>
              </a:rPr>
              <a:t>→  Spend incentive: 'Earn 10% back on your next 3 purchases'</a:t>
            </a:r>
          </a:p>
          <a:p>
            <a:pPr algn="l"/>
            <a:r>
              <a:rPr sz="1050" b="0">
                <a:solidFill>
                  <a:srgbClr val="2C3E50"/>
                </a:solidFill>
                <a:latin typeface="Calibri"/>
              </a:rPr>
              <a:t>→  Merchant discovery: introduce them to a second shop</a:t>
            </a:r>
          </a:p>
        </p:txBody>
      </p:sp>
      <p:sp>
        <p:nvSpPr>
          <p:cNvPr id="33" name="Rectangle 32"/>
          <p:cNvSpPr/>
          <p:nvPr/>
        </p:nvSpPr>
        <p:spPr>
          <a:xfrm>
            <a:off x="8138160" y="1143000"/>
            <a:ext cx="3794760" cy="685800"/>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229600" y="1170432"/>
            <a:ext cx="3611880" cy="292608"/>
          </a:xfrm>
          <a:prstGeom prst="rect">
            <a:avLst/>
          </a:prstGeom>
          <a:noFill/>
        </p:spPr>
        <p:txBody>
          <a:bodyPr wrap="square">
            <a:spAutoFit/>
          </a:bodyPr>
          <a:lstStyle/>
          <a:p>
            <a:pPr algn="ctr"/>
            <a:r>
              <a:rPr sz="1300" b="1" i="0">
                <a:solidFill>
                  <a:srgbClr val="FFFFFF"/>
                </a:solidFill>
                <a:latin typeface="Calibri"/>
              </a:rPr>
              <a:t>HIGH LIKELIHOOD</a:t>
            </a:r>
          </a:p>
        </p:txBody>
      </p:sp>
      <p:sp>
        <p:nvSpPr>
          <p:cNvPr id="35" name="TextBox 34"/>
          <p:cNvSpPr txBox="1"/>
          <p:nvPr/>
        </p:nvSpPr>
        <p:spPr>
          <a:xfrm>
            <a:off x="8229600" y="1444752"/>
            <a:ext cx="3611880" cy="320040"/>
          </a:xfrm>
          <a:prstGeom prst="rect">
            <a:avLst/>
          </a:prstGeom>
          <a:noFill/>
        </p:spPr>
        <p:txBody>
          <a:bodyPr wrap="square">
            <a:spAutoFit/>
          </a:bodyPr>
          <a:lstStyle/>
          <a:p>
            <a:pPr algn="ctr"/>
            <a:r>
              <a:rPr sz="1600" b="1" i="0">
                <a:solidFill>
                  <a:srgbClr val="FFFFFF"/>
                </a:solidFill>
                <a:latin typeface="Calibri"/>
              </a:rPr>
              <a:t>&gt; 66%</a:t>
            </a:r>
          </a:p>
        </p:txBody>
      </p:sp>
      <p:sp>
        <p:nvSpPr>
          <p:cNvPr id="36" name="Rectangle 35"/>
          <p:cNvSpPr/>
          <p:nvPr/>
        </p:nvSpPr>
        <p:spPr>
          <a:xfrm>
            <a:off x="8138160" y="1828800"/>
            <a:ext cx="3794760" cy="502920"/>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229600" y="1874519"/>
            <a:ext cx="3611880" cy="256032"/>
          </a:xfrm>
          <a:prstGeom prst="rect">
            <a:avLst/>
          </a:prstGeom>
          <a:noFill/>
        </p:spPr>
        <p:txBody>
          <a:bodyPr wrap="square">
            <a:spAutoFit/>
          </a:bodyPr>
          <a:lstStyle/>
          <a:p>
            <a:pPr algn="ctr"/>
            <a:r>
              <a:rPr sz="950" b="1" i="0">
                <a:solidFill>
                  <a:srgbClr val="C09840"/>
                </a:solidFill>
                <a:latin typeface="Calibri"/>
              </a:rPr>
              <a:t>2,135 users   |   83.9% observed loyalty</a:t>
            </a:r>
          </a:p>
        </p:txBody>
      </p:sp>
      <p:sp>
        <p:nvSpPr>
          <p:cNvPr id="38" name="TextBox 37"/>
          <p:cNvSpPr txBox="1"/>
          <p:nvPr/>
        </p:nvSpPr>
        <p:spPr>
          <a:xfrm>
            <a:off x="8229600" y="2084831"/>
            <a:ext cx="3611880" cy="201168"/>
          </a:xfrm>
          <a:prstGeom prst="rect">
            <a:avLst/>
          </a:prstGeom>
          <a:noFill/>
        </p:spPr>
        <p:txBody>
          <a:bodyPr wrap="square">
            <a:spAutoFit/>
          </a:bodyPr>
          <a:lstStyle/>
          <a:p>
            <a:pPr algn="ctr"/>
            <a:r>
              <a:rPr sz="850" b="0" i="0">
                <a:solidFill>
                  <a:srgbClr val="95A5A6"/>
                </a:solidFill>
                <a:latin typeface="Calibri"/>
              </a:rPr>
              <a:t>Avg score: 0.95</a:t>
            </a:r>
          </a:p>
        </p:txBody>
      </p:sp>
      <p:sp>
        <p:nvSpPr>
          <p:cNvPr id="39" name="Rectangle 38"/>
          <p:cNvSpPr/>
          <p:nvPr/>
        </p:nvSpPr>
        <p:spPr>
          <a:xfrm>
            <a:off x="8138160" y="2331720"/>
            <a:ext cx="3794760" cy="347472"/>
          </a:xfrm>
          <a:prstGeom prst="rect">
            <a:avLst/>
          </a:prstGeom>
          <a:solidFill>
            <a:srgbClr val="2C3E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229600" y="2359152"/>
            <a:ext cx="3611880" cy="292608"/>
          </a:xfrm>
          <a:prstGeom prst="rect">
            <a:avLst/>
          </a:prstGeom>
          <a:noFill/>
        </p:spPr>
        <p:txBody>
          <a:bodyPr wrap="square">
            <a:spAutoFit/>
          </a:bodyPr>
          <a:lstStyle/>
          <a:p>
            <a:pPr algn="ctr"/>
            <a:r>
              <a:rPr sz="1050" b="1" i="0">
                <a:solidFill>
                  <a:srgbClr val="FFFFFF"/>
                </a:solidFill>
                <a:latin typeface="Calibri"/>
              </a:rPr>
              <a:t>REINFORCE &amp; RETAIN</a:t>
            </a:r>
          </a:p>
        </p:txBody>
      </p:sp>
      <p:sp>
        <p:nvSpPr>
          <p:cNvPr id="41" name="Rectangle 40"/>
          <p:cNvSpPr/>
          <p:nvPr/>
        </p:nvSpPr>
        <p:spPr>
          <a:xfrm>
            <a:off x="8138160" y="2679192"/>
            <a:ext cx="3794760" cy="914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247888" y="2679192"/>
            <a:ext cx="3593592" cy="914400"/>
          </a:xfrm>
          <a:prstGeom prst="rect">
            <a:avLst/>
          </a:prstGeom>
          <a:noFill/>
        </p:spPr>
        <p:txBody>
          <a:bodyPr wrap="square" anchor="ctr"/>
          <a:lstStyle/>
          <a:p>
            <a:pPr algn="l"/>
            <a:r>
              <a:rPr sz="1050" b="0">
                <a:solidFill>
                  <a:srgbClr val="2C3E50"/>
                </a:solidFill>
                <a:latin typeface="Calibri"/>
              </a:rPr>
              <a:t>→  Early loyalty tier access: acknowledge their status</a:t>
            </a:r>
          </a:p>
          <a:p>
            <a:pPr algn="l"/>
            <a:r>
              <a:rPr sz="1050" b="0">
                <a:solidFill>
                  <a:srgbClr val="2C3E50"/>
                </a:solidFill>
                <a:latin typeface="Calibri"/>
              </a:rPr>
              <a:t>→  Exclusive merchant offers unavailable to general users</a:t>
            </a:r>
          </a:p>
        </p:txBody>
      </p:sp>
      <p:pic>
        <p:nvPicPr>
          <p:cNvPr id="45" name="Picture 44" descr="image.png"/>
          <p:cNvPicPr>
            <a:picLocks noChangeAspect="1"/>
          </p:cNvPicPr>
          <p:nvPr/>
        </p:nvPicPr>
        <p:blipFill>
          <a:blip r:embed="rId3"/>
          <a:stretch>
            <a:fillRect/>
          </a:stretch>
        </p:blipFill>
        <p:spPr>
          <a:xfrm>
            <a:off x="1275588" y="3703320"/>
            <a:ext cx="9427464" cy="283464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1430000" cy="640080"/>
          </a:xfrm>
          <a:prstGeom prst="rect">
            <a:avLst/>
          </a:prstGeom>
          <a:noFill/>
        </p:spPr>
        <p:txBody>
          <a:bodyPr wrap="square">
            <a:spAutoFit/>
          </a:bodyPr>
          <a:lstStyle/>
          <a:p>
            <a:pPr algn="l"/>
            <a:r>
              <a:rPr sz="2800" b="1" i="0" dirty="0">
                <a:solidFill>
                  <a:srgbClr val="FFFFFF"/>
                </a:solidFill>
                <a:latin typeface="Calibri Light"/>
              </a:rPr>
              <a:t>Business Impact</a:t>
            </a:r>
          </a:p>
        </p:txBody>
      </p:sp>
      <p:sp>
        <p:nvSpPr>
          <p:cNvPr id="5" name="TextBox 4"/>
          <p:cNvSpPr txBox="1"/>
          <p:nvPr/>
        </p:nvSpPr>
        <p:spPr>
          <a:xfrm>
            <a:off x="274320" y="685800"/>
            <a:ext cx="9144000" cy="365760"/>
          </a:xfrm>
          <a:prstGeom prst="rect">
            <a:avLst/>
          </a:prstGeom>
          <a:noFill/>
        </p:spPr>
        <p:txBody>
          <a:bodyPr wrap="square">
            <a:spAutoFit/>
          </a:bodyPr>
          <a:lstStyle/>
          <a:p>
            <a:r>
              <a:rPr lang="en-US" sz="1300" b="0" dirty="0">
                <a:solidFill>
                  <a:srgbClr val="B0C8E4"/>
                </a:solidFill>
              </a:rPr>
              <a:t>What this analysis delivers: a rigorous loyalty definition and an early-intervention model</a:t>
            </a:r>
          </a:p>
        </p:txBody>
      </p:sp>
      <p:sp>
        <p:nvSpPr>
          <p:cNvPr id="30" name="Rectangle 29"/>
          <p:cNvSpPr/>
          <p:nvPr/>
        </p:nvSpPr>
        <p:spPr>
          <a:xfrm>
            <a:off x="274320" y="5367528"/>
            <a:ext cx="11640312" cy="594360"/>
          </a:xfrm>
          <a:prstGeom prst="rect">
            <a:avLst/>
          </a:prstGeom>
          <a:solidFill>
            <a:srgbClr val="0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11480" y="5440680"/>
            <a:ext cx="2103120" cy="438912"/>
          </a:xfrm>
          <a:prstGeom prst="rect">
            <a:avLst/>
          </a:prstGeom>
          <a:noFill/>
        </p:spPr>
        <p:txBody>
          <a:bodyPr wrap="none">
            <a:spAutoFit/>
          </a:bodyPr>
          <a:lstStyle/>
          <a:p>
            <a:r>
              <a:rPr sz="1000" b="1">
                <a:solidFill>
                  <a:srgbClr val="C09840"/>
                </a:solidFill>
              </a:rPr>
              <a:t>THE BOTTOM LINE</a:t>
            </a:r>
          </a:p>
        </p:txBody>
      </p:sp>
      <p:sp>
        <p:nvSpPr>
          <p:cNvPr id="32" name="TextBox 31"/>
          <p:cNvSpPr txBox="1"/>
          <p:nvPr/>
        </p:nvSpPr>
        <p:spPr>
          <a:xfrm>
            <a:off x="2651760" y="5440680"/>
            <a:ext cx="9144000" cy="438912"/>
          </a:xfrm>
          <a:prstGeom prst="rect">
            <a:avLst/>
          </a:prstGeom>
          <a:noFill/>
        </p:spPr>
        <p:txBody>
          <a:bodyPr wrap="square">
            <a:spAutoFit/>
          </a:bodyPr>
          <a:lstStyle/>
          <a:p>
            <a:r>
              <a:rPr sz="1000" b="0">
                <a:solidFill>
                  <a:srgbClr val="FFFFFF"/>
                </a:solidFill>
              </a:rPr>
              <a:t>This model turns ‘customer loyalty’ from a vague aspiration into a measurable, predictable, actionable business programme: with a clear definition, a reliable early signal, and three distinct playbooks ready to deploy.</a:t>
            </a:r>
          </a:p>
        </p:txBody>
      </p:sp>
      <p:sp>
        <p:nvSpPr>
          <p:cNvPr id="33" name="Rectangle 32"/>
          <p:cNvSpPr/>
          <p:nvPr/>
        </p:nvSpPr>
        <p:spPr>
          <a:xfrm>
            <a:off x="283464" y="1623060"/>
            <a:ext cx="3758184" cy="1828800"/>
          </a:xfrm>
          <a:prstGeom prst="rect">
            <a:avLst/>
          </a:prstGeom>
          <a:solidFill>
            <a:srgbClr val="0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20623" y="1732788"/>
            <a:ext cx="3529584" cy="685800"/>
          </a:xfrm>
          <a:prstGeom prst="rect">
            <a:avLst/>
          </a:prstGeom>
          <a:noFill/>
        </p:spPr>
        <p:txBody>
          <a:bodyPr wrap="square">
            <a:spAutoFit/>
          </a:bodyPr>
          <a:lstStyle/>
          <a:p>
            <a:pPr algn="l"/>
            <a:r>
              <a:rPr sz="3600" b="1">
                <a:solidFill>
                  <a:srgbClr val="C09840"/>
                </a:solidFill>
              </a:rPr>
              <a:t>6,273</a:t>
            </a:r>
          </a:p>
        </p:txBody>
      </p:sp>
      <p:sp>
        <p:nvSpPr>
          <p:cNvPr id="35" name="TextBox 34"/>
          <p:cNvSpPr txBox="1"/>
          <p:nvPr/>
        </p:nvSpPr>
        <p:spPr>
          <a:xfrm>
            <a:off x="420623" y="2372868"/>
            <a:ext cx="3529584" cy="228600"/>
          </a:xfrm>
          <a:prstGeom prst="rect">
            <a:avLst/>
          </a:prstGeom>
          <a:noFill/>
        </p:spPr>
        <p:txBody>
          <a:bodyPr wrap="square">
            <a:spAutoFit/>
          </a:bodyPr>
          <a:lstStyle/>
          <a:p>
            <a:pPr algn="l"/>
            <a:r>
              <a:rPr sz="900" b="0">
                <a:solidFill>
                  <a:srgbClr val="B0C8E4"/>
                </a:solidFill>
              </a:rPr>
              <a:t>loyal customers identified</a:t>
            </a:r>
          </a:p>
        </p:txBody>
      </p:sp>
      <p:sp>
        <p:nvSpPr>
          <p:cNvPr id="36" name="Rectangle 35"/>
          <p:cNvSpPr/>
          <p:nvPr/>
        </p:nvSpPr>
        <p:spPr>
          <a:xfrm>
            <a:off x="420623" y="2628900"/>
            <a:ext cx="3483864" cy="18288"/>
          </a:xfrm>
          <a:prstGeom prst="rect">
            <a:avLst/>
          </a:prstGeom>
          <a:solidFill>
            <a:srgbClr val="C09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20623" y="2683763"/>
            <a:ext cx="3529584" cy="685800"/>
          </a:xfrm>
          <a:prstGeom prst="rect">
            <a:avLst/>
          </a:prstGeom>
          <a:noFill/>
        </p:spPr>
        <p:txBody>
          <a:bodyPr wrap="square">
            <a:spAutoFit/>
          </a:bodyPr>
          <a:lstStyle/>
          <a:p>
            <a:pPr algn="l"/>
            <a:r>
              <a:rPr sz="900" b="0">
                <a:solidFill>
                  <a:srgbClr val="FFFFFF"/>
                </a:solidFill>
              </a:rPr>
              <a:t>Spendy now has a formal answer to "who are our
loyal customers?" for the first time.</a:t>
            </a:r>
          </a:p>
        </p:txBody>
      </p:sp>
      <p:sp>
        <p:nvSpPr>
          <p:cNvPr id="38" name="Rectangle 37"/>
          <p:cNvSpPr/>
          <p:nvPr/>
        </p:nvSpPr>
        <p:spPr>
          <a:xfrm>
            <a:off x="4160520" y="1623060"/>
            <a:ext cx="3758184" cy="1828800"/>
          </a:xfrm>
          <a:prstGeom prst="rect">
            <a:avLst/>
          </a:prstGeom>
          <a:solidFill>
            <a:srgbClr val="2D6A9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297680" y="1732788"/>
            <a:ext cx="3529584" cy="685800"/>
          </a:xfrm>
          <a:prstGeom prst="rect">
            <a:avLst/>
          </a:prstGeom>
          <a:noFill/>
        </p:spPr>
        <p:txBody>
          <a:bodyPr wrap="square">
            <a:spAutoFit/>
          </a:bodyPr>
          <a:lstStyle/>
          <a:p>
            <a:pPr algn="l"/>
            <a:r>
              <a:rPr sz="3600" b="1">
                <a:solidFill>
                  <a:srgbClr val="C09840"/>
                </a:solidFill>
              </a:rPr>
              <a:t>Month 2</a:t>
            </a:r>
          </a:p>
        </p:txBody>
      </p:sp>
      <p:sp>
        <p:nvSpPr>
          <p:cNvPr id="40" name="TextBox 39"/>
          <p:cNvSpPr txBox="1"/>
          <p:nvPr/>
        </p:nvSpPr>
        <p:spPr>
          <a:xfrm>
            <a:off x="4297680" y="2372868"/>
            <a:ext cx="3529584" cy="228600"/>
          </a:xfrm>
          <a:prstGeom prst="rect">
            <a:avLst/>
          </a:prstGeom>
          <a:noFill/>
        </p:spPr>
        <p:txBody>
          <a:bodyPr wrap="square">
            <a:spAutoFit/>
          </a:bodyPr>
          <a:lstStyle/>
          <a:p>
            <a:pPr algn="l"/>
            <a:r>
              <a:rPr sz="900" b="0">
                <a:solidFill>
                  <a:srgbClr val="B0C8E4"/>
                </a:solidFill>
              </a:rPr>
              <a:t>earliest scoring window</a:t>
            </a:r>
          </a:p>
        </p:txBody>
      </p:sp>
      <p:sp>
        <p:nvSpPr>
          <p:cNvPr id="41" name="Rectangle 40"/>
          <p:cNvSpPr/>
          <p:nvPr/>
        </p:nvSpPr>
        <p:spPr>
          <a:xfrm>
            <a:off x="4297680" y="2628900"/>
            <a:ext cx="3483864" cy="18288"/>
          </a:xfrm>
          <a:prstGeom prst="rect">
            <a:avLst/>
          </a:prstGeom>
          <a:solidFill>
            <a:srgbClr val="C09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297680" y="2683763"/>
            <a:ext cx="3529584" cy="685800"/>
          </a:xfrm>
          <a:prstGeom prst="rect">
            <a:avLst/>
          </a:prstGeom>
          <a:noFill/>
        </p:spPr>
        <p:txBody>
          <a:bodyPr wrap="square">
            <a:spAutoFit/>
          </a:bodyPr>
          <a:lstStyle/>
          <a:p>
            <a:pPr algn="l"/>
            <a:r>
              <a:rPr sz="900" b="0">
                <a:solidFill>
                  <a:srgbClr val="FFFFFF"/>
                </a:solidFill>
              </a:rPr>
              <a:t>The model scores new users after 60 days —
before they decide whether to stay or leave.</a:t>
            </a:r>
          </a:p>
        </p:txBody>
      </p:sp>
      <p:sp>
        <p:nvSpPr>
          <p:cNvPr id="43" name="Rectangle 42"/>
          <p:cNvSpPr/>
          <p:nvPr/>
        </p:nvSpPr>
        <p:spPr>
          <a:xfrm>
            <a:off x="8037576" y="1623060"/>
            <a:ext cx="3758184" cy="1828800"/>
          </a:xfrm>
          <a:prstGeom prst="rect">
            <a:avLst/>
          </a:prstGeom>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174736" y="1732788"/>
            <a:ext cx="3529584" cy="685800"/>
          </a:xfrm>
          <a:prstGeom prst="rect">
            <a:avLst/>
          </a:prstGeom>
          <a:noFill/>
        </p:spPr>
        <p:txBody>
          <a:bodyPr wrap="square">
            <a:spAutoFit/>
          </a:bodyPr>
          <a:lstStyle/>
          <a:p>
            <a:pPr algn="l"/>
            <a:r>
              <a:rPr sz="3600" b="1">
                <a:solidFill>
                  <a:srgbClr val="C09840"/>
                </a:solidFill>
              </a:rPr>
              <a:t>83.9%</a:t>
            </a:r>
          </a:p>
        </p:txBody>
      </p:sp>
      <p:sp>
        <p:nvSpPr>
          <p:cNvPr id="45" name="TextBox 44"/>
          <p:cNvSpPr txBox="1"/>
          <p:nvPr/>
        </p:nvSpPr>
        <p:spPr>
          <a:xfrm>
            <a:off x="8174736" y="2372868"/>
            <a:ext cx="3529584" cy="228600"/>
          </a:xfrm>
          <a:prstGeom prst="rect">
            <a:avLst/>
          </a:prstGeom>
          <a:noFill/>
        </p:spPr>
        <p:txBody>
          <a:bodyPr wrap="square">
            <a:spAutoFit/>
          </a:bodyPr>
          <a:lstStyle/>
          <a:p>
            <a:pPr algn="l"/>
            <a:r>
              <a:rPr sz="900" b="0">
                <a:solidFill>
                  <a:srgbClr val="B0C8E4"/>
                </a:solidFill>
              </a:rPr>
              <a:t>actual loyalty in the High segment</a:t>
            </a:r>
          </a:p>
        </p:txBody>
      </p:sp>
      <p:sp>
        <p:nvSpPr>
          <p:cNvPr id="46" name="Rectangle 45"/>
          <p:cNvSpPr/>
          <p:nvPr/>
        </p:nvSpPr>
        <p:spPr>
          <a:xfrm>
            <a:off x="8174736" y="2628900"/>
            <a:ext cx="3483864" cy="18288"/>
          </a:xfrm>
          <a:prstGeom prst="rect">
            <a:avLst/>
          </a:prstGeom>
          <a:solidFill>
            <a:srgbClr val="C09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8174736" y="2683763"/>
            <a:ext cx="3529584" cy="685800"/>
          </a:xfrm>
          <a:prstGeom prst="rect">
            <a:avLst/>
          </a:prstGeom>
          <a:noFill/>
        </p:spPr>
        <p:txBody>
          <a:bodyPr wrap="square">
            <a:spAutoFit/>
          </a:bodyPr>
          <a:lstStyle/>
          <a:p>
            <a:pPr algn="l"/>
            <a:r>
              <a:rPr sz="900" b="0">
                <a:solidFill>
                  <a:srgbClr val="FFFFFF"/>
                </a:solidFill>
              </a:rPr>
              <a:t>4 in 5 users the model was confident about
turned out to be genuinely loyal.</a:t>
            </a:r>
          </a:p>
        </p:txBody>
      </p:sp>
      <p:sp>
        <p:nvSpPr>
          <p:cNvPr id="48" name="Rectangle 47"/>
          <p:cNvSpPr/>
          <p:nvPr/>
        </p:nvSpPr>
        <p:spPr>
          <a:xfrm>
            <a:off x="283464" y="3607308"/>
            <a:ext cx="11512296" cy="1307592"/>
          </a:xfrm>
          <a:prstGeom prst="rect">
            <a:avLst/>
          </a:prstGeom>
          <a:solidFill>
            <a:srgbClr val="F2F5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20624" y="3680460"/>
            <a:ext cx="3657600" cy="219456"/>
          </a:xfrm>
          <a:prstGeom prst="rect">
            <a:avLst/>
          </a:prstGeom>
          <a:noFill/>
        </p:spPr>
        <p:txBody>
          <a:bodyPr wrap="square">
            <a:spAutoFit/>
          </a:bodyPr>
          <a:lstStyle/>
          <a:p>
            <a:pPr algn="l"/>
            <a:r>
              <a:rPr sz="900" b="1">
                <a:solidFill>
                  <a:srgbClr val="0B2A4A"/>
                </a:solidFill>
              </a:rPr>
              <a:t>3-TIER MARKETING PLAYBOOK</a:t>
            </a:r>
          </a:p>
        </p:txBody>
      </p:sp>
      <p:sp>
        <p:nvSpPr>
          <p:cNvPr id="50" name="Rectangle 49"/>
          <p:cNvSpPr/>
          <p:nvPr/>
        </p:nvSpPr>
        <p:spPr>
          <a:xfrm>
            <a:off x="283464" y="3954780"/>
            <a:ext cx="54864" cy="923544"/>
          </a:xfrm>
          <a:prstGeom prst="rect">
            <a:avLst/>
          </a:prstGeom>
          <a:solidFill>
            <a:srgbClr val="C09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420623" y="3973068"/>
            <a:ext cx="3575304" cy="201168"/>
          </a:xfrm>
          <a:prstGeom prst="rect">
            <a:avLst/>
          </a:prstGeom>
          <a:noFill/>
        </p:spPr>
        <p:txBody>
          <a:bodyPr wrap="square">
            <a:spAutoFit/>
          </a:bodyPr>
          <a:lstStyle/>
          <a:p>
            <a:pPr algn="l"/>
            <a:r>
              <a:rPr sz="800" b="1">
                <a:solidFill>
                  <a:srgbClr val="2C3E50"/>
                </a:solidFill>
              </a:rPr>
              <a:t>HIGH  › 66%</a:t>
            </a:r>
          </a:p>
        </p:txBody>
      </p:sp>
      <p:sp>
        <p:nvSpPr>
          <p:cNvPr id="52" name="TextBox 51"/>
          <p:cNvSpPr txBox="1"/>
          <p:nvPr/>
        </p:nvSpPr>
        <p:spPr>
          <a:xfrm>
            <a:off x="420623" y="4201668"/>
            <a:ext cx="3575304" cy="219456"/>
          </a:xfrm>
          <a:prstGeom prst="rect">
            <a:avLst/>
          </a:prstGeom>
          <a:noFill/>
        </p:spPr>
        <p:txBody>
          <a:bodyPr wrap="square">
            <a:spAutoFit/>
          </a:bodyPr>
          <a:lstStyle/>
          <a:p>
            <a:pPr algn="l"/>
            <a:r>
              <a:rPr sz="1000" b="1">
                <a:solidFill>
                  <a:srgbClr val="0B2A4A"/>
                </a:solidFill>
              </a:rPr>
              <a:t>Reinforce</a:t>
            </a:r>
          </a:p>
        </p:txBody>
      </p:sp>
      <p:sp>
        <p:nvSpPr>
          <p:cNvPr id="53" name="TextBox 52"/>
          <p:cNvSpPr txBox="1"/>
          <p:nvPr/>
        </p:nvSpPr>
        <p:spPr>
          <a:xfrm>
            <a:off x="420623" y="4439412"/>
            <a:ext cx="3575304" cy="475488"/>
          </a:xfrm>
          <a:prstGeom prst="rect">
            <a:avLst/>
          </a:prstGeom>
          <a:noFill/>
        </p:spPr>
        <p:txBody>
          <a:bodyPr wrap="square">
            <a:spAutoFit/>
          </a:bodyPr>
          <a:lstStyle/>
          <a:p>
            <a:pPr algn="l"/>
            <a:r>
              <a:rPr sz="900" b="0">
                <a:solidFill>
                  <a:srgbClr val="2C3E50"/>
                </a:solidFill>
              </a:rPr>
              <a:t>Acknowledge loyalty early. Exclusive offers
and status recognition before competitors do.</a:t>
            </a:r>
          </a:p>
        </p:txBody>
      </p:sp>
      <p:sp>
        <p:nvSpPr>
          <p:cNvPr id="54" name="Rectangle 53"/>
          <p:cNvSpPr/>
          <p:nvPr/>
        </p:nvSpPr>
        <p:spPr>
          <a:xfrm>
            <a:off x="4160520" y="3954780"/>
            <a:ext cx="54864" cy="923544"/>
          </a:xfrm>
          <a:prstGeom prst="rect">
            <a:avLst/>
          </a:prstGeom>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4297680" y="3973068"/>
            <a:ext cx="3575304" cy="201168"/>
          </a:xfrm>
          <a:prstGeom prst="rect">
            <a:avLst/>
          </a:prstGeom>
          <a:noFill/>
        </p:spPr>
        <p:txBody>
          <a:bodyPr wrap="square">
            <a:spAutoFit/>
          </a:bodyPr>
          <a:lstStyle/>
          <a:p>
            <a:pPr algn="l"/>
            <a:r>
              <a:rPr sz="800" b="1">
                <a:solidFill>
                  <a:srgbClr val="2C3E50"/>
                </a:solidFill>
              </a:rPr>
              <a:t>MEDIUM  33–66%</a:t>
            </a:r>
          </a:p>
        </p:txBody>
      </p:sp>
      <p:sp>
        <p:nvSpPr>
          <p:cNvPr id="56" name="TextBox 55"/>
          <p:cNvSpPr txBox="1"/>
          <p:nvPr/>
        </p:nvSpPr>
        <p:spPr>
          <a:xfrm>
            <a:off x="4297680" y="4201668"/>
            <a:ext cx="3575304" cy="219456"/>
          </a:xfrm>
          <a:prstGeom prst="rect">
            <a:avLst/>
          </a:prstGeom>
          <a:noFill/>
        </p:spPr>
        <p:txBody>
          <a:bodyPr wrap="square">
            <a:spAutoFit/>
          </a:bodyPr>
          <a:lstStyle/>
          <a:p>
            <a:pPr algn="l"/>
            <a:r>
              <a:rPr sz="1000" b="1">
                <a:solidFill>
                  <a:srgbClr val="0B2A4A"/>
                </a:solidFill>
              </a:rPr>
              <a:t>Nudge</a:t>
            </a:r>
          </a:p>
        </p:txBody>
      </p:sp>
      <p:sp>
        <p:nvSpPr>
          <p:cNvPr id="57" name="TextBox 56"/>
          <p:cNvSpPr txBox="1"/>
          <p:nvPr/>
        </p:nvSpPr>
        <p:spPr>
          <a:xfrm>
            <a:off x="4297680" y="4439412"/>
            <a:ext cx="3575304" cy="475488"/>
          </a:xfrm>
          <a:prstGeom prst="rect">
            <a:avLst/>
          </a:prstGeom>
          <a:noFill/>
        </p:spPr>
        <p:txBody>
          <a:bodyPr wrap="square">
            <a:spAutoFit/>
          </a:bodyPr>
          <a:lstStyle/>
          <a:p>
            <a:pPr algn="l"/>
            <a:r>
              <a:rPr sz="900" b="0">
                <a:solidFill>
                  <a:srgbClr val="2C3E50"/>
                </a:solidFill>
              </a:rPr>
              <a:t>Targeted spend incentive or merchant
discovery prompts to close the loyalty gap.</a:t>
            </a:r>
          </a:p>
        </p:txBody>
      </p:sp>
      <p:sp>
        <p:nvSpPr>
          <p:cNvPr id="58" name="Rectangle 57"/>
          <p:cNvSpPr/>
          <p:nvPr/>
        </p:nvSpPr>
        <p:spPr>
          <a:xfrm>
            <a:off x="8037576" y="3954780"/>
            <a:ext cx="54864" cy="923544"/>
          </a:xfrm>
          <a:prstGeom prst="rect">
            <a:avLst/>
          </a:prstGeom>
          <a:solidFill>
            <a:srgbClr val="95A5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8174736" y="3973068"/>
            <a:ext cx="3575304" cy="201168"/>
          </a:xfrm>
          <a:prstGeom prst="rect">
            <a:avLst/>
          </a:prstGeom>
          <a:noFill/>
        </p:spPr>
        <p:txBody>
          <a:bodyPr wrap="square">
            <a:spAutoFit/>
          </a:bodyPr>
          <a:lstStyle/>
          <a:p>
            <a:pPr algn="l"/>
            <a:r>
              <a:rPr sz="800" b="1">
                <a:solidFill>
                  <a:srgbClr val="2C3E50"/>
                </a:solidFill>
              </a:rPr>
              <a:t>LOW  ‹ 33%</a:t>
            </a:r>
          </a:p>
        </p:txBody>
      </p:sp>
      <p:sp>
        <p:nvSpPr>
          <p:cNvPr id="60" name="TextBox 59"/>
          <p:cNvSpPr txBox="1"/>
          <p:nvPr/>
        </p:nvSpPr>
        <p:spPr>
          <a:xfrm>
            <a:off x="8174736" y="4201668"/>
            <a:ext cx="3575304" cy="219456"/>
          </a:xfrm>
          <a:prstGeom prst="rect">
            <a:avLst/>
          </a:prstGeom>
          <a:noFill/>
        </p:spPr>
        <p:txBody>
          <a:bodyPr wrap="square">
            <a:spAutoFit/>
          </a:bodyPr>
          <a:lstStyle/>
          <a:p>
            <a:pPr algn="l"/>
            <a:r>
              <a:rPr sz="1000" b="1">
                <a:solidFill>
                  <a:srgbClr val="0B2A4A"/>
                </a:solidFill>
              </a:rPr>
              <a:t>Deprioritise</a:t>
            </a:r>
          </a:p>
        </p:txBody>
      </p:sp>
      <p:sp>
        <p:nvSpPr>
          <p:cNvPr id="61" name="TextBox 60"/>
          <p:cNvSpPr txBox="1"/>
          <p:nvPr/>
        </p:nvSpPr>
        <p:spPr>
          <a:xfrm>
            <a:off x="8174736" y="4439412"/>
            <a:ext cx="3575304" cy="475488"/>
          </a:xfrm>
          <a:prstGeom prst="rect">
            <a:avLst/>
          </a:prstGeom>
          <a:noFill/>
        </p:spPr>
        <p:txBody>
          <a:bodyPr wrap="square">
            <a:spAutoFit/>
          </a:bodyPr>
          <a:lstStyle/>
          <a:p>
            <a:pPr algn="l"/>
            <a:r>
              <a:rPr sz="900" b="0">
                <a:solidFill>
                  <a:srgbClr val="2C3E50"/>
                </a:solidFill>
              </a:rPr>
              <a:t>Investigate re-engagement triggers or
redirect budget to higher-value segments.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51560"/>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74320" y="91440"/>
            <a:ext cx="11430000" cy="5232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FFFFF"/>
                </a:solidFill>
                <a:effectLst/>
                <a:uLnTx/>
                <a:uFillTx/>
                <a:latin typeface="Calibri Light"/>
                <a:ea typeface="+mn-ea"/>
                <a:cs typeface="+mn-cs"/>
              </a:rPr>
              <a:t>Future Improvements</a:t>
            </a:r>
          </a:p>
        </p:txBody>
      </p:sp>
      <p:sp>
        <p:nvSpPr>
          <p:cNvPr id="5" name="Rectangle 4"/>
          <p:cNvSpPr/>
          <p:nvPr/>
        </p:nvSpPr>
        <p:spPr>
          <a:xfrm>
            <a:off x="274320" y="1143000"/>
            <a:ext cx="11640312" cy="914400"/>
          </a:xfrm>
          <a:prstGeom prst="rect">
            <a:avLst/>
          </a:prstGeom>
          <a:solidFill>
            <a:srgbClr val="F2F5F8"/>
          </a:solidFill>
          <a:ln w="9525">
            <a:solidFill>
              <a:srgbClr val="CC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74320" y="1143000"/>
            <a:ext cx="960120" cy="914400"/>
          </a:xfrm>
          <a:prstGeom prst="rect">
            <a:avLst/>
          </a:prstGeom>
          <a:solidFill>
            <a:srgbClr val="0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74320" y="1344168"/>
            <a:ext cx="960120" cy="512064"/>
          </a:xfrm>
          <a:prstGeom prst="rect">
            <a:avLst/>
          </a:prstGeom>
          <a:noFill/>
        </p:spPr>
        <p:txBody>
          <a:bodyPr wrap="square">
            <a:spAutoFit/>
          </a:bodyPr>
          <a:lstStyle/>
          <a:p>
            <a:pPr algn="ctr"/>
            <a:r>
              <a:rPr sz="3000" b="1">
                <a:solidFill>
                  <a:srgbClr val="C09840"/>
                </a:solidFill>
              </a:rPr>
              <a:t>01</a:t>
            </a:r>
          </a:p>
        </p:txBody>
      </p:sp>
      <p:sp>
        <p:nvSpPr>
          <p:cNvPr id="8" name="TextBox 7"/>
          <p:cNvSpPr txBox="1"/>
          <p:nvPr/>
        </p:nvSpPr>
        <p:spPr>
          <a:xfrm>
            <a:off x="1353312" y="1234440"/>
            <a:ext cx="10469880" cy="274320"/>
          </a:xfrm>
          <a:prstGeom prst="rect">
            <a:avLst/>
          </a:prstGeom>
          <a:noFill/>
        </p:spPr>
        <p:txBody>
          <a:bodyPr wrap="square">
            <a:spAutoFit/>
          </a:bodyPr>
          <a:lstStyle/>
          <a:p>
            <a:pPr algn="l"/>
            <a:r>
              <a:rPr sz="1100" b="1">
                <a:solidFill>
                  <a:srgbClr val="0B2A4A"/>
                </a:solidFill>
              </a:rPr>
              <a:t>Longer Observation Period</a:t>
            </a:r>
          </a:p>
        </p:txBody>
      </p:sp>
      <p:sp>
        <p:nvSpPr>
          <p:cNvPr id="9" name="Rectangle 8"/>
          <p:cNvSpPr/>
          <p:nvPr/>
        </p:nvSpPr>
        <p:spPr>
          <a:xfrm>
            <a:off x="1353312" y="1545336"/>
            <a:ext cx="10469880" cy="18288"/>
          </a:xfrm>
          <a:prstGeom prst="rect">
            <a:avLst/>
          </a:prstGeom>
          <a:solidFill>
            <a:srgbClr val="C09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353312" y="1618488"/>
            <a:ext cx="10469880" cy="238527"/>
          </a:xfrm>
          <a:prstGeom prst="rect">
            <a:avLst/>
          </a:prstGeom>
          <a:noFill/>
        </p:spPr>
        <p:txBody>
          <a:bodyPr wrap="square">
            <a:spAutoFit/>
          </a:bodyPr>
          <a:lstStyle/>
          <a:p>
            <a:pPr algn="l"/>
            <a:r>
              <a:rPr sz="950" b="0" dirty="0">
                <a:solidFill>
                  <a:srgbClr val="2C3E50"/>
                </a:solidFill>
              </a:rPr>
              <a:t>The dataset covers H2 2020 only  7 months. A full year or more of data would provide more loyal-class examples and let the loyalty definition be validated over time.</a:t>
            </a:r>
          </a:p>
        </p:txBody>
      </p:sp>
      <p:sp>
        <p:nvSpPr>
          <p:cNvPr id="11" name="Rectangle 10"/>
          <p:cNvSpPr/>
          <p:nvPr/>
        </p:nvSpPr>
        <p:spPr>
          <a:xfrm>
            <a:off x="274320" y="2157984"/>
            <a:ext cx="11640312" cy="914400"/>
          </a:xfrm>
          <a:prstGeom prst="rect">
            <a:avLst/>
          </a:prstGeom>
          <a:solidFill>
            <a:srgbClr val="F2F5F8"/>
          </a:solidFill>
          <a:ln w="9525">
            <a:solidFill>
              <a:srgbClr val="CC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274320" y="2157984"/>
            <a:ext cx="960120" cy="914400"/>
          </a:xfrm>
          <a:prstGeom prst="rect">
            <a:avLst/>
          </a:prstGeom>
          <a:solidFill>
            <a:srgbClr val="0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274320" y="2359152"/>
            <a:ext cx="960120" cy="512064"/>
          </a:xfrm>
          <a:prstGeom prst="rect">
            <a:avLst/>
          </a:prstGeom>
          <a:noFill/>
        </p:spPr>
        <p:txBody>
          <a:bodyPr wrap="square">
            <a:spAutoFit/>
          </a:bodyPr>
          <a:lstStyle/>
          <a:p>
            <a:pPr algn="ctr"/>
            <a:r>
              <a:rPr sz="3000" b="1">
                <a:solidFill>
                  <a:srgbClr val="C09840"/>
                </a:solidFill>
              </a:rPr>
              <a:t>02</a:t>
            </a:r>
          </a:p>
        </p:txBody>
      </p:sp>
      <p:sp>
        <p:nvSpPr>
          <p:cNvPr id="14" name="TextBox 13"/>
          <p:cNvSpPr txBox="1"/>
          <p:nvPr/>
        </p:nvSpPr>
        <p:spPr>
          <a:xfrm>
            <a:off x="1353312" y="2249424"/>
            <a:ext cx="10469880" cy="274320"/>
          </a:xfrm>
          <a:prstGeom prst="rect">
            <a:avLst/>
          </a:prstGeom>
          <a:noFill/>
        </p:spPr>
        <p:txBody>
          <a:bodyPr wrap="square">
            <a:spAutoFit/>
          </a:bodyPr>
          <a:lstStyle/>
          <a:p>
            <a:pPr algn="l"/>
            <a:r>
              <a:rPr sz="1100" b="1">
                <a:solidFill>
                  <a:srgbClr val="0B2A4A"/>
                </a:solidFill>
              </a:rPr>
              <a:t>Richer Customer &amp; Transaction Data</a:t>
            </a:r>
          </a:p>
        </p:txBody>
      </p:sp>
      <p:sp>
        <p:nvSpPr>
          <p:cNvPr id="15" name="Rectangle 14"/>
          <p:cNvSpPr/>
          <p:nvPr/>
        </p:nvSpPr>
        <p:spPr>
          <a:xfrm>
            <a:off x="1353312" y="2560320"/>
            <a:ext cx="10469880" cy="18288"/>
          </a:xfrm>
          <a:prstGeom prst="rect">
            <a:avLst/>
          </a:prstGeom>
          <a:solidFill>
            <a:srgbClr val="C09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353312" y="2633472"/>
            <a:ext cx="10469880" cy="384048"/>
          </a:xfrm>
          <a:prstGeom prst="rect">
            <a:avLst/>
          </a:prstGeom>
          <a:noFill/>
        </p:spPr>
        <p:txBody>
          <a:bodyPr wrap="square">
            <a:spAutoFit/>
          </a:bodyPr>
          <a:lstStyle/>
          <a:p>
            <a:pPr algn="l"/>
            <a:r>
              <a:rPr sz="950" b="0">
                <a:solidFill>
                  <a:srgbClr val="2C3E50"/>
                </a:solidFill>
              </a:rPr>
              <a:t>Product and shop categories, customer demographics, promotion usage, and marketing campaign interactions are not in the current dataset but could meaningfully improve signal.</a:t>
            </a:r>
          </a:p>
        </p:txBody>
      </p:sp>
      <p:sp>
        <p:nvSpPr>
          <p:cNvPr id="17" name="Rectangle 16"/>
          <p:cNvSpPr/>
          <p:nvPr/>
        </p:nvSpPr>
        <p:spPr>
          <a:xfrm>
            <a:off x="274320" y="3172968"/>
            <a:ext cx="11640312" cy="914400"/>
          </a:xfrm>
          <a:prstGeom prst="rect">
            <a:avLst/>
          </a:prstGeom>
          <a:solidFill>
            <a:srgbClr val="F2F5F8"/>
          </a:solidFill>
          <a:ln w="9525">
            <a:solidFill>
              <a:srgbClr val="CC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274320" y="3172968"/>
            <a:ext cx="960120" cy="914400"/>
          </a:xfrm>
          <a:prstGeom prst="rect">
            <a:avLst/>
          </a:prstGeom>
          <a:solidFill>
            <a:srgbClr val="0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74320" y="3374136"/>
            <a:ext cx="960120" cy="512064"/>
          </a:xfrm>
          <a:prstGeom prst="rect">
            <a:avLst/>
          </a:prstGeom>
          <a:noFill/>
        </p:spPr>
        <p:txBody>
          <a:bodyPr wrap="square">
            <a:spAutoFit/>
          </a:bodyPr>
          <a:lstStyle/>
          <a:p>
            <a:pPr algn="ctr"/>
            <a:r>
              <a:rPr sz="3000" b="1">
                <a:solidFill>
                  <a:srgbClr val="C09840"/>
                </a:solidFill>
              </a:rPr>
              <a:t>03</a:t>
            </a:r>
          </a:p>
        </p:txBody>
      </p:sp>
      <p:sp>
        <p:nvSpPr>
          <p:cNvPr id="20" name="TextBox 19"/>
          <p:cNvSpPr txBox="1"/>
          <p:nvPr/>
        </p:nvSpPr>
        <p:spPr>
          <a:xfrm>
            <a:off x="1353312" y="3264408"/>
            <a:ext cx="10469880" cy="274320"/>
          </a:xfrm>
          <a:prstGeom prst="rect">
            <a:avLst/>
          </a:prstGeom>
          <a:noFill/>
        </p:spPr>
        <p:txBody>
          <a:bodyPr wrap="square">
            <a:spAutoFit/>
          </a:bodyPr>
          <a:lstStyle/>
          <a:p>
            <a:pPr algn="l"/>
            <a:r>
              <a:rPr sz="1100" b="1">
                <a:solidFill>
                  <a:srgbClr val="0B2A4A"/>
                </a:solidFill>
              </a:rPr>
              <a:t>Additional Behavioural Features</a:t>
            </a:r>
          </a:p>
        </p:txBody>
      </p:sp>
      <p:sp>
        <p:nvSpPr>
          <p:cNvPr id="21" name="Rectangle 20"/>
          <p:cNvSpPr/>
          <p:nvPr/>
        </p:nvSpPr>
        <p:spPr>
          <a:xfrm>
            <a:off x="1353312" y="3575304"/>
            <a:ext cx="10469880" cy="18288"/>
          </a:xfrm>
          <a:prstGeom prst="rect">
            <a:avLst/>
          </a:prstGeom>
          <a:solidFill>
            <a:srgbClr val="C09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353312" y="3648456"/>
            <a:ext cx="10469880" cy="384048"/>
          </a:xfrm>
          <a:prstGeom prst="rect">
            <a:avLst/>
          </a:prstGeom>
          <a:noFill/>
        </p:spPr>
        <p:txBody>
          <a:bodyPr wrap="square">
            <a:spAutoFit/>
          </a:bodyPr>
          <a:lstStyle/>
          <a:p>
            <a:pPr algn="l"/>
            <a:r>
              <a:rPr sz="950" b="0">
                <a:solidFill>
                  <a:srgbClr val="2C3E50"/>
                </a:solidFill>
              </a:rPr>
              <a:t>Purchase regularity and activity across both months of the feature window could help surface customers who build loyalty gradually through sustained early engagement.</a:t>
            </a:r>
          </a:p>
        </p:txBody>
      </p:sp>
      <p:sp>
        <p:nvSpPr>
          <p:cNvPr id="23" name="Rectangle 22"/>
          <p:cNvSpPr/>
          <p:nvPr/>
        </p:nvSpPr>
        <p:spPr>
          <a:xfrm>
            <a:off x="274320" y="4187952"/>
            <a:ext cx="11640312" cy="914400"/>
          </a:xfrm>
          <a:prstGeom prst="rect">
            <a:avLst/>
          </a:prstGeom>
          <a:solidFill>
            <a:srgbClr val="F2F5F8"/>
          </a:solidFill>
          <a:ln w="9525">
            <a:solidFill>
              <a:srgbClr val="CC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274320" y="4187952"/>
            <a:ext cx="960120" cy="914400"/>
          </a:xfrm>
          <a:prstGeom prst="rect">
            <a:avLst/>
          </a:prstGeom>
          <a:solidFill>
            <a:srgbClr val="0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274320" y="4389120"/>
            <a:ext cx="960120" cy="512064"/>
          </a:xfrm>
          <a:prstGeom prst="rect">
            <a:avLst/>
          </a:prstGeom>
          <a:noFill/>
        </p:spPr>
        <p:txBody>
          <a:bodyPr wrap="square">
            <a:spAutoFit/>
          </a:bodyPr>
          <a:lstStyle/>
          <a:p>
            <a:pPr algn="ctr"/>
            <a:r>
              <a:rPr sz="3000" b="1">
                <a:solidFill>
                  <a:srgbClr val="C09840"/>
                </a:solidFill>
              </a:rPr>
              <a:t>04</a:t>
            </a:r>
          </a:p>
        </p:txBody>
      </p:sp>
      <p:sp>
        <p:nvSpPr>
          <p:cNvPr id="26" name="TextBox 25"/>
          <p:cNvSpPr txBox="1"/>
          <p:nvPr/>
        </p:nvSpPr>
        <p:spPr>
          <a:xfrm>
            <a:off x="1353312" y="4279392"/>
            <a:ext cx="10469880" cy="274320"/>
          </a:xfrm>
          <a:prstGeom prst="rect">
            <a:avLst/>
          </a:prstGeom>
          <a:noFill/>
        </p:spPr>
        <p:txBody>
          <a:bodyPr wrap="square">
            <a:spAutoFit/>
          </a:bodyPr>
          <a:lstStyle/>
          <a:p>
            <a:pPr algn="l"/>
            <a:r>
              <a:rPr sz="1100" b="1">
                <a:solidFill>
                  <a:srgbClr val="0B2A4A"/>
                </a:solidFill>
              </a:rPr>
              <a:t>Model Refinement</a:t>
            </a:r>
          </a:p>
        </p:txBody>
      </p:sp>
      <p:sp>
        <p:nvSpPr>
          <p:cNvPr id="27" name="Rectangle 26"/>
          <p:cNvSpPr/>
          <p:nvPr/>
        </p:nvSpPr>
        <p:spPr>
          <a:xfrm>
            <a:off x="1353312" y="4590288"/>
            <a:ext cx="10469880" cy="18288"/>
          </a:xfrm>
          <a:prstGeom prst="rect">
            <a:avLst/>
          </a:prstGeom>
          <a:solidFill>
            <a:srgbClr val="C09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353312" y="4663440"/>
            <a:ext cx="10469880" cy="238527"/>
          </a:xfrm>
          <a:prstGeom prst="rect">
            <a:avLst/>
          </a:prstGeom>
          <a:noFill/>
        </p:spPr>
        <p:txBody>
          <a:bodyPr wrap="square">
            <a:spAutoFit/>
          </a:bodyPr>
          <a:lstStyle/>
          <a:p>
            <a:pPr algn="l"/>
            <a:r>
              <a:rPr sz="950" b="0" dirty="0">
                <a:solidFill>
                  <a:srgbClr val="2C3E50"/>
                </a:solidFill>
              </a:rPr>
              <a:t>Gradient Boosting with calibrated predicted probabilities would be the natural next model to compare against Random Forest</a:t>
            </a:r>
            <a:r>
              <a:rPr lang="en-US" sz="950" b="0" dirty="0">
                <a:solidFill>
                  <a:srgbClr val="2C3E50"/>
                </a:solidFill>
              </a:rPr>
              <a:t>,</a:t>
            </a:r>
            <a:r>
              <a:rPr sz="950" b="0" dirty="0">
                <a:solidFill>
                  <a:srgbClr val="2C3E50"/>
                </a:solidFill>
              </a:rPr>
              <a:t> calibration makes scores more reliable in production.</a:t>
            </a:r>
          </a:p>
        </p:txBody>
      </p:sp>
      <p:sp>
        <p:nvSpPr>
          <p:cNvPr id="29" name="Rectangle 28"/>
          <p:cNvSpPr/>
          <p:nvPr/>
        </p:nvSpPr>
        <p:spPr>
          <a:xfrm>
            <a:off x="274320" y="5202936"/>
            <a:ext cx="11640312" cy="914400"/>
          </a:xfrm>
          <a:prstGeom prst="rect">
            <a:avLst/>
          </a:prstGeom>
          <a:solidFill>
            <a:srgbClr val="F2F5F8"/>
          </a:solidFill>
          <a:ln w="9525">
            <a:solidFill>
              <a:srgbClr val="CC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274320" y="5202936"/>
            <a:ext cx="960120" cy="914400"/>
          </a:xfrm>
          <a:prstGeom prst="rect">
            <a:avLst/>
          </a:prstGeom>
          <a:solidFill>
            <a:srgbClr val="0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274320" y="5404104"/>
            <a:ext cx="960120" cy="512064"/>
          </a:xfrm>
          <a:prstGeom prst="rect">
            <a:avLst/>
          </a:prstGeom>
          <a:noFill/>
        </p:spPr>
        <p:txBody>
          <a:bodyPr wrap="square">
            <a:spAutoFit/>
          </a:bodyPr>
          <a:lstStyle/>
          <a:p>
            <a:pPr algn="ctr"/>
            <a:r>
              <a:rPr sz="3000" b="1">
                <a:solidFill>
                  <a:srgbClr val="C09840"/>
                </a:solidFill>
              </a:rPr>
              <a:t>05</a:t>
            </a:r>
          </a:p>
        </p:txBody>
      </p:sp>
      <p:sp>
        <p:nvSpPr>
          <p:cNvPr id="32" name="TextBox 31"/>
          <p:cNvSpPr txBox="1"/>
          <p:nvPr/>
        </p:nvSpPr>
        <p:spPr>
          <a:xfrm>
            <a:off x="1353312" y="5294376"/>
            <a:ext cx="10469880" cy="274320"/>
          </a:xfrm>
          <a:prstGeom prst="rect">
            <a:avLst/>
          </a:prstGeom>
          <a:noFill/>
        </p:spPr>
        <p:txBody>
          <a:bodyPr wrap="square">
            <a:spAutoFit/>
          </a:bodyPr>
          <a:lstStyle/>
          <a:p>
            <a:pPr algn="l"/>
            <a:r>
              <a:rPr sz="1100" b="1">
                <a:solidFill>
                  <a:srgbClr val="0B2A4A"/>
                </a:solidFill>
              </a:rPr>
              <a:t>Business-Driven Segmentation</a:t>
            </a:r>
          </a:p>
        </p:txBody>
      </p:sp>
      <p:sp>
        <p:nvSpPr>
          <p:cNvPr id="33" name="Rectangle 32"/>
          <p:cNvSpPr/>
          <p:nvPr/>
        </p:nvSpPr>
        <p:spPr>
          <a:xfrm>
            <a:off x="1353312" y="5605272"/>
            <a:ext cx="10469880" cy="18288"/>
          </a:xfrm>
          <a:prstGeom prst="rect">
            <a:avLst/>
          </a:prstGeom>
          <a:solidFill>
            <a:srgbClr val="C09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353312" y="5678424"/>
            <a:ext cx="10469880" cy="384048"/>
          </a:xfrm>
          <a:prstGeom prst="rect">
            <a:avLst/>
          </a:prstGeom>
          <a:noFill/>
        </p:spPr>
        <p:txBody>
          <a:bodyPr wrap="square">
            <a:spAutoFit/>
          </a:bodyPr>
          <a:lstStyle/>
          <a:p>
            <a:pPr algn="l"/>
            <a:r>
              <a:rPr sz="950" b="0">
                <a:solidFill>
                  <a:srgbClr val="2C3E50"/>
                </a:solidFill>
              </a:rPr>
              <a:t>The 33% and 66% probability cutoffs are heuristic. Thresholds should be set by the expected ROI of each marketing tier, not fixed percentiles.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0"/>
            <a:ext cx="12188952" cy="1051560"/>
          </a:xfrm>
          <a:prstGeom prst="rect">
            <a:avLst/>
          </a:prstGeom>
          <a:solidFill>
            <a:srgbClr val="0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137160"/>
            <a:ext cx="10058400" cy="523220"/>
          </a:xfrm>
          <a:prstGeom prst="rect">
            <a:avLst/>
          </a:prstGeom>
          <a:noFill/>
        </p:spPr>
        <p:txBody>
          <a:bodyPr wrap="square">
            <a:spAutoFit/>
          </a:bodyPr>
          <a:lstStyle/>
          <a:p>
            <a:pPr algn="l"/>
            <a:r>
              <a:rPr sz="2800" b="1" i="0" dirty="0">
                <a:solidFill>
                  <a:srgbClr val="FFFFFF"/>
                </a:solidFill>
                <a:latin typeface="Calibri Light"/>
              </a:rPr>
              <a:t>Conclusion</a:t>
            </a:r>
          </a:p>
        </p:txBody>
      </p:sp>
      <p:sp>
        <p:nvSpPr>
          <p:cNvPr id="8" name="TextBox 7"/>
          <p:cNvSpPr txBox="1"/>
          <p:nvPr/>
        </p:nvSpPr>
        <p:spPr>
          <a:xfrm>
            <a:off x="365760" y="777240"/>
            <a:ext cx="11430000" cy="292388"/>
          </a:xfrm>
          <a:prstGeom prst="rect">
            <a:avLst/>
          </a:prstGeom>
          <a:noFill/>
        </p:spPr>
        <p:txBody>
          <a:bodyPr wrap="square">
            <a:spAutoFit/>
          </a:bodyPr>
          <a:lstStyle/>
          <a:p>
            <a:pPr algn="l"/>
            <a:r>
              <a:rPr sz="1300" b="0" dirty="0">
                <a:solidFill>
                  <a:srgbClr val="B0C8E4"/>
                </a:solidFill>
              </a:rPr>
              <a:t>What the analysis found, and how it was built</a:t>
            </a:r>
          </a:p>
        </p:txBody>
      </p:sp>
      <p:sp>
        <p:nvSpPr>
          <p:cNvPr id="9" name="Rectangle 8"/>
          <p:cNvSpPr/>
          <p:nvPr/>
        </p:nvSpPr>
        <p:spPr>
          <a:xfrm>
            <a:off x="365760" y="1234440"/>
            <a:ext cx="3566160" cy="502920"/>
          </a:xfrm>
          <a:prstGeom prst="rect">
            <a:avLst/>
          </a:prstGeom>
          <a:solidFill>
            <a:srgbClr val="0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 y="1261872"/>
            <a:ext cx="3383279" cy="438912"/>
          </a:xfrm>
          <a:prstGeom prst="rect">
            <a:avLst/>
          </a:prstGeom>
          <a:noFill/>
        </p:spPr>
        <p:txBody>
          <a:bodyPr wrap="none">
            <a:spAutoFit/>
          </a:bodyPr>
          <a:lstStyle/>
          <a:p>
            <a:pPr algn="l"/>
            <a:r>
              <a:rPr sz="1700" b="1">
                <a:solidFill>
                  <a:srgbClr val="C09840"/>
                </a:solidFill>
              </a:rPr>
              <a:t>①  DEFINE</a:t>
            </a:r>
          </a:p>
        </p:txBody>
      </p:sp>
      <p:sp>
        <p:nvSpPr>
          <p:cNvPr id="11" name="Rectangle 10"/>
          <p:cNvSpPr/>
          <p:nvPr/>
        </p:nvSpPr>
        <p:spPr>
          <a:xfrm>
            <a:off x="365760" y="1737360"/>
            <a:ext cx="3566160" cy="2103120"/>
          </a:xfrm>
          <a:prstGeom prst="rect">
            <a:avLst/>
          </a:prstGeom>
          <a:solidFill>
            <a:srgbClr val="F5F5F5"/>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1828800"/>
            <a:ext cx="3291840" cy="4114800"/>
          </a:xfrm>
          <a:prstGeom prst="rect">
            <a:avLst/>
          </a:prstGeom>
          <a:noFill/>
        </p:spPr>
        <p:txBody>
          <a:bodyPr wrap="square">
            <a:spAutoFit/>
          </a:bodyPr>
          <a:lstStyle/>
          <a:p>
            <a:r>
              <a:rPr lang="en-US" sz="1000" b="1" dirty="0">
                <a:solidFill>
                  <a:srgbClr val="0B2A4A"/>
                </a:solidFill>
              </a:rPr>
              <a:t>Loyalty Definition</a:t>
            </a:r>
          </a:p>
          <a:p>
            <a:r>
              <a:rPr lang="en-US" sz="950" b="0" dirty="0">
                <a:solidFill>
                  <a:srgbClr val="2C3E50"/>
                </a:solidFill>
              </a:rPr>
              <a:t>5-gate AND/OR rule designed from EDA: frequency, spend, recency, tenure,
and a platform check (breadth OR depth)</a:t>
            </a:r>
          </a:p>
          <a:p>
            <a:r>
              <a:rPr lang="en-US" sz="1000" b="1" dirty="0">
                <a:solidFill>
                  <a:srgbClr val="0B2A4A"/>
                </a:solidFill>
              </a:rPr>
              <a:t>4.6% loyalty rate</a:t>
            </a:r>
          </a:p>
          <a:p>
            <a:r>
              <a:rPr lang="en-US" sz="950" b="0" dirty="0">
                <a:solidFill>
                  <a:srgbClr val="2C3E50"/>
                </a:solidFill>
              </a:rPr>
              <a:t>6,259 of 136,830 users qualify by December 2020
under the rigorous 5-gate framework</a:t>
            </a:r>
          </a:p>
          <a:p>
            <a:r>
              <a:rPr lang="en-US" sz="1000" b="1" dirty="0">
                <a:solidFill>
                  <a:srgbClr val="0B2A4A"/>
                </a:solidFill>
              </a:rPr>
              <a:t>Tracked over time</a:t>
            </a:r>
          </a:p>
          <a:p>
            <a:r>
              <a:rPr lang="en-US" sz="950" b="0" dirty="0">
                <a:solidFill>
                  <a:srgbClr val="2C3E50"/>
                </a:solidFill>
              </a:rPr>
              <a:t>Loyalty grew from zero in June to 6,259 by December
as new users accumulated sufficient registration tenure</a:t>
            </a:r>
          </a:p>
        </p:txBody>
      </p:sp>
      <p:sp>
        <p:nvSpPr>
          <p:cNvPr id="13" name="Rectangle 12"/>
          <p:cNvSpPr/>
          <p:nvPr/>
        </p:nvSpPr>
        <p:spPr>
          <a:xfrm>
            <a:off x="4251960" y="1234440"/>
            <a:ext cx="3566160" cy="502920"/>
          </a:xfrm>
          <a:prstGeom prst="rect">
            <a:avLst/>
          </a:prstGeom>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343400" y="1261872"/>
            <a:ext cx="3383279" cy="438912"/>
          </a:xfrm>
          <a:prstGeom prst="rect">
            <a:avLst/>
          </a:prstGeom>
          <a:noFill/>
        </p:spPr>
        <p:txBody>
          <a:bodyPr wrap="none">
            <a:spAutoFit/>
          </a:bodyPr>
          <a:lstStyle/>
          <a:p>
            <a:pPr algn="l"/>
            <a:r>
              <a:rPr sz="1700" b="1">
                <a:solidFill>
                  <a:srgbClr val="C09840"/>
                </a:solidFill>
              </a:rPr>
              <a:t>②  PREDICT</a:t>
            </a:r>
          </a:p>
        </p:txBody>
      </p:sp>
      <p:sp>
        <p:nvSpPr>
          <p:cNvPr id="15" name="Rectangle 14"/>
          <p:cNvSpPr/>
          <p:nvPr/>
        </p:nvSpPr>
        <p:spPr>
          <a:xfrm>
            <a:off x="4251960" y="1737360"/>
            <a:ext cx="3566160" cy="2103120"/>
          </a:xfrm>
          <a:prstGeom prst="rect">
            <a:avLst/>
          </a:prstGeom>
          <a:solidFill>
            <a:srgbClr val="F5F5F5"/>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389120" y="1828800"/>
            <a:ext cx="3291840" cy="4114800"/>
          </a:xfrm>
          <a:prstGeom prst="rect">
            <a:avLst/>
          </a:prstGeom>
          <a:noFill/>
        </p:spPr>
        <p:txBody>
          <a:bodyPr wrap="square">
            <a:spAutoFit/>
          </a:bodyPr>
          <a:lstStyle/>
          <a:p>
            <a:r>
              <a:rPr lang="en-US" sz="1000" b="1" dirty="0">
                <a:solidFill>
                  <a:srgbClr val="0B2A4A"/>
                </a:solidFill>
              </a:rPr>
              <a:t>AUC 0.912</a:t>
            </a:r>
          </a:p>
          <a:p>
            <a:r>
              <a:rPr lang="en-US" sz="950" b="0" dirty="0">
                <a:solidFill>
                  <a:srgbClr val="2C3E50"/>
                </a:solidFill>
              </a:rPr>
              <a:t>Random Forest correctly ranks a loyal user above a non-loyal
one 91.2% of the time on the held-out test set</a:t>
            </a:r>
          </a:p>
          <a:p>
            <a:r>
              <a:rPr lang="en-US" sz="1000" b="1" dirty="0">
                <a:solidFill>
                  <a:srgbClr val="0B2A4A"/>
                </a:solidFill>
              </a:rPr>
              <a:t>5 features, zero leakage</a:t>
            </a:r>
          </a:p>
          <a:p>
            <a:r>
              <a:rPr lang="en-US" sz="950" b="0" dirty="0">
                <a:solidFill>
                  <a:srgbClr val="2C3E50"/>
                </a:solidFill>
              </a:rPr>
              <a:t>All features engineered from days 0–60 only.
Labels set at Dec 31 — no future data seen during training</a:t>
            </a:r>
          </a:p>
          <a:p>
            <a:r>
              <a:rPr lang="en-US" sz="1000" b="1" dirty="0">
                <a:solidFill>
                  <a:srgbClr val="0B2A4A"/>
                </a:solidFill>
              </a:rPr>
              <a:t>Handles 1-in-31 class imbalance</a:t>
            </a:r>
          </a:p>
          <a:p>
            <a:r>
              <a:rPr lang="en-US" sz="950" b="0" dirty="0">
                <a:solidFill>
                  <a:srgbClr val="2C3E50"/>
                </a:solidFill>
              </a:rPr>
              <a:t>class_weight='balanced' gives the rare loyal class
sufficient weight without synthetic oversampling</a:t>
            </a:r>
          </a:p>
        </p:txBody>
      </p:sp>
      <p:sp>
        <p:nvSpPr>
          <p:cNvPr id="17" name="Rectangle 16"/>
          <p:cNvSpPr/>
          <p:nvPr/>
        </p:nvSpPr>
        <p:spPr>
          <a:xfrm>
            <a:off x="8138160" y="1234440"/>
            <a:ext cx="3566160" cy="502920"/>
          </a:xfrm>
          <a:prstGeom prst="rect">
            <a:avLst/>
          </a:prstGeom>
          <a:solidFill>
            <a:srgbClr val="2D6A9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29600" y="1261872"/>
            <a:ext cx="3383279" cy="438912"/>
          </a:xfrm>
          <a:prstGeom prst="rect">
            <a:avLst/>
          </a:prstGeom>
          <a:noFill/>
        </p:spPr>
        <p:txBody>
          <a:bodyPr wrap="none">
            <a:spAutoFit/>
          </a:bodyPr>
          <a:lstStyle/>
          <a:p>
            <a:pPr algn="l"/>
            <a:r>
              <a:rPr sz="1700" b="1">
                <a:solidFill>
                  <a:srgbClr val="C09840"/>
                </a:solidFill>
              </a:rPr>
              <a:t>③  ACT</a:t>
            </a:r>
          </a:p>
        </p:txBody>
      </p:sp>
      <p:sp>
        <p:nvSpPr>
          <p:cNvPr id="19" name="Rectangle 18"/>
          <p:cNvSpPr/>
          <p:nvPr/>
        </p:nvSpPr>
        <p:spPr>
          <a:xfrm>
            <a:off x="8138160" y="1737360"/>
            <a:ext cx="3566160" cy="2103120"/>
          </a:xfrm>
          <a:prstGeom prst="rect">
            <a:avLst/>
          </a:prstGeom>
          <a:solidFill>
            <a:srgbClr val="F5F5F5"/>
          </a:solidFill>
          <a:ln w="6350">
            <a:solidFill>
              <a:srgbClr val="CCCC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75320" y="1828800"/>
            <a:ext cx="3291840" cy="4114800"/>
          </a:xfrm>
          <a:prstGeom prst="rect">
            <a:avLst/>
          </a:prstGeom>
          <a:noFill/>
        </p:spPr>
        <p:txBody>
          <a:bodyPr wrap="square">
            <a:spAutoFit/>
          </a:bodyPr>
          <a:lstStyle/>
          <a:p>
            <a:r>
              <a:rPr lang="en-US" sz="1000" b="1" dirty="0">
                <a:solidFill>
                  <a:srgbClr val="0B2A4A"/>
                </a:solidFill>
              </a:rPr>
              <a:t>3-tier segmentation, calibrated</a:t>
            </a:r>
          </a:p>
          <a:p>
            <a:r>
              <a:rPr lang="en-US" sz="950" b="0" dirty="0">
                <a:solidFill>
                  <a:srgbClr val="2C3E50"/>
                </a:solidFill>
              </a:rPr>
              <a:t>Scores applied to all 8,468 eligible new users,
bucketed into Low / Medium / High probability tiers</a:t>
            </a:r>
          </a:p>
          <a:p>
            <a:r>
              <a:rPr lang="en-US" sz="1000" b="1" dirty="0">
                <a:solidFill>
                  <a:srgbClr val="0B2A4A"/>
                </a:solidFill>
              </a:rPr>
              <a:t>High segment: 83.9% actual loyalty</a:t>
            </a:r>
          </a:p>
          <a:p>
            <a:r>
              <a:rPr lang="en-US" sz="950" b="0" dirty="0">
                <a:solidFill>
                  <a:srgbClr val="2C3E50"/>
                </a:solidFill>
              </a:rPr>
              <a:t>4 in 5 users the model was confident about
actually turned out to be loyal — model is not hedging</a:t>
            </a:r>
          </a:p>
          <a:p>
            <a:r>
              <a:rPr lang="en-US" sz="1000" b="1" dirty="0">
                <a:solidFill>
                  <a:srgbClr val="0B2A4A"/>
                </a:solidFill>
              </a:rPr>
              <a:t>Calibration confirmed</a:t>
            </a:r>
          </a:p>
          <a:p>
            <a:r>
              <a:rPr lang="en-US" sz="950" b="0" dirty="0">
                <a:solidFill>
                  <a:srgbClr val="2C3E50"/>
                </a:solidFill>
              </a:rPr>
              <a:t>Average predicted probabilities: Low 0.10, Medium 0.44, High 0.95
Segmentation is actionable, not borderline</a:t>
            </a:r>
          </a:p>
        </p:txBody>
      </p:sp>
      <p:sp>
        <p:nvSpPr>
          <p:cNvPr id="21" name="Rectangle 20"/>
          <p:cNvSpPr/>
          <p:nvPr/>
        </p:nvSpPr>
        <p:spPr>
          <a:xfrm>
            <a:off x="274320" y="1097280"/>
            <a:ext cx="11640312" cy="27432"/>
          </a:xfrm>
          <a:prstGeom prst="rect">
            <a:avLst/>
          </a:prstGeom>
          <a:solidFill>
            <a:srgbClr val="C0984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274320" y="5989320"/>
            <a:ext cx="11640312" cy="640080"/>
          </a:xfrm>
          <a:prstGeom prst="rect">
            <a:avLst/>
          </a:prstGeom>
          <a:solidFill>
            <a:srgbClr val="0B2A4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74320" y="6035040"/>
            <a:ext cx="11640312" cy="548640"/>
          </a:xfrm>
          <a:prstGeom prst="rect">
            <a:avLst/>
          </a:prstGeom>
          <a:noFill/>
        </p:spPr>
        <p:txBody>
          <a:bodyPr wrap="square">
            <a:spAutoFit/>
          </a:bodyPr>
          <a:lstStyle/>
          <a:p>
            <a:pPr algn="ctr"/>
            <a:r>
              <a:rPr sz="1100" b="1">
                <a:solidFill>
                  <a:srgbClr val="FFFFFF"/>
                </a:solidFill>
              </a:rPr>
              <a:t>Rigorous definition.     Month-2 scoring.     Three actionable segments.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1174</TotalTime>
  <Words>3311</Words>
  <Application>Microsoft Office PowerPoint</Application>
  <PresentationFormat>Custom</PresentationFormat>
  <Paragraphs>322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Bargal, Prathmesh</cp:lastModifiedBy>
  <cp:revision>20</cp:revision>
  <dcterms:created xsi:type="dcterms:W3CDTF">2013-01-27T09:14:16Z</dcterms:created>
  <dcterms:modified xsi:type="dcterms:W3CDTF">2026-07-17T03:39:53Z</dcterms:modified>
  <cp:category/>
</cp:coreProperties>
</file>