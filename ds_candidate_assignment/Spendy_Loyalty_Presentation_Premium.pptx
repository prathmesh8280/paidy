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02" autoAdjust="0"/>
    <p:restoredTop sz="94404" autoAdjust="0"/>
  </p:normalViewPr>
  <p:slideViewPr>
    <p:cSldViewPr snapToGrid="0" snapToObjects="1">
      <p:cViewPr varScale="1">
        <p:scale>
          <a:sx n="70" d="100"/>
          <a:sy n="70" d="100"/>
        </p:scale>
        <p:origin x="576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dPt>
            <c:idx val="0"/>
            <c:bubble3D val="0"/>
            <c:spPr>
              <a:solidFill>
                <a:srgbClr val="2D6A9F"/>
              </a:solidFill>
            </c:spPr>
            <c:extLst>
              <c:ext xmlns:c16="http://schemas.microsoft.com/office/drawing/2014/chart" uri="{C3380CC4-5D6E-409C-BE32-E72D297353CC}">
                <c16:uniqueId val="{00000001-AF81-4A14-8F43-882E453867FA}"/>
              </c:ext>
            </c:extLst>
          </c:dPt>
          <c:dPt>
            <c:idx val="1"/>
            <c:bubble3D val="0"/>
            <c:spPr>
              <a:solidFill>
                <a:srgbClr val="5E7080"/>
              </a:solidFill>
            </c:spPr>
            <c:extLst>
              <c:ext xmlns:c16="http://schemas.microsoft.com/office/drawing/2014/chart" uri="{C3380CC4-5D6E-409C-BE32-E72D297353CC}">
                <c16:uniqueId val="{00000003-AF81-4A14-8F43-882E453867FA}"/>
              </c:ext>
            </c:extLst>
          </c:dPt>
          <c:cat>
            <c:strRef>
              <c:f>Sheet1!$A$2:$A$3</c:f>
              <c:strCache>
                <c:ptCount val="2"/>
                <c:pt idx="0">
                  <c:v>New Users (72.8K)</c:v>
                </c:pt>
                <c:pt idx="1">
                  <c:v>Existing Users (64K)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F81-4A14-8F43-882E453867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192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Introduce yourself briefly</a:t>
            </a:r>
          </a:p>
          <a:p>
            <a:r>
              <a:t>Frame the problem: who are Spendy's loyal customers and can we predict them early?</a:t>
            </a:r>
          </a:p>
          <a:p>
            <a:r>
              <a:t>Tell them the talk covers: definition → model → segmentation → business action</a:t>
            </a:r>
          </a:p>
          <a:p>
            <a:r>
              <a:t>Keep it under 30 seconds, move 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Lead with the 75% stat — let it land before moving on</a:t>
            </a:r>
          </a:p>
          <a:p>
            <a:r>
              <a:t>Key point: most users are loyal to a merchant, not to Spendy</a:t>
            </a:r>
          </a:p>
          <a:p>
            <a:r>
              <a:t>If that merchant leaves, the customer disappears — that's the risk</a:t>
            </a:r>
          </a:p>
          <a:p>
            <a:r>
              <a:t>This is why raw purchase counts are a bad loyalty proxy</a:t>
            </a:r>
          </a:p>
          <a:p>
            <a:r>
              <a:t>Prediction at Month 2 is cheaper than re-acquisition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759K transactions, 136.8K users, 711 shops, Jun–Dec 2020</a:t>
            </a:r>
          </a:p>
          <a:p>
            <a:r>
              <a:t>~47% of users joined before the window — tenure measured from June 1 for them</a:t>
            </a:r>
          </a:p>
          <a:p>
            <a:r>
              <a:t>ML model uses only new users to avoid that ambiguity</a:t>
            </a:r>
          </a:p>
          <a:p>
            <a:r>
              <a:t>No missing values — clean dataset, no imputation needed</a:t>
            </a:r>
          </a:p>
          <a:p>
            <a:r>
              <a:t>Keep this brief — data section is credibility, not the main 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Most important slide — spend the most time here</a:t>
            </a:r>
          </a:p>
          <a:p>
            <a:r>
              <a:t>4 hard AND requirements: frequency &gt;= 2/month, spend &gt;= 10K JPY, recency &lt;= 2 months, tenure &gt;= 3 months</a:t>
            </a:r>
          </a:p>
          <a:p>
            <a:r>
              <a:t>5th: platform loyalty = 2+ shops OR 6+ active months (either path qualifies)</a:t>
            </a:r>
          </a:p>
          <a:p>
            <a:r>
              <a:t>Result: 4.6% loyal — 6,273 users out of 136,830</a:t>
            </a:r>
          </a:p>
          <a:p>
            <a:r>
              <a:t>Low rate is intentional — rewards are attached to this label, so false positives cost money</a:t>
            </a:r>
          </a:p>
          <a:p>
            <a:r>
              <a:t>Be ready to defend individual thresholds — each came from the EDA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5 features, all from days 0–60 only — no leakage</a:t>
            </a:r>
          </a:p>
          <a:p>
            <a:r>
              <a:t>60-day window: earliest point where behaviour signals habit vs one-off</a:t>
            </a:r>
          </a:p>
          <a:p>
            <a:r>
              <a:t>Features mirror the loyalty components directly (freq, spend, shops, recency, spend trend)</a:t>
            </a:r>
          </a:p>
          <a:p>
            <a:r>
              <a:t>spend_month_comparison is the only time-aware feature — Month 1 vs Month 2 momentum</a:t>
            </a:r>
          </a:p>
          <a:p>
            <a:r>
              <a:t>If asked about leakage: labels set at Dec 31, features capped at day 60 — strictly separated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Random Forest chosen for 3 reasons: handles imbalance, gives feature importances, robust to skewed spend data</a:t>
            </a:r>
          </a:p>
          <a:p>
            <a:r>
              <a:t>class_weight='balanced' — loyal users are 1 in 31, model needs to take them seriously</a:t>
            </a:r>
          </a:p>
          <a:p>
            <a:r>
              <a:t>Spend (26%) and frequency (30%) drive over half the model — consistent with the definition</a:t>
            </a:r>
          </a:p>
          <a:p>
            <a:r>
              <a:t>If asked about other models: Gradient Boosting is the natural next step — in Future Improvements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Lead with AUC 0.912 — correctly ranks loyal above non-loyal 91.2% of the time</a:t>
            </a:r>
          </a:p>
          <a:p>
            <a:r>
              <a:t>Precision 0.34, Recall 0.45, F1 0.39 — all at the default 0.5 threshold</a:t>
            </a:r>
          </a:p>
          <a:p>
            <a:r>
              <a:t>Recall is low at 0.5 because that threshold is too strict for 3.2% base rate</a:t>
            </a:r>
          </a:p>
          <a:p>
            <a:r>
              <a:t>The segmentation doesn't use 0.5 — it uses probability scores directly, which is why High hits 83.9%</a:t>
            </a:r>
          </a:p>
          <a:p>
            <a:r>
              <a:t>Be upfront about recall — don't hide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3 tiers: Low &lt; 0.33, Medium 0.33–0.66, High &gt; 0.66</a:t>
            </a:r>
          </a:p>
          <a:p>
            <a:r>
              <a:t>Calibration check: avg scores are 0.10 / 0.44 / 0.95 — model is discriminating, not hedging</a:t>
            </a:r>
          </a:p>
          <a:p>
            <a:r>
              <a:t>High: 83.9% actual loyalty — reward and retain</a:t>
            </a:r>
          </a:p>
          <a:p>
            <a:r>
              <a:t>Medium: 6.3% — nudge with spend incentives or merchant discovery</a:t>
            </a:r>
          </a:p>
          <a:p>
            <a:r>
              <a:t>Low: 1.0% — re-engage cheaply or deprioritise and redirect budget</a:t>
            </a:r>
          </a:p>
          <a:p>
            <a:r>
              <a:t>If asked about 0.33/0.66 cutoffs: heuristic, should be set by ROI — mention Future Improvements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This is the 'so what' slide — keep it punchy</a:t>
            </a:r>
          </a:p>
          <a:p>
            <a:r>
              <a:t>6,273 loyal customers named for the first time</a:t>
            </a:r>
          </a:p>
          <a:p>
            <a:r>
              <a:t>Month 2 scoring: flag users before they decide to stay or leave</a:t>
            </a:r>
          </a:p>
          <a:p>
            <a:r>
              <a:t>High segment: 4 in 5 users the model was confident about actually turned out loyal</a:t>
            </a:r>
          </a:p>
          <a:p>
            <a:r>
              <a:t>Each tier has a distinct action — not a one-size-fits-all campaign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Go through quickly — this shows self-awareness, not what you missed</a:t>
            </a:r>
          </a:p>
          <a:p>
            <a:r>
              <a:t>Longer data window, richer signals (categories, promotions, demographics)</a:t>
            </a:r>
          </a:p>
          <a:p>
            <a:r>
              <a:t>Purchase regularity features within the 60-day window</a:t>
            </a:r>
          </a:p>
          <a:p>
            <a:r>
              <a:t>Gradient Boosting with probability calibration as the next model</a:t>
            </a:r>
          </a:p>
          <a:p>
            <a:r>
              <a:t>Segment thresholds should be driven by marketing ROI, not fixed percentiles — purely a business call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Define: 5-gate loyalty rule, 4.6% rate, label has real signal</a:t>
            </a:r>
          </a:p>
          <a:p>
            <a:r>
              <a:t>Predict: AUC 0.912, zero leakage, handles 1-in-31 imbalance</a:t>
            </a:r>
          </a:p>
          <a:p>
            <a:r>
              <a:t>Act: 3 calibrated tiers, distinct playbook per segment</a:t>
            </a:r>
          </a:p>
          <a:p>
            <a:r>
              <a:t>End with: loyalty goes from a vague aspiration to something measurable and actionable</a:t>
            </a:r>
          </a:p>
          <a:p>
            <a:r>
              <a:t>Invite questions — end with confidence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1188720"/>
            <a:ext cx="164592" cy="1252728"/>
          </a:xfrm>
          <a:prstGeom prst="rect">
            <a:avLst/>
          </a:prstGeom>
          <a:solidFill>
            <a:srgbClr val="C09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347472"/>
            <a:ext cx="1645920" cy="384048"/>
          </a:xfrm>
          <a:prstGeom prst="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SPENDY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B2A4A"/>
                </a:solidFill>
                <a:latin typeface="Calibri Light"/>
              </a:rPr>
              <a:t>Customer Loyalty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2E75B6"/>
                </a:solidFill>
                <a:latin typeface="Calibri Light"/>
              </a:rPr>
              <a:t>From Transaction Data to Actionable Marketing Intelligence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8229600" cy="2743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743200"/>
            <a:ext cx="8229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95A5A6"/>
                </a:solidFill>
                <a:latin typeface="Calibri Light"/>
              </a:rPr>
              <a:t>Data Scientist Case Study  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" y="3337560"/>
            <a:ext cx="2103120" cy="2926080"/>
          </a:xfrm>
          <a:prstGeom prst="rect">
            <a:avLst/>
          </a:prstGeom>
          <a:solidFill>
            <a:srgbClr val="F7F9FC"/>
          </a:solidFill>
          <a:ln w="12700">
            <a:solidFill>
              <a:srgbClr val="C8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2356" y="3337560"/>
            <a:ext cx="2103120" cy="50292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2356" y="3392424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C09840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" y="3913632"/>
            <a:ext cx="1883663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2A4A"/>
                </a:solidFill>
              </a:rPr>
              <a:t>BUSINESS</a:t>
            </a:r>
          </a:p>
          <a:p>
            <a:r>
              <a:rPr sz="1200" b="1">
                <a:solidFill>
                  <a:srgbClr val="0B2A4A"/>
                </a:solidFill>
              </a:rPr>
              <a:t>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" y="5029200"/>
            <a:ext cx="188366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C3E50"/>
                </a:solidFill>
              </a:rPr>
              <a:t>759K transactions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2C3E50"/>
                </a:solidFill>
              </a:rPr>
              <a:t>136.8K users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2C3E50"/>
                </a:solidFill>
              </a:rPr>
              <a:t>Jun-Dec 2020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2636" y="3337560"/>
            <a:ext cx="2103120" cy="2926080"/>
          </a:xfrm>
          <a:prstGeom prst="rect">
            <a:avLst/>
          </a:prstGeom>
          <a:solidFill>
            <a:srgbClr val="F7F9FC"/>
          </a:solidFill>
          <a:ln w="12700">
            <a:solidFill>
              <a:srgbClr val="C8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802636" y="3337560"/>
            <a:ext cx="2103120" cy="50292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02636" y="3392424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C09840"/>
                </a:solidFill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2364" y="3913632"/>
            <a:ext cx="1883663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2A4A"/>
                </a:solidFill>
              </a:rPr>
              <a:t>LOYALTY</a:t>
            </a:r>
          </a:p>
          <a:p>
            <a:r>
              <a:rPr sz="1200" b="1">
                <a:solidFill>
                  <a:srgbClr val="0B2A4A"/>
                </a:solidFill>
              </a:rPr>
              <a:t>DEFINITION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12364" y="5029200"/>
            <a:ext cx="188366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dirty="0">
                <a:solidFill>
                  <a:srgbClr val="2C3E50"/>
                </a:solidFill>
              </a:rPr>
              <a:t>4 hard thresholds</a:t>
            </a:r>
          </a:p>
          <a:p>
            <a:pPr>
              <a:spcBef>
                <a:spcPts val="300"/>
              </a:spcBef>
            </a:pPr>
            <a:r>
              <a:rPr sz="950" b="0" dirty="0">
                <a:solidFill>
                  <a:srgbClr val="2C3E50"/>
                </a:solidFill>
              </a:rPr>
              <a:t>AND/OR platform logic</a:t>
            </a:r>
          </a:p>
          <a:p>
            <a:pPr>
              <a:spcBef>
                <a:spcPts val="300"/>
              </a:spcBef>
            </a:pPr>
            <a:r>
              <a:rPr sz="950" b="0" dirty="0">
                <a:solidFill>
                  <a:srgbClr val="2C3E50"/>
                </a:solidFill>
              </a:rPr>
              <a:t>4.6% loyal 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2916" y="3337560"/>
            <a:ext cx="2103120" cy="2926080"/>
          </a:xfrm>
          <a:prstGeom prst="rect">
            <a:avLst/>
          </a:prstGeom>
          <a:solidFill>
            <a:srgbClr val="F7F9FC"/>
          </a:solidFill>
          <a:ln w="12700">
            <a:solidFill>
              <a:srgbClr val="C8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042916" y="3337560"/>
            <a:ext cx="2103120" cy="50292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42916" y="3392424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C09840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2644" y="3913632"/>
            <a:ext cx="1883663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2A4A"/>
                </a:solidFill>
              </a:rPr>
              <a:t>FEATURE</a:t>
            </a:r>
          </a:p>
          <a:p>
            <a:r>
              <a:rPr sz="1200" b="1">
                <a:solidFill>
                  <a:srgbClr val="0B2A4A"/>
                </a:solidFill>
              </a:rPr>
              <a:t>ENGINEERING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2644" y="5029200"/>
            <a:ext cx="1883663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C3E50"/>
                </a:solidFill>
              </a:rPr>
              <a:t>60-day window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2C3E50"/>
                </a:solidFill>
              </a:rPr>
              <a:t>5 behavioral features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2C3E50"/>
                </a:solidFill>
              </a:rPr>
              <a:t>recency + freq + spend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83196" y="3337560"/>
            <a:ext cx="2103120" cy="2926080"/>
          </a:xfrm>
          <a:prstGeom prst="rect">
            <a:avLst/>
          </a:prstGeom>
          <a:solidFill>
            <a:srgbClr val="F7F9FC"/>
          </a:solidFill>
          <a:ln w="12700">
            <a:solidFill>
              <a:srgbClr val="C8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283196" y="3337560"/>
            <a:ext cx="2103120" cy="50292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83196" y="3392424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 dirty="0">
                <a:solidFill>
                  <a:srgbClr val="C09840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92923" y="3913632"/>
            <a:ext cx="1883663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2A4A"/>
                </a:solidFill>
              </a:rPr>
              <a:t>RANDOM FOREST</a:t>
            </a:r>
          </a:p>
          <a:p>
            <a:r>
              <a:rPr sz="1200" b="1">
                <a:solidFill>
                  <a:srgbClr val="0B2A4A"/>
                </a:solidFill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92923" y="5029200"/>
            <a:ext cx="1883663" cy="423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dirty="0">
                <a:solidFill>
                  <a:srgbClr val="2C3E50"/>
                </a:solidFill>
              </a:rPr>
              <a:t>AUC 0.912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2C3E50"/>
                </a:solidFill>
              </a:rPr>
              <a:t>3-tier </a:t>
            </a:r>
            <a:r>
              <a:rPr sz="950" b="0" dirty="0">
                <a:solidFill>
                  <a:srgbClr val="2C3E50"/>
                </a:solidFill>
              </a:rPr>
              <a:t>probability scores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523476" y="3337560"/>
            <a:ext cx="2103120" cy="2926080"/>
          </a:xfrm>
          <a:prstGeom prst="rect">
            <a:avLst/>
          </a:prstGeom>
          <a:solidFill>
            <a:srgbClr val="F7F9FC"/>
          </a:solidFill>
          <a:ln w="12700">
            <a:solidFill>
              <a:srgbClr val="C8D4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523476" y="3337560"/>
            <a:ext cx="2103120" cy="50292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340036" y="3392424"/>
            <a:ext cx="470000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2200" b="1" dirty="0">
                <a:solidFill>
                  <a:srgbClr val="C09840"/>
                </a:solidFill>
              </a:rPr>
              <a:t>05</a:t>
            </a:r>
            <a:endParaRPr sz="2200" b="1" dirty="0">
              <a:solidFill>
                <a:schemeClr val="bg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633203" y="3913632"/>
            <a:ext cx="1883663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 b="1">
                <a:solidFill>
                  <a:srgbClr val="0B2A4A"/>
                </a:solidFill>
              </a:rPr>
              <a:t>SEGMENTATION</a:t>
            </a:r>
          </a:p>
          <a:p>
            <a:r>
              <a:rPr sz="1200" b="1">
                <a:solidFill>
                  <a:srgbClr val="0B2A4A"/>
                </a:solidFill>
              </a:rPr>
              <a:t>&amp; IMPACT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3203" y="5029200"/>
            <a:ext cx="1883663" cy="423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dirty="0">
                <a:solidFill>
                  <a:srgbClr val="2C3E50"/>
                </a:solidFill>
              </a:rPr>
              <a:t>Low / Med / High tiers</a:t>
            </a:r>
          </a:p>
          <a:p>
            <a:pPr>
              <a:spcBef>
                <a:spcPts val="300"/>
              </a:spcBef>
            </a:pPr>
            <a:r>
              <a:rPr sz="950" b="0" dirty="0">
                <a:solidFill>
                  <a:srgbClr val="2C3E50"/>
                </a:solidFill>
              </a:rPr>
              <a:t>83.9% loyalty </a:t>
            </a:r>
            <a:r>
              <a:rPr sz="950" b="0">
                <a:solidFill>
                  <a:srgbClr val="2C3E50"/>
                </a:solidFill>
              </a:rPr>
              <a:t>in High</a:t>
            </a:r>
            <a:endParaRPr sz="950" b="0" dirty="0">
              <a:solidFill>
                <a:srgbClr val="2C3E5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The Business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0" i="0" dirty="0">
                <a:solidFill>
                  <a:srgbClr val="B0C8E4"/>
                </a:solidFill>
                <a:latin typeface="Calibri Light"/>
              </a:rPr>
              <a:t>Defining what loyalty means for a BNPL platform, then predicting it before it is visible</a:t>
            </a:r>
            <a:endParaRPr sz="1300" b="0" i="0" dirty="0">
              <a:solidFill>
                <a:srgbClr val="B0C8E4"/>
              </a:solidFill>
              <a:latin typeface="Calibri Ligh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320" y="1216152"/>
            <a:ext cx="109728" cy="1362456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11521440" cy="150876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21615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B2A4A"/>
                </a:solidFill>
              </a:rPr>
              <a:t>WHAT IS SPENDY?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27048"/>
            <a:ext cx="74980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050">
                <a:solidFill>
                  <a:srgbClr val="2C3E50"/>
                </a:solidFill>
              </a:rPr>
              <a:t>–  Buy Now, Pay Later (BNPL) platform operating across Japan.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2C3E50"/>
                </a:solidFill>
              </a:rPr>
              <a:t>–  Revenue: merchant transaction fees + consumer instalment interest.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2C3E50"/>
                </a:solidFill>
              </a:rPr>
              <a:t>–  Dataset: 759K transactions, 136.8K users, 711 shops  (Jun – Dec 2020).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862072"/>
            <a:ext cx="109728" cy="1453896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2788920"/>
            <a:ext cx="11521440" cy="16002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86207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B2A4A"/>
                </a:solidFill>
              </a:rPr>
              <a:t>THE BRAND LOYALIST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72968"/>
            <a:ext cx="7498079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050">
                <a:solidFill>
                  <a:srgbClr val="2C3E50"/>
                </a:solidFill>
              </a:rPr>
              <a:t>–  75% of users bought from exactly ONE merchant: they are loyal to the shop, not to Spendy.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2C3E50"/>
                </a:solidFill>
              </a:rPr>
              <a:t>–  If that merchant stops accepting Spendy, the customer disappears entirely.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2C3E50"/>
                </a:solidFill>
              </a:rPr>
              <a:t>–  Raw purchase counts reward these single-shop users: a loyalty programme built on that metric wastes budget.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599432"/>
            <a:ext cx="109728" cy="1316736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" y="4526280"/>
            <a:ext cx="11521440" cy="146304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4599432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B2A4A"/>
                </a:solidFill>
              </a:rPr>
              <a:t>WHY PREDICT EARLY?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910328"/>
            <a:ext cx="7498079" cy="628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050" dirty="0">
                <a:solidFill>
                  <a:srgbClr val="2C3E50"/>
                </a:solidFill>
              </a:rPr>
              <a:t>–  At Month 2 a user's habits are still forming: an incentive now is far cheaper than re-acquisition later.</a:t>
            </a:r>
          </a:p>
          <a:p>
            <a:pPr>
              <a:spcBef>
                <a:spcPts val="200"/>
              </a:spcBef>
            </a:pPr>
            <a:r>
              <a:rPr sz="1050" dirty="0">
                <a:solidFill>
                  <a:srgbClr val="2C3E50"/>
                </a:solidFill>
              </a:rPr>
              <a:t>–  Not all new users have the same potential: the model separates high-value targets from the rest.</a:t>
            </a:r>
          </a:p>
          <a:p>
            <a:pPr>
              <a:spcBef>
                <a:spcPts val="200"/>
              </a:spcBef>
            </a:pPr>
            <a:r>
              <a:rPr sz="1050" dirty="0">
                <a:solidFill>
                  <a:srgbClr val="2C3E50"/>
                </a:solidFill>
              </a:rPr>
              <a:t>–  Proactive segmentation at Month 2 → differentiated campaigns → better ROI per </a:t>
            </a:r>
            <a:r>
              <a:rPr sz="1050">
                <a:solidFill>
                  <a:srgbClr val="2C3E50"/>
                </a:solidFill>
              </a:rPr>
              <a:t>marketing </a:t>
            </a:r>
            <a:r>
              <a:rPr lang="en-US" sz="1050">
                <a:solidFill>
                  <a:srgbClr val="2C3E50"/>
                </a:solidFill>
              </a:rPr>
              <a:t>cost</a:t>
            </a:r>
            <a:r>
              <a:rPr sz="1050">
                <a:solidFill>
                  <a:srgbClr val="2C3E50"/>
                </a:solidFill>
              </a:rPr>
              <a:t>.</a:t>
            </a:r>
            <a:endParaRPr sz="1050" dirty="0">
              <a:solidFill>
                <a:srgbClr val="2C3E5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Dataset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4"/>
                </a:solidFill>
                <a:latin typeface="Calibri Light"/>
              </a:rPr>
              <a:t>Exploratory findings that shaped the modelling approach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34440"/>
            <a:ext cx="2194560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9840"/>
                </a:solidFill>
                <a:latin typeface="Calibri"/>
              </a:rPr>
              <a:t>759K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 Light"/>
              </a:rPr>
              <a:t>Transactions
(Jun–Dec 2020)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234440"/>
            <a:ext cx="2194560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97480" y="1325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9840"/>
                </a:solidFill>
                <a:latin typeface="Calibri"/>
              </a:rPr>
              <a:t>136.8K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 Light"/>
              </a:rPr>
              <a:t>Unique Users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234440"/>
            <a:ext cx="2194560" cy="10058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0" y="1325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9840"/>
                </a:solidFill>
                <a:latin typeface="Calibri"/>
              </a:rPr>
              <a:t>711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 Light"/>
              </a:rPr>
              <a:t>Unique Shops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1234440"/>
            <a:ext cx="219456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60920" y="1325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9840"/>
                </a:solidFill>
                <a:latin typeface="Calibri"/>
              </a:rPr>
              <a:t>7 mos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18288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 Light"/>
              </a:rPr>
              <a:t>Observation Window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0" y="1234440"/>
            <a:ext cx="2286000" cy="1005840"/>
          </a:xfrm>
          <a:prstGeom prst="rect">
            <a:avLst/>
          </a:prstGeom>
          <a:solidFill>
            <a:srgbClr val="3D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1325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09840"/>
                </a:solidFill>
                <a:latin typeface="Calibri"/>
              </a:rPr>
              <a:t>Zero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18288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 Light"/>
              </a:rPr>
              <a:t>Missing Values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468880"/>
            <a:ext cx="36576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4320" y="2468880"/>
            <a:ext cx="3657600" cy="54864"/>
          </a:xfrm>
          <a:prstGeom prst="rect">
            <a:avLst/>
          </a:prstGeom>
          <a:solidFill>
            <a:srgbClr val="5E7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25603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2A4A"/>
                </a:solidFill>
                <a:latin typeface="Calibri"/>
              </a:rPr>
              <a:t>SKEWED PURCHASE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2926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A6858"/>
                </a:solidFill>
                <a:latin typeface="Calibri"/>
              </a:rPr>
              <a:t>Median: 2 purchases per user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91840"/>
            <a:ext cx="338328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Calibri"/>
              </a:rPr>
              <a:t>→  Raw purchase count is misleading</a:t>
            </a:r>
          </a:p>
          <a:p>
            <a:pPr algn="l"/>
            <a:r>
              <a:rPr sz="1100" b="0">
                <a:solidFill>
                  <a:srgbClr val="2C3E50"/>
                </a:solidFill>
                <a:latin typeface="Calibri"/>
              </a:rPr>
              <a:t>→  Must normalise by registration tenure</a:t>
            </a:r>
          </a:p>
          <a:p>
            <a:pPr algn="l"/>
            <a:r>
              <a:rPr sz="1100" b="0">
                <a:solidFill>
                  <a:srgbClr val="2C3E50"/>
                </a:solidFill>
                <a:latin typeface="Calibri"/>
              </a:rPr>
              <a:t>→  Frequency rate (purchases/month) is the right metric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2468880"/>
            <a:ext cx="365760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14800" y="2468880"/>
            <a:ext cx="3657600" cy="54864"/>
          </a:xfrm>
          <a:prstGeom prst="rect">
            <a:avLst/>
          </a:prstGeom>
          <a:solidFill>
            <a:srgbClr val="5E7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206240" y="25603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2A4A"/>
                </a:solidFill>
                <a:latin typeface="Calibri"/>
              </a:rPr>
              <a:t>SINGLE-SHOP CONCENTRATION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06240" y="2926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5E7080"/>
                </a:solidFill>
                <a:latin typeface="Calibri"/>
              </a:rPr>
              <a:t>75% shop at ONE merchant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291840"/>
            <a:ext cx="338328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Calibri"/>
              </a:rPr>
              <a:t>→  Merchant loyalty ≠ Platform loyalty</a:t>
            </a:r>
          </a:p>
          <a:p>
            <a:pPr algn="l"/>
            <a:r>
              <a:rPr sz="1100" b="0">
                <a:solidFill>
                  <a:srgbClr val="2C3E50"/>
                </a:solidFill>
                <a:latin typeface="Calibri"/>
              </a:rPr>
              <a:t>→  Requires explicit platform diversification check</a:t>
            </a:r>
          </a:p>
          <a:p>
            <a:pPr algn="l"/>
            <a:r>
              <a:rPr sz="1100" b="0">
                <a:solidFill>
                  <a:srgbClr val="2C3E50"/>
                </a:solidFill>
                <a:latin typeface="Calibri"/>
              </a:rPr>
              <a:t>→  Core motivation for the loyalty definition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2468880"/>
            <a:ext cx="3931920" cy="3657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55279" y="2468880"/>
            <a:ext cx="3931920" cy="54864"/>
          </a:xfrm>
          <a:prstGeom prst="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046720" y="25603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2A4A"/>
                </a:solidFill>
                <a:latin typeface="Calibri"/>
              </a:rPr>
              <a:t>TWO USER POPULATIONS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0" y="2926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D6A9F"/>
                </a:solidFill>
                <a:latin typeface="Calibri"/>
              </a:rPr>
              <a:t>72.8K new  |  64K existing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3291840"/>
            <a:ext cx="36576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Calibri"/>
              </a:rPr>
              <a:t>→  Loyalty definition: uses all users (more data)</a:t>
            </a:r>
          </a:p>
          <a:p>
            <a:pPr algn="l"/>
            <a:r>
              <a:rPr sz="1100" b="0">
                <a:solidFill>
                  <a:srgbClr val="2C3E50"/>
                </a:solidFill>
                <a:latin typeface="Calibri"/>
              </a:rPr>
              <a:t>→  ML model: uses only new users (clean join dates, no tenure ambiguity)</a:t>
            </a:r>
          </a:p>
        </p:txBody>
      </p:sp>
      <p:pic>
        <p:nvPicPr>
          <p:cNvPr id="39" name="Picture 38" descr="eda_frequency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3962253"/>
            <a:ext cx="3401568" cy="2093977"/>
          </a:xfrm>
          <a:prstGeom prst="rect">
            <a:avLst/>
          </a:prstGeom>
        </p:spPr>
      </p:pic>
      <p:pic>
        <p:nvPicPr>
          <p:cNvPr id="40" name="Picture 39" descr="loyalty_merchant_vs_platform_p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977639"/>
            <a:ext cx="3401568" cy="2023727"/>
          </a:xfrm>
          <a:prstGeom prst="rect">
            <a:avLst/>
          </a:prstGeom>
        </p:spPr>
      </p:pic>
      <p:graphicFrame>
        <p:nvGraphicFramePr>
          <p:cNvPr id="41" name="Chart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0344339"/>
              </p:ext>
            </p:extLst>
          </p:nvPr>
        </p:nvGraphicFramePr>
        <p:xfrm>
          <a:off x="8275318" y="3951658"/>
          <a:ext cx="3291841" cy="21151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Defining Customer Loyalty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4"/>
                </a:solidFill>
                <a:latin typeface="Calibri Light"/>
              </a:rPr>
              <a:t>Five components, grounded in data and business logic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24711"/>
            <a:ext cx="512064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274320" y="1124711"/>
            <a:ext cx="5120640" cy="384048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152143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FOUR HARD REQUIREMENTS  (ALL must be met)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1143000"/>
            <a:ext cx="562356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263640" y="1143000"/>
            <a:ext cx="5623560" cy="384048"/>
          </a:xfrm>
          <a:prstGeom prst="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1170432"/>
            <a:ext cx="5394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PLATFORM LOYALTY CHECK  (at least ONE path)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1627632"/>
            <a:ext cx="5349240" cy="1828800"/>
          </a:xfrm>
          <a:prstGeom prst="rect">
            <a:avLst/>
          </a:prstGeom>
          <a:solidFill>
            <a:srgbClr val="DF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46520" y="16733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2A4A"/>
                </a:solidFill>
                <a:latin typeface="Calibri"/>
              </a:rPr>
              <a:t>PATH A: MERCHANT BREADTH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192024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6A9F"/>
                </a:solidFill>
                <a:latin typeface="Calibri"/>
              </a:rPr>
              <a:t>≥ 2 Unique Shops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22860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  <a:latin typeface="Calibri"/>
              </a:rPr>
              <a:t>25.2% of users qualify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2487168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 Light"/>
              </a:rPr>
              <a:t>Signal: actively choosing Spendy in a new merchant context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0" y="3520440"/>
            <a:ext cx="640080" cy="320040"/>
          </a:xfrm>
          <a:prstGeom prst="rect">
            <a:avLst/>
          </a:prstGeom>
          <a:solidFill>
            <a:srgbClr val="5E7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</a:rPr>
              <a:t>OR</a:t>
            </a:r>
            <a:endParaRPr dirty="0"/>
          </a:p>
        </p:txBody>
      </p:sp>
      <p:sp>
        <p:nvSpPr>
          <p:cNvPr id="47" name="Rectangle 46"/>
          <p:cNvSpPr/>
          <p:nvPr/>
        </p:nvSpPr>
        <p:spPr>
          <a:xfrm>
            <a:off x="6355080" y="3886200"/>
            <a:ext cx="5349240" cy="1920240"/>
          </a:xfrm>
          <a:prstGeom prst="rect">
            <a:avLst/>
          </a:prstGeom>
          <a:solidFill>
            <a:srgbClr val="DF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46520" y="3931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2A4A"/>
                </a:solidFill>
                <a:latin typeface="Calibri"/>
              </a:rPr>
              <a:t>PATH B: SUSTAINED ENGAGEMENT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17880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2D6A9F"/>
                </a:solidFill>
                <a:latin typeface="Calibri"/>
              </a:rPr>
              <a:t>≥ 6 Active Months (of 7)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45445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E75B6"/>
                </a:solidFill>
                <a:latin typeface="Calibri"/>
              </a:rPr>
              <a:t>8.0% of users qualify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47548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 Light"/>
              </a:rPr>
              <a:t>Near-perfect monthly attendance &gt; 2-shop breadth with low activity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6400800"/>
            <a:ext cx="11640312" cy="256032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65760" y="6419088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09840"/>
                </a:solidFill>
                <a:latin typeface="Calibri"/>
              </a:rPr>
              <a:t>4.6% of users qualify as Loyal  (6,273 users)  |  Conservative by design: real rewards have real costs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4048" y="1536190"/>
            <a:ext cx="4901183" cy="1051560"/>
          </a:xfrm>
          <a:prstGeom prst="rect">
            <a:avLst/>
          </a:prstGeom>
          <a:solidFill>
            <a:srgbClr val="F2F5F8"/>
          </a:solidFill>
          <a:ln w="6350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384048" y="1536190"/>
            <a:ext cx="54864" cy="1051560"/>
          </a:xfrm>
          <a:prstGeom prst="rect">
            <a:avLst/>
          </a:prstGeom>
          <a:solidFill>
            <a:srgbClr val="2E75B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12064" y="1600198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B2A4A"/>
                </a:solidFill>
              </a:rPr>
              <a:t>① PURCHASE FREQUENCY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064" y="190195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E75B6"/>
                </a:solidFill>
              </a:rPr>
              <a:t>≥ 2 purchases / month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31920" y="1618486"/>
            <a:ext cx="1188720" cy="245364"/>
          </a:xfrm>
          <a:prstGeom prst="rect">
            <a:avLst/>
          </a:prstGeom>
          <a:solidFill>
            <a:srgbClr val="2E75B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931920" y="1627630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18.4% qualify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2064" y="2258566"/>
            <a:ext cx="34381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E7080"/>
                </a:solidFill>
              </a:rPr>
              <a:t>Natural elbow at 2.0: marks habit vs occasional use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2770630"/>
            <a:ext cx="4901183" cy="1051560"/>
          </a:xfrm>
          <a:prstGeom prst="rect">
            <a:avLst/>
          </a:prstGeom>
          <a:solidFill>
            <a:srgbClr val="F2F5F8"/>
          </a:solidFill>
          <a:ln w="6350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384048" y="2770630"/>
            <a:ext cx="54864" cy="1051560"/>
          </a:xfrm>
          <a:prstGeom prst="rect">
            <a:avLst/>
          </a:prstGeom>
          <a:solidFill>
            <a:srgbClr val="2D6A9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12064" y="2834638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B2A4A"/>
                </a:solidFill>
              </a:rPr>
              <a:t>② MONTHLY SPEND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2064" y="313639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D6A9F"/>
                </a:solidFill>
              </a:rPr>
              <a:t>≥ ¥10,000 / month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931920" y="2852926"/>
            <a:ext cx="1188720" cy="245364"/>
          </a:xfrm>
          <a:prstGeom prst="rect">
            <a:avLst/>
          </a:prstGeom>
          <a:solidFill>
            <a:srgbClr val="2D6A9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931920" y="2862070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16.3% qualify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2064" y="3493006"/>
            <a:ext cx="34381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E7080"/>
                </a:solidFill>
              </a:rPr>
              <a:t>Above mean (¥6K): captures top spending tier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4048" y="4005069"/>
            <a:ext cx="4901183" cy="1051560"/>
          </a:xfrm>
          <a:prstGeom prst="rect">
            <a:avLst/>
          </a:prstGeom>
          <a:solidFill>
            <a:srgbClr val="F2F5F8"/>
          </a:solidFill>
          <a:ln w="6350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384048" y="4005069"/>
            <a:ext cx="54864" cy="1051560"/>
          </a:xfrm>
          <a:prstGeom prst="rect">
            <a:avLst/>
          </a:prstGeom>
          <a:solidFill>
            <a:srgbClr val="5E708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12064" y="4069078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B2A4A"/>
                </a:solidFill>
              </a:rPr>
              <a:t>③ RECENCY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" y="437083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E7080"/>
                </a:solidFill>
              </a:rPr>
              <a:t>Last purchase within 2 months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31920" y="4087365"/>
            <a:ext cx="1188720" cy="245364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138998" y="4096509"/>
            <a:ext cx="774572" cy="2231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850" b="1" dirty="0">
                <a:solidFill>
                  <a:srgbClr val="FFFFFF"/>
                </a:solidFill>
              </a:rPr>
              <a:t>Business rule</a:t>
            </a:r>
            <a:endParaRPr sz="850" b="1" dirty="0">
              <a:solidFill>
                <a:srgbClr val="FFFFFF"/>
              </a:solidFill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12064" y="4727446"/>
            <a:ext cx="34381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E7080"/>
                </a:solidFill>
              </a:rPr>
              <a:t>Keeps the label current: rewards active users only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4048" y="5239509"/>
            <a:ext cx="4901183" cy="1051560"/>
          </a:xfrm>
          <a:prstGeom prst="rect">
            <a:avLst/>
          </a:prstGeom>
          <a:solidFill>
            <a:srgbClr val="F2F5F8"/>
          </a:solidFill>
          <a:ln w="6350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384048" y="5239509"/>
            <a:ext cx="54864" cy="105156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12064" y="5303518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B2A4A"/>
                </a:solidFill>
              </a:rPr>
              <a:t>④ REGISTRATION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" y="560527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B2A4A"/>
                </a:solidFill>
              </a:rPr>
              <a:t>≥ 3 months on platform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931920" y="5321805"/>
            <a:ext cx="1188720" cy="245364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931920" y="5330949"/>
            <a:ext cx="11887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</a:rPr>
              <a:t>Business rule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2064" y="5961885"/>
            <a:ext cx="343814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E7080"/>
                </a:solidFill>
              </a:rPr>
              <a:t>Guards against seasonal spikes (Dec joiners: 1 month only)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394959" y="3758182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dirty="0">
                <a:solidFill>
                  <a:srgbClr val="5E7080"/>
                </a:solidFill>
              </a:rPr>
              <a:t>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4"/>
                </a:solidFill>
                <a:latin typeface="Calibri Light"/>
              </a:rPr>
              <a:t>Every feature is a proxy for a loyalty component; no feature without a reason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431123"/>
            <a:ext cx="2103120" cy="347472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" y="1485987"/>
            <a:ext cx="1956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23160" y="1431123"/>
            <a:ext cx="2377440" cy="347472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96312" y="1485987"/>
            <a:ext cx="22311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Maps to Loyalty Component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1431123"/>
            <a:ext cx="6858000" cy="347472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19472" y="1485987"/>
            <a:ext cx="6711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Why It Predicts Loyalty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778595"/>
            <a:ext cx="2103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7472" y="1842603"/>
            <a:ext cx="195681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9F"/>
                </a:solidFill>
                <a:latin typeface="Calibri"/>
              </a:rPr>
              <a:t>freq_rate_2m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23160" y="1778595"/>
            <a:ext cx="23774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496312" y="1842603"/>
            <a:ext cx="223113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9F"/>
                </a:solidFill>
                <a:latin typeface="Calibri"/>
              </a:rPr>
              <a:t>Purchase Frequency
(≥ 2/month)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1778595"/>
            <a:ext cx="6858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19472" y="1842603"/>
            <a:ext cx="67116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dirty="0">
                <a:solidFill>
                  <a:srgbClr val="2C3E50"/>
                </a:solidFill>
              </a:rPr>
              <a:t>Users above the 2/month threshold in their first 60 days are demonstrating a habit, not an experiment: early frequency is the strongest predictor of sustained frequency.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583267"/>
            <a:ext cx="2103120" cy="804672"/>
          </a:xfrm>
          <a:prstGeom prst="rect">
            <a:avLst/>
          </a:prstGeom>
          <a:solidFill>
            <a:srgbClr val="F2F5F8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7472" y="2647275"/>
            <a:ext cx="195681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9F"/>
                </a:solidFill>
                <a:latin typeface="Calibri"/>
              </a:rPr>
              <a:t>spend_rate_2m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23160" y="2583267"/>
            <a:ext cx="2377440" cy="804672"/>
          </a:xfrm>
          <a:prstGeom prst="rect">
            <a:avLst/>
          </a:prstGeom>
          <a:solidFill>
            <a:srgbClr val="F2F5F8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96312" y="2647275"/>
            <a:ext cx="223113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9F"/>
                </a:solidFill>
                <a:latin typeface="Calibri"/>
              </a:rPr>
              <a:t>Monthly Spend
(≥ ¥10K/month)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2583267"/>
            <a:ext cx="6858000" cy="804672"/>
          </a:xfrm>
          <a:prstGeom prst="rect">
            <a:avLst/>
          </a:prstGeom>
          <a:solidFill>
            <a:srgbClr val="F2F5F8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19472" y="2647275"/>
            <a:ext cx="67116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dirty="0">
                <a:solidFill>
                  <a:srgbClr val="2C3E50"/>
                </a:solidFill>
              </a:rPr>
              <a:t>Reaching ¥10K/month spend within 60 days signals the user is already committing financially: they are not testing, they are buying.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387939"/>
            <a:ext cx="2103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47472" y="3451947"/>
            <a:ext cx="195681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9F"/>
                </a:solidFill>
                <a:latin typeface="Calibri"/>
              </a:rPr>
              <a:t>unique_shops_2m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23160" y="3387939"/>
            <a:ext cx="23774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496312" y="3451947"/>
            <a:ext cx="223113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9F"/>
                </a:solidFill>
                <a:latin typeface="Calibri"/>
              </a:rPr>
              <a:t>Merchant Breadth
(Platform loyalty Path A)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3387939"/>
            <a:ext cx="6858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19472" y="3451947"/>
            <a:ext cx="67116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dirty="0">
                <a:solidFill>
                  <a:srgbClr val="2C3E50"/>
                </a:solidFill>
              </a:rPr>
              <a:t>Visiting a second merchant in 60 days means the user actively chose Spendy in a new context: early breadth is the clearest signal of platform loyalty vs merchant loyalty.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4192611"/>
            <a:ext cx="2103120" cy="804672"/>
          </a:xfrm>
          <a:prstGeom prst="rect">
            <a:avLst/>
          </a:prstGeom>
          <a:solidFill>
            <a:srgbClr val="F2F5F8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7472" y="4256619"/>
            <a:ext cx="195681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 err="1">
                <a:solidFill>
                  <a:srgbClr val="2D6A9F"/>
                </a:solidFill>
                <a:latin typeface="Calibri"/>
              </a:rPr>
              <a:t>days_since_last_purchase</a:t>
            </a:r>
            <a:r>
              <a:rPr sz="1100" b="1" i="0" dirty="0">
                <a:solidFill>
                  <a:srgbClr val="2D6A9F"/>
                </a:solidFill>
                <a:latin typeface="Calibri"/>
              </a:rPr>
              <a:t>
_</a:t>
            </a:r>
            <a:r>
              <a:rPr sz="1100" b="1" i="0" dirty="0" err="1">
                <a:solidFill>
                  <a:srgbClr val="2D6A9F"/>
                </a:solidFill>
                <a:latin typeface="Calibri"/>
              </a:rPr>
              <a:t>in_window</a:t>
            </a:r>
            <a:endParaRPr sz="1100" b="1" i="0" dirty="0">
              <a:solidFill>
                <a:srgbClr val="2D6A9F"/>
              </a:solidFill>
              <a:latin typeface="Calibri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2423160" y="4192611"/>
            <a:ext cx="2377440" cy="804672"/>
          </a:xfrm>
          <a:prstGeom prst="rect">
            <a:avLst/>
          </a:prstGeom>
          <a:solidFill>
            <a:srgbClr val="F2F5F8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496312" y="4256619"/>
            <a:ext cx="223113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9F"/>
                </a:solidFill>
                <a:latin typeface="Calibri"/>
              </a:rPr>
              <a:t>Recency
(within 2 months)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4192611"/>
            <a:ext cx="6858000" cy="804672"/>
          </a:xfrm>
          <a:prstGeom prst="rect">
            <a:avLst/>
          </a:prstGeom>
          <a:solidFill>
            <a:srgbClr val="F2F5F8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919472" y="4256619"/>
            <a:ext cx="67116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dirty="0">
                <a:solidFill>
                  <a:srgbClr val="2C3E50"/>
                </a:solidFill>
              </a:rPr>
              <a:t>A user who has gone quiet before day 60 is unlikely to sustain loyalty: recency flags early drop-off before it becomes churn.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997283"/>
            <a:ext cx="210312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47472" y="5061291"/>
            <a:ext cx="195681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9F"/>
                </a:solidFill>
                <a:latin typeface="Calibri"/>
              </a:rPr>
              <a:t>spend_month_comparison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23160" y="4997283"/>
            <a:ext cx="23774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496312" y="5061291"/>
            <a:ext cx="223113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6A9F"/>
                </a:solidFill>
                <a:latin typeface="Calibri"/>
              </a:rPr>
              <a:t>Spend Trend
(Month 1 → Month 2)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46320" y="4997283"/>
            <a:ext cx="685800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919472" y="5061291"/>
            <a:ext cx="6711696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dirty="0">
                <a:solidFill>
                  <a:srgbClr val="2C3E50"/>
                </a:solidFill>
              </a:rPr>
              <a:t>Growing spend from Month 1 to Month 2 shows momentum: a user approaching the ¥10K threshold is on a trajectory consistent with loyalty.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7972" y="5998464"/>
            <a:ext cx="11430000" cy="310896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5132" y="603504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C3E50"/>
                </a:solidFill>
                <a:latin typeface="Calibri"/>
              </a:rPr>
              <a:t>DATA LEAKAGE GUARD:  Features: days 0-60  |  Labels: Dec 31  |  Windows strictly separated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Model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0" i="0" dirty="0">
                <a:solidFill>
                  <a:srgbClr val="B0C8E4"/>
                </a:solidFill>
                <a:latin typeface="Calibri Light"/>
              </a:rPr>
              <a:t>Why Random Forest: a model-fit argument, not a default</a:t>
            </a:r>
            <a:endParaRPr sz="1300" b="0" i="0" dirty="0">
              <a:solidFill>
                <a:srgbClr val="B0C8E4"/>
              </a:solidFill>
              <a:latin typeface="Calibri Ligh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5623560" cy="1325880"/>
          </a:xfrm>
          <a:prstGeom prst="rect">
            <a:avLst/>
          </a:prstGeom>
          <a:solidFill>
            <a:srgbClr val="F2F5F8"/>
          </a:solidFill>
          <a:ln w="9525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1170432"/>
            <a:ext cx="64008" cy="132588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02336" y="1280160"/>
            <a:ext cx="329184" cy="329184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2336" y="1289304"/>
            <a:ext cx="329184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1271016"/>
            <a:ext cx="496519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B2A4A"/>
                </a:solidFill>
              </a:rPr>
              <a:t>Non-linear thresholds by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1664208"/>
            <a:ext cx="49651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C3E50"/>
                </a:solidFill>
              </a:rPr>
              <a:t>Loyalty uses hard gates (≥2/mo, ≥¥10K). RF decision splits mirror this structure naturally: logistic regression cannot replicate hard boundaries.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660904"/>
            <a:ext cx="5623560" cy="1325880"/>
          </a:xfrm>
          <a:prstGeom prst="rect">
            <a:avLst/>
          </a:prstGeom>
          <a:solidFill>
            <a:srgbClr val="F2F5F8"/>
          </a:solidFill>
          <a:ln w="9525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74320" y="2660904"/>
            <a:ext cx="64008" cy="1325880"/>
          </a:xfrm>
          <a:prstGeom prst="rect">
            <a:avLst/>
          </a:prstGeom>
          <a:solidFill>
            <a:srgbClr val="2D6A9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02336" y="2770632"/>
            <a:ext cx="329184" cy="329184"/>
          </a:xfrm>
          <a:prstGeom prst="rect">
            <a:avLst/>
          </a:prstGeom>
          <a:solidFill>
            <a:srgbClr val="2D6A9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2336" y="2779776"/>
            <a:ext cx="329184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2761488"/>
            <a:ext cx="496519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B2A4A"/>
                </a:solidFill>
              </a:rPr>
              <a:t>Feature interactions captured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154680"/>
            <a:ext cx="49651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C3E50"/>
                </a:solidFill>
              </a:rPr>
              <a:t>High frequency AND high spend differs from either alone. RF captures these joint conditions in every tree split without explicit feature engineering.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151376"/>
            <a:ext cx="5623560" cy="1325880"/>
          </a:xfrm>
          <a:prstGeom prst="rect">
            <a:avLst/>
          </a:prstGeom>
          <a:solidFill>
            <a:srgbClr val="F2F5F8"/>
          </a:solidFill>
          <a:ln w="9525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74320" y="4151376"/>
            <a:ext cx="64008" cy="1325880"/>
          </a:xfrm>
          <a:prstGeom prst="rect">
            <a:avLst/>
          </a:prstGeom>
          <a:solidFill>
            <a:srgbClr val="2E75B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02336" y="4261104"/>
            <a:ext cx="329184" cy="329184"/>
          </a:xfrm>
          <a:prstGeom prst="rect">
            <a:avLst/>
          </a:prstGeom>
          <a:solidFill>
            <a:srgbClr val="2E75B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2336" y="4270248"/>
            <a:ext cx="329184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4251960"/>
            <a:ext cx="496519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B2A4A"/>
                </a:solidFill>
              </a:rPr>
              <a:t>Scale &amp; correlation robustness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645152"/>
            <a:ext cx="49651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C3E50"/>
                </a:solidFill>
              </a:rPr>
              <a:t>Mixed units and correlated features (freq vs spend) need no normalisation. RF is invariant to monotone transformations and handles multicollinearity.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1170432"/>
            <a:ext cx="5788152" cy="1325880"/>
          </a:xfrm>
          <a:prstGeom prst="rect">
            <a:avLst/>
          </a:prstGeom>
          <a:solidFill>
            <a:srgbClr val="F2F5F8"/>
          </a:solidFill>
          <a:ln w="9525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26480" y="1170432"/>
            <a:ext cx="64008" cy="1325880"/>
          </a:xfrm>
          <a:prstGeom prst="rect">
            <a:avLst/>
          </a:prstGeom>
          <a:solidFill>
            <a:srgbClr val="5E708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54496" y="1280160"/>
            <a:ext cx="329184" cy="329184"/>
          </a:xfrm>
          <a:prstGeom prst="rect">
            <a:avLst/>
          </a:prstGeom>
          <a:solidFill>
            <a:srgbClr val="5E708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54496" y="1289304"/>
            <a:ext cx="329184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1271016"/>
            <a:ext cx="512978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B2A4A"/>
                </a:solidFill>
              </a:rPr>
              <a:t>Probability output for segmentation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1664208"/>
            <a:ext cx="512978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C3E50"/>
                </a:solidFill>
              </a:rPr>
              <a:t>predict_proba() delivers a continuous loyalty score per user: not a binary label. This is the mathematical foundation for Low / Medium / High tiering.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2660904"/>
            <a:ext cx="5788152" cy="1325880"/>
          </a:xfrm>
          <a:prstGeom prst="rect">
            <a:avLst/>
          </a:prstGeom>
          <a:solidFill>
            <a:srgbClr val="F2F5F8"/>
          </a:solidFill>
          <a:ln w="9525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26480" y="2660904"/>
            <a:ext cx="64008" cy="1325880"/>
          </a:xfrm>
          <a:prstGeom prst="rect">
            <a:avLst/>
          </a:prstGeom>
          <a:solidFill>
            <a:srgbClr val="C0984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54496" y="2770632"/>
            <a:ext cx="329184" cy="329184"/>
          </a:xfrm>
          <a:prstGeom prst="rect">
            <a:avLst/>
          </a:prstGeom>
          <a:solidFill>
            <a:srgbClr val="C0984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54496" y="2779776"/>
            <a:ext cx="329184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2761488"/>
            <a:ext cx="5129784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0B2A4A"/>
                </a:solidFill>
              </a:rPr>
              <a:t>Built-in feature explainability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154680"/>
            <a:ext cx="512978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000" b="0" dirty="0">
                <a:solidFill>
                  <a:srgbClr val="2C3E50"/>
                </a:solidFill>
              </a:rPr>
              <a:t>Frequency (30%) and spend (26%) drive over half the model’s predictions, confirming the model learned the same logic as the loyalty definition.</a:t>
            </a:r>
          </a:p>
          <a:p>
            <a:pPr algn="l"/>
            <a:r>
              <a:rPr lang="en-US" sz="1000" b="0" dirty="0">
                <a:solidFill>
                  <a:srgbClr val="2C3E50"/>
                </a:solidFill>
              </a:rPr>
              <a:t>Recency (24%) and spend trend (19%) add momentum signal.</a:t>
            </a:r>
          </a:p>
          <a:p>
            <a:pPr algn="l"/>
            <a:r>
              <a:rPr lang="en-US" sz="1000" b="0" dirty="0">
                <a:solidFill>
                  <a:srgbClr val="2C3E50"/>
                </a:solidFill>
              </a:rPr>
              <a:t>Shop variety at 2% is near-irrelevant: loyal users go deep at one merchant, not wide across many.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4151376"/>
            <a:ext cx="5788152" cy="1325880"/>
          </a:xfrm>
          <a:prstGeom prst="rect">
            <a:avLst/>
          </a:prstGeom>
          <a:solidFill>
            <a:srgbClr val="EBF2F8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126480" y="4151376"/>
            <a:ext cx="64008" cy="1325880"/>
          </a:xfrm>
          <a:prstGeom prst="rect">
            <a:avLst/>
          </a:prstGeom>
          <a:solidFill>
            <a:srgbClr val="2E75B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54496" y="4251960"/>
            <a:ext cx="556869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000" b="1" dirty="0">
                <a:solidFill>
                  <a:srgbClr val="0B2A4A"/>
                </a:solidFill>
              </a:rPr>
              <a:t>HANDLING THE IMBALANCED DATA CHALLENGE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4496" y="4572000"/>
            <a:ext cx="556869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50" b="0" dirty="0">
                <a:solidFill>
                  <a:srgbClr val="2C3E50"/>
                </a:solidFill>
              </a:rPr>
              <a:t>In our training data, only 1 in 31 users is genuinely loyal. Left unchecked, the model would learn the easy answer: label everyone ‘not loyal’: and score 96.8% accuracy while being completely useless. To fix this, we tell the model during training that each loyal user counts as much as 31 non-loyal users. The model must then work hard to understand what loyalty actually looks like, not just take the lazy majority shortcut.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Model Performance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1344168"/>
            <a:ext cx="7738633" cy="2615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023360" y="1389888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2A4A"/>
                </a:solidFill>
                <a:latin typeface="Calibri"/>
              </a:rPr>
              <a:t>CONFUSION MATRIX (Test Set, 6,884 users)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1709928"/>
            <a:ext cx="2468880" cy="621792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069079" y="1819656"/>
            <a:ext cx="2377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92240" y="1709928"/>
            <a:ext cx="2468880" cy="621792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1819656"/>
            <a:ext cx="2377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Predicted: NOT LOYAL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1709928"/>
            <a:ext cx="2468880" cy="621792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06840" y="1819656"/>
            <a:ext cx="2377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Predicted: LOYAL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2331720"/>
            <a:ext cx="2468880" cy="621792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069079" y="2441448"/>
            <a:ext cx="2377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Actual: NOT LOYAL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2331720"/>
            <a:ext cx="2468880" cy="621792"/>
          </a:xfrm>
          <a:prstGeom prst="rect">
            <a:avLst/>
          </a:prstGeom>
          <a:solidFill>
            <a:srgbClr val="3D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37960" y="24048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6,396  ✔  True Neg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0" y="2331720"/>
            <a:ext cx="2468880" cy="621792"/>
          </a:xfrm>
          <a:prstGeom prst="rect">
            <a:avLst/>
          </a:prstGeom>
          <a:solidFill>
            <a:srgbClr val="5E7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006840" y="240487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234  ✘  False Pos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2953512"/>
            <a:ext cx="2468880" cy="621792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069079" y="3063240"/>
            <a:ext cx="2377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Actual: LOYAL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2953512"/>
            <a:ext cx="2468880" cy="621792"/>
          </a:xfrm>
          <a:prstGeom prst="rect">
            <a:avLst/>
          </a:prstGeom>
          <a:solidFill>
            <a:srgbClr val="5E7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30266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122  ✘  False Neg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61120" y="2953512"/>
            <a:ext cx="2468880" cy="621792"/>
          </a:xfrm>
          <a:prstGeom prst="rect">
            <a:avLst/>
          </a:prstGeom>
          <a:solidFill>
            <a:srgbClr val="3D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006840" y="3026664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132  ✔  True Pos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4617720"/>
            <a:ext cx="11612880" cy="1965960"/>
          </a:xfrm>
          <a:prstGeom prst="rect">
            <a:avLst/>
          </a:prstGeom>
          <a:solidFill>
            <a:srgbClr val="EBF2F8"/>
          </a:solidFill>
          <a:ln w="25400">
            <a:solidFill>
              <a:srgbClr val="C09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dirty="0">
                <a:solidFill>
                  <a:srgbClr val="0B2A4A"/>
                </a:solidFill>
              </a:rPr>
              <a:t>AUC 0.912: the model correctly ranks a loyal user above a non-loyal one 91.2% of the time - this is what makes the segmentation trustworthy.</a:t>
            </a:r>
          </a:p>
          <a:p>
            <a:endParaRPr lang="en-US" sz="1000" b="0" dirty="0">
              <a:solidFill>
                <a:srgbClr val="0B2A4A"/>
              </a:solidFill>
            </a:endParaRPr>
          </a:p>
          <a:p>
            <a:r>
              <a:rPr lang="en-US" sz="1000" b="1" dirty="0">
                <a:solidFill>
                  <a:srgbClr val="0B2A4A"/>
                </a:solidFill>
              </a:rPr>
              <a:t>KEY METRICS - loyal class:   Precision 0.34  |  Recall 0.45  |  F1 0.39</a:t>
            </a:r>
          </a:p>
          <a:p>
            <a:r>
              <a:rPr lang="en-US" sz="1000" b="0" dirty="0">
                <a:solidFill>
                  <a:srgbClr val="2C3E50"/>
                </a:solidFill>
              </a:rPr>
              <a:t>Not Loyal class:   Precision 0.98  |  Recall 0.96  |  F1 0.97</a:t>
            </a:r>
          </a:p>
          <a:p>
            <a:endParaRPr lang="en-US" sz="1000" b="0" dirty="0">
              <a:solidFill>
                <a:srgbClr val="2C3E50"/>
              </a:solidFill>
            </a:endParaRPr>
          </a:p>
          <a:p>
            <a:r>
              <a:rPr lang="en-US" sz="1000" b="0" dirty="0">
                <a:solidFill>
                  <a:srgbClr val="2C3E50"/>
                </a:solidFill>
              </a:rPr>
              <a:t>Recall 0.45: model catches 45% of loyal users at the default 0.5 threshold - the primary improvement priority. Lower the threshold or switch to Gradient Boosting to improve recall. The High segment (score &gt; 0.66) achieves 83.9% observed loyalty, confirming the model confidence predictions are highly accurate.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4E1499-E1A0-E54E-20D5-0BD18DEF0630}"/>
              </a:ext>
            </a:extLst>
          </p:cNvPr>
          <p:cNvGrpSpPr/>
          <p:nvPr/>
        </p:nvGrpSpPr>
        <p:grpSpPr>
          <a:xfrm>
            <a:off x="609712" y="1170096"/>
            <a:ext cx="2545858" cy="3127584"/>
            <a:chOff x="274320" y="1143000"/>
            <a:chExt cx="2788920" cy="3383280"/>
          </a:xfrm>
        </p:grpSpPr>
        <p:sp>
          <p:nvSpPr>
            <p:cNvPr id="9" name="Rectangle 8"/>
            <p:cNvSpPr/>
            <p:nvPr/>
          </p:nvSpPr>
          <p:spPr>
            <a:xfrm>
              <a:off x="274320" y="1143000"/>
              <a:ext cx="2788920" cy="3383280"/>
            </a:xfrm>
            <a:prstGeom prst="rect">
              <a:avLst/>
            </a:prstGeom>
            <a:solidFill>
              <a:srgbClr val="0B2A4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1480" y="1234440"/>
              <a:ext cx="252745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1" i="0">
                  <a:solidFill>
                    <a:srgbClr val="FFFFFF"/>
                  </a:solidFill>
                  <a:latin typeface="Calibri"/>
                </a:rPr>
                <a:t>ROC-AUC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11480" y="1572768"/>
              <a:ext cx="2527459" cy="8925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5200" b="1" i="0" dirty="0">
                  <a:solidFill>
                    <a:srgbClr val="C09840"/>
                  </a:solidFill>
                  <a:latin typeface="Calibri"/>
                </a:rPr>
                <a:t>0.912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11480" y="2304288"/>
              <a:ext cx="2527459" cy="5078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0" i="0" dirty="0">
                  <a:solidFill>
                    <a:srgbClr val="B0C8E4"/>
                  </a:solidFill>
                  <a:latin typeface="Calibri Light"/>
                </a:rPr>
                <a:t>The model correctly ranks
a loyal user above a non-loyal
one 91.2% of the time</a:t>
              </a:r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457200" y="2990087"/>
              <a:ext cx="2353151" cy="45719"/>
            </a:xfrm>
            <a:prstGeom prst="rect">
              <a:avLst/>
            </a:prstGeom>
            <a:solidFill>
              <a:srgbClr val="FFFFFF"/>
            </a:solidFill>
            <a:ln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457200" y="3063240"/>
              <a:ext cx="2353151" cy="2077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50" b="1">
                  <a:solidFill>
                    <a:srgbClr val="B0C8E4"/>
                  </a:solidFill>
                </a:rPr>
                <a:t>LOYAL CLASS METRICS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457200" y="3410712"/>
              <a:ext cx="139446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800" b="0">
                  <a:solidFill>
                    <a:srgbClr val="B0C8E4"/>
                  </a:solidFill>
                </a:rPr>
                <a:t>PRECISION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1965960" y="3410712"/>
              <a:ext cx="871538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>
                  <a:solidFill>
                    <a:srgbClr val="FFFFFF"/>
                  </a:solidFill>
                </a:rPr>
                <a:t>0.34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457200" y="3776472"/>
              <a:ext cx="139446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800" b="0">
                  <a:solidFill>
                    <a:srgbClr val="B0C8E4"/>
                  </a:solidFill>
                </a:rPr>
                <a:t>RECALL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1965960" y="3776472"/>
              <a:ext cx="871538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>
                  <a:solidFill>
                    <a:srgbClr val="FFFFFF"/>
                  </a:solidFill>
                </a:rPr>
                <a:t>0.45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457200" y="4142232"/>
              <a:ext cx="139446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800" b="0">
                  <a:solidFill>
                    <a:srgbClr val="B0C8E4"/>
                  </a:solidFill>
                </a:rPr>
                <a:t>F1-SCORE</a:t>
              </a:r>
            </a:p>
          </p:txBody>
        </p:sp>
        <p:sp>
          <p:nvSpPr>
            <p:cNvPr id="111" name="TextBox 110"/>
            <p:cNvSpPr txBox="1"/>
            <p:nvPr/>
          </p:nvSpPr>
          <p:spPr>
            <a:xfrm>
              <a:off x="1965960" y="4142232"/>
              <a:ext cx="871538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>
                  <a:solidFill>
                    <a:srgbClr val="FFFFFF"/>
                  </a:solidFill>
                </a:rPr>
                <a:t>0.39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 Light"/>
              </a:rPr>
              <a:t>Business 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8E4"/>
                </a:solidFill>
                <a:latin typeface="Calibri Light"/>
              </a:rPr>
              <a:t>Three actionable customer segments: each with a distinct marketing playbook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" y="1824227"/>
            <a:ext cx="3794760" cy="685800"/>
          </a:xfrm>
          <a:prstGeom prst="rect">
            <a:avLst/>
          </a:prstGeom>
          <a:solidFill>
            <a:srgbClr val="5E7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1851659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LOW LIKELIHOOD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125979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&lt; 33%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" y="2510027"/>
            <a:ext cx="3794760" cy="50292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2555746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 dirty="0">
                <a:solidFill>
                  <a:srgbClr val="95A5A6"/>
                </a:solidFill>
                <a:latin typeface="Calibri"/>
              </a:rPr>
              <a:t>26,225 users   |   1.0% observed loyalty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766058"/>
            <a:ext cx="3611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5A5A6"/>
                </a:solidFill>
                <a:latin typeface="Calibri"/>
              </a:rPr>
              <a:t>Avg score: 0.10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" y="3012947"/>
            <a:ext cx="3794760" cy="347472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4048" y="3040379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RE-ENGAGE OR DEPRIORITISE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3360419"/>
            <a:ext cx="37947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02336" y="3360419"/>
            <a:ext cx="3593592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50" b="0">
                <a:solidFill>
                  <a:srgbClr val="2C3E50"/>
                </a:solidFill>
                <a:latin typeface="Calibri"/>
              </a:rPr>
              <a:t>→  Investigate drop-off: was it price? UX? merchant gap?</a:t>
            </a:r>
          </a:p>
          <a:p>
            <a:pPr algn="l"/>
            <a:r>
              <a:rPr sz="1050" b="0">
                <a:solidFill>
                  <a:srgbClr val="2C3E50"/>
                </a:solidFill>
                <a:latin typeface="Calibri"/>
              </a:rPr>
              <a:t>→  Test a low-cost re-engagement trigger (email / push)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824227"/>
            <a:ext cx="3794760" cy="685800"/>
          </a:xfrm>
          <a:prstGeom prst="rect">
            <a:avLst/>
          </a:prstGeom>
          <a:solidFill>
            <a:srgbClr val="2D6A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15968" y="1851659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C3E50"/>
                </a:solidFill>
                <a:latin typeface="Calibri"/>
              </a:rPr>
              <a:t>MEDIUM LIKELIHOOD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968" y="2125979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3E50"/>
                </a:solidFill>
                <a:latin typeface="Calibri"/>
              </a:rPr>
              <a:t>33% – 66%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24528" y="2510027"/>
            <a:ext cx="3794760" cy="50292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15968" y="2555746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2E75B6"/>
                </a:solidFill>
                <a:latin typeface="Calibri"/>
              </a:rPr>
              <a:t>6,060 users   |   6.3% observed loyalty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2766058"/>
            <a:ext cx="3611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5A5A6"/>
                </a:solidFill>
                <a:latin typeface="Calibri"/>
              </a:rPr>
              <a:t>Avg score: 0.44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3012947"/>
            <a:ext cx="3794760" cy="347472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15968" y="3040379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NUDGE &amp; CONVERT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24528" y="3360419"/>
            <a:ext cx="37947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34256" y="3360419"/>
            <a:ext cx="3593592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50" b="0">
                <a:solidFill>
                  <a:srgbClr val="2C3E50"/>
                </a:solidFill>
                <a:latin typeface="Calibri"/>
              </a:rPr>
              <a:t>→  Spend incentive: 'Earn 10% back on your next 3 purchases'</a:t>
            </a:r>
          </a:p>
          <a:p>
            <a:pPr algn="l"/>
            <a:r>
              <a:rPr sz="1050" b="0">
                <a:solidFill>
                  <a:srgbClr val="2C3E50"/>
                </a:solidFill>
                <a:latin typeface="Calibri"/>
              </a:rPr>
              <a:t>→  Merchant discovery: introduce them to a second shop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56448" y="1824227"/>
            <a:ext cx="3794760" cy="6858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47888" y="1851659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HIGH LIKELIHOOD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2125979"/>
            <a:ext cx="3611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&gt; 66%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56448" y="2510027"/>
            <a:ext cx="3794760" cy="50292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47888" y="2555746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09840"/>
                </a:solidFill>
                <a:latin typeface="Calibri"/>
              </a:rPr>
              <a:t>2,135 users   |   83.9% observed loyalty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2766058"/>
            <a:ext cx="3611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5A5A6"/>
                </a:solidFill>
                <a:latin typeface="Calibri"/>
              </a:rPr>
              <a:t>Avg score: 0.95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56448" y="3012947"/>
            <a:ext cx="3794760" cy="347472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47888" y="3040379"/>
            <a:ext cx="3611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REINFORCE &amp; RETAIN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56448" y="3360419"/>
            <a:ext cx="379476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66176" y="3360419"/>
            <a:ext cx="3593592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050" b="0">
                <a:solidFill>
                  <a:srgbClr val="2C3E50"/>
                </a:solidFill>
                <a:latin typeface="Calibri"/>
              </a:rPr>
              <a:t>→  Early loyalty tier access: acknowledge their status</a:t>
            </a:r>
          </a:p>
          <a:p>
            <a:pPr algn="l"/>
            <a:r>
              <a:rPr sz="1050" b="0">
                <a:solidFill>
                  <a:srgbClr val="2C3E50"/>
                </a:solidFill>
                <a:latin typeface="Calibri"/>
              </a:rPr>
              <a:t>→  Exclusive merchant offers unavailable to general users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 Light"/>
              </a:rPr>
              <a:t>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B0C8E4"/>
                </a:solidFill>
              </a:rPr>
              <a:t>What this analysis delivers: a rigorous loyalty definition and an early-intervention model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367528"/>
            <a:ext cx="11640312" cy="59436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5440680"/>
            <a:ext cx="21031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C09840"/>
                </a:solidFill>
              </a:rPr>
              <a:t>THE BOTTOM 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5440680"/>
            <a:ext cx="9144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FFFFFF"/>
                </a:solidFill>
              </a:rPr>
              <a:t>This model turns ‘customer loyalty’ from a vague aspiration into a measurable, predictable, actionable business programme: with a clear definition, a reliable early signal, and three distinct playbooks ready to deploy.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3464" y="1623060"/>
            <a:ext cx="3758184" cy="182880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20623" y="1732788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C09840"/>
                </a:solidFill>
              </a:rPr>
              <a:t>6,273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3" y="2372868"/>
            <a:ext cx="35295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8E4"/>
                </a:solidFill>
              </a:rPr>
              <a:t>loyal customers identified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3" y="2628900"/>
            <a:ext cx="3483864" cy="18288"/>
          </a:xfrm>
          <a:prstGeom prst="rect">
            <a:avLst/>
          </a:prstGeom>
          <a:solidFill>
            <a:srgbClr val="C0984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0623" y="2683763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Spendy now has a formal answer to "who are our
loyal customers?" for the first time.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1623060"/>
            <a:ext cx="3758184" cy="1828800"/>
          </a:xfrm>
          <a:prstGeom prst="rect">
            <a:avLst/>
          </a:prstGeom>
          <a:solidFill>
            <a:srgbClr val="2D6A9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297680" y="1732788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C09840"/>
                </a:solidFill>
              </a:rPr>
              <a:t>Month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2372868"/>
            <a:ext cx="35295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8E4"/>
                </a:solidFill>
              </a:rPr>
              <a:t>earliest scoring window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80" y="2628900"/>
            <a:ext cx="3483864" cy="18288"/>
          </a:xfrm>
          <a:prstGeom prst="rect">
            <a:avLst/>
          </a:prstGeom>
          <a:solidFill>
            <a:srgbClr val="C0984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297680" y="2683763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The model scores new users after 60 days —
before they decide whether to stay or leave.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37576" y="1623060"/>
            <a:ext cx="3758184" cy="1828800"/>
          </a:xfrm>
          <a:prstGeom prst="rect">
            <a:avLst/>
          </a:prstGeom>
          <a:solidFill>
            <a:srgbClr val="2E75B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174736" y="1732788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C09840"/>
                </a:solidFill>
              </a:rPr>
              <a:t>83.9%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74736" y="2372868"/>
            <a:ext cx="35295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0C8E4"/>
                </a:solidFill>
              </a:rPr>
              <a:t>actual loyalty in the High segment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74736" y="2628900"/>
            <a:ext cx="3483864" cy="18288"/>
          </a:xfrm>
          <a:prstGeom prst="rect">
            <a:avLst/>
          </a:prstGeom>
          <a:solidFill>
            <a:srgbClr val="C0984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174736" y="2683763"/>
            <a:ext cx="352958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4 in 5 users the model was confident about
turned out to be genuinely loyal.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3464" y="3607308"/>
            <a:ext cx="11512296" cy="1307592"/>
          </a:xfrm>
          <a:prstGeom prst="rect">
            <a:avLst/>
          </a:prstGeom>
          <a:solidFill>
            <a:srgbClr val="F2F5F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0624" y="368046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B2A4A"/>
                </a:solidFill>
              </a:rPr>
              <a:t>3-TIER MARKETING PLAYBOOK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3464" y="3954780"/>
            <a:ext cx="54864" cy="923544"/>
          </a:xfrm>
          <a:prstGeom prst="rect">
            <a:avLst/>
          </a:prstGeom>
          <a:solidFill>
            <a:srgbClr val="C0984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20623" y="3973068"/>
            <a:ext cx="35753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C3E50"/>
                </a:solidFill>
              </a:rPr>
              <a:t>HIGH  › 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3" y="4201668"/>
            <a:ext cx="35753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2A4A"/>
                </a:solidFill>
              </a:rPr>
              <a:t>Reinforce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3" y="4439412"/>
            <a:ext cx="3575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Acknowledge loyalty early. Exclusive offers
and status recognition before competitors do.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60520" y="3954780"/>
            <a:ext cx="54864" cy="923544"/>
          </a:xfrm>
          <a:prstGeom prst="rect">
            <a:avLst/>
          </a:prstGeom>
          <a:solidFill>
            <a:srgbClr val="2E75B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297680" y="3973068"/>
            <a:ext cx="35753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C3E50"/>
                </a:solidFill>
              </a:rPr>
              <a:t>MEDIUM  33–66%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97680" y="4201668"/>
            <a:ext cx="35753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2A4A"/>
                </a:solidFill>
              </a:rPr>
              <a:t>Nudge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97680" y="4439412"/>
            <a:ext cx="3575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Targeted spend incentive or merchant
discovery prompts to close the loyalty gap.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37576" y="3954780"/>
            <a:ext cx="54864" cy="923544"/>
          </a:xfrm>
          <a:prstGeom prst="rect">
            <a:avLst/>
          </a:prstGeom>
          <a:solidFill>
            <a:srgbClr val="95A5A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174736" y="3973068"/>
            <a:ext cx="35753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2C3E50"/>
                </a:solidFill>
              </a:rPr>
              <a:t>LOW  ‹ 33%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74736" y="4201668"/>
            <a:ext cx="35753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B2A4A"/>
                </a:solidFill>
              </a:rPr>
              <a:t>Deprioritise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74736" y="4439412"/>
            <a:ext cx="357530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Investigate re-engagement triggers or
redirect budget to higher-value segments.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 Light"/>
                <a:ea typeface="+mn-ea"/>
                <a:cs typeface="+mn-cs"/>
              </a:rPr>
              <a:t>Future Improvements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11640312" cy="914400"/>
          </a:xfrm>
          <a:prstGeom prst="rect">
            <a:avLst/>
          </a:prstGeom>
          <a:solidFill>
            <a:srgbClr val="F2F5F8"/>
          </a:solidFill>
          <a:ln w="9525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960120" cy="91440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1344168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9840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234440"/>
            <a:ext cx="10469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2A4A"/>
                </a:solidFill>
              </a:rPr>
              <a:t>Longer Observation Period</a:t>
            </a:r>
          </a:p>
        </p:txBody>
      </p:sp>
      <p:sp>
        <p:nvSpPr>
          <p:cNvPr id="9" name="Rectangle 8"/>
          <p:cNvSpPr/>
          <p:nvPr/>
        </p:nvSpPr>
        <p:spPr>
          <a:xfrm>
            <a:off x="1353312" y="1545336"/>
            <a:ext cx="10469880" cy="18288"/>
          </a:xfrm>
          <a:prstGeom prst="rect">
            <a:avLst/>
          </a:prstGeom>
          <a:solidFill>
            <a:srgbClr val="C0984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53312" y="1618488"/>
            <a:ext cx="104698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dirty="0">
                <a:solidFill>
                  <a:srgbClr val="2C3E50"/>
                </a:solidFill>
              </a:rPr>
              <a:t>The dataset covers H2 2020 only  7 months. A full year or more of data would provide more loyal-class examples and let the loyalty definition be validated over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157984"/>
            <a:ext cx="11640312" cy="914400"/>
          </a:xfrm>
          <a:prstGeom prst="rect">
            <a:avLst/>
          </a:prstGeom>
          <a:solidFill>
            <a:srgbClr val="F2F5F8"/>
          </a:solidFill>
          <a:ln w="9525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320" y="2157984"/>
            <a:ext cx="960120" cy="91440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74320" y="2359152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9840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249424"/>
            <a:ext cx="10469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2A4A"/>
                </a:solidFill>
              </a:rPr>
              <a:t>Richer Customer &amp; Transaction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53312" y="2560320"/>
            <a:ext cx="10469880" cy="18288"/>
          </a:xfrm>
          <a:prstGeom prst="rect">
            <a:avLst/>
          </a:prstGeom>
          <a:solidFill>
            <a:srgbClr val="C0984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53312" y="2633472"/>
            <a:ext cx="10469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Product and shop categories, customer demographics, promotion usage, and marketing campaign interactions are not in the current dataset but could meaningfully improve signal.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172968"/>
            <a:ext cx="11640312" cy="914400"/>
          </a:xfrm>
          <a:prstGeom prst="rect">
            <a:avLst/>
          </a:prstGeom>
          <a:solidFill>
            <a:srgbClr val="F2F5F8"/>
          </a:solidFill>
          <a:ln w="9525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74320" y="3172968"/>
            <a:ext cx="960120" cy="91440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" y="3374136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9840"/>
                </a:solidFill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3264408"/>
            <a:ext cx="10469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2A4A"/>
                </a:solidFill>
              </a:rPr>
              <a:t>Additional Behavioural Features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53312" y="3575304"/>
            <a:ext cx="10469880" cy="18288"/>
          </a:xfrm>
          <a:prstGeom prst="rect">
            <a:avLst/>
          </a:prstGeom>
          <a:solidFill>
            <a:srgbClr val="C0984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53312" y="3648456"/>
            <a:ext cx="10469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Purchase regularity and activity across both months of the feature window could help surface customers who build loyalty gradually through sustained early engagement.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187952"/>
            <a:ext cx="11640312" cy="914400"/>
          </a:xfrm>
          <a:prstGeom prst="rect">
            <a:avLst/>
          </a:prstGeom>
          <a:solidFill>
            <a:srgbClr val="F2F5F8"/>
          </a:solidFill>
          <a:ln w="9525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4320" y="4187952"/>
            <a:ext cx="960120" cy="91440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74320" y="4389120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9840"/>
                </a:solidFill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4279392"/>
            <a:ext cx="10469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2A4A"/>
                </a:solidFill>
              </a:rPr>
              <a:t>Model Refinement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53312" y="4590288"/>
            <a:ext cx="10469880" cy="18288"/>
          </a:xfrm>
          <a:prstGeom prst="rect">
            <a:avLst/>
          </a:prstGeom>
          <a:solidFill>
            <a:srgbClr val="C0984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53312" y="4663440"/>
            <a:ext cx="1046988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dirty="0">
                <a:solidFill>
                  <a:srgbClr val="2C3E50"/>
                </a:solidFill>
              </a:rPr>
              <a:t>Gradient Boosting with calibrated predicted probabilities would be the natural next model to compare against Random Forest</a:t>
            </a:r>
            <a:r>
              <a:rPr lang="en-US" sz="950" b="0" dirty="0">
                <a:solidFill>
                  <a:srgbClr val="2C3E50"/>
                </a:solidFill>
              </a:rPr>
              <a:t>,</a:t>
            </a:r>
            <a:r>
              <a:rPr sz="950" b="0" dirty="0">
                <a:solidFill>
                  <a:srgbClr val="2C3E50"/>
                </a:solidFill>
              </a:rPr>
              <a:t> calibration makes scores more reliable in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5202936"/>
            <a:ext cx="11640312" cy="914400"/>
          </a:xfrm>
          <a:prstGeom prst="rect">
            <a:avLst/>
          </a:prstGeom>
          <a:solidFill>
            <a:srgbClr val="F2F5F8"/>
          </a:solidFill>
          <a:ln w="9525">
            <a:solidFill>
              <a:srgbClr val="CC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74320" y="5202936"/>
            <a:ext cx="960120" cy="91440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" y="5404104"/>
            <a:ext cx="960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9840"/>
                </a:solidFill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294376"/>
            <a:ext cx="10469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2A4A"/>
                </a:solidFill>
              </a:rPr>
              <a:t>Business-Driven Segmentation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53312" y="5605272"/>
            <a:ext cx="10469880" cy="18288"/>
          </a:xfrm>
          <a:prstGeom prst="rect">
            <a:avLst/>
          </a:prstGeom>
          <a:solidFill>
            <a:srgbClr val="C0984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53312" y="5678424"/>
            <a:ext cx="10469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The 33% and 66% probability cutoffs are heuristic. Thresholds should be set by the expected ROI of each marketing tier, not fixed percentiles.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37160"/>
            <a:ext cx="10058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Calibri Light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B0C8E4"/>
                </a:solidFill>
              </a:rPr>
              <a:t>What the analysis found, and how it was built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3566160" cy="50292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261872"/>
            <a:ext cx="3383279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C09840"/>
                </a:solidFill>
              </a:rPr>
              <a:t>①  DEFINE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737360"/>
            <a:ext cx="3566160" cy="21031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0B2A4A"/>
                </a:solidFill>
              </a:rPr>
              <a:t>Loyalty Definition</a:t>
            </a:r>
          </a:p>
          <a:p>
            <a:r>
              <a:rPr lang="en-US" sz="950" b="0" dirty="0">
                <a:solidFill>
                  <a:srgbClr val="2C3E50"/>
                </a:solidFill>
              </a:rPr>
              <a:t>5-gate AND/OR rule designed from EDA: frequency, spend, recency, tenure,
and a platform check (breadth OR depth)</a:t>
            </a:r>
          </a:p>
          <a:p>
            <a:r>
              <a:rPr lang="en-US" sz="1000" b="1" dirty="0">
                <a:solidFill>
                  <a:srgbClr val="0B2A4A"/>
                </a:solidFill>
              </a:rPr>
              <a:t>4.6% loyalty rate</a:t>
            </a:r>
          </a:p>
          <a:p>
            <a:r>
              <a:rPr lang="en-US" sz="950" b="0" dirty="0">
                <a:solidFill>
                  <a:srgbClr val="2C3E50"/>
                </a:solidFill>
              </a:rPr>
              <a:t>6,259 of 136,830 users qualify by December 2020
under the rigorous 5-gate framework</a:t>
            </a:r>
          </a:p>
          <a:p>
            <a:r>
              <a:rPr lang="en-US" sz="1000" b="1" dirty="0">
                <a:solidFill>
                  <a:srgbClr val="0B2A4A"/>
                </a:solidFill>
              </a:rPr>
              <a:t>Tracked over time</a:t>
            </a:r>
          </a:p>
          <a:p>
            <a:r>
              <a:rPr lang="en-US" sz="950" b="0" dirty="0">
                <a:solidFill>
                  <a:srgbClr val="2C3E50"/>
                </a:solidFill>
              </a:rPr>
              <a:t>Loyalty grew from zero in June to 6,259 by December
as new users accumulated sufficient registration tenure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234440"/>
            <a:ext cx="3566160" cy="502920"/>
          </a:xfrm>
          <a:prstGeom prst="rect">
            <a:avLst/>
          </a:prstGeom>
          <a:solidFill>
            <a:srgbClr val="2E75B6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400" y="1261872"/>
            <a:ext cx="3383279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C09840"/>
                </a:solidFill>
              </a:rPr>
              <a:t>②  PREDICT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1737360"/>
            <a:ext cx="3566160" cy="21031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9120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0B2A4A"/>
                </a:solidFill>
              </a:rPr>
              <a:t>AUC 0.912</a:t>
            </a:r>
          </a:p>
          <a:p>
            <a:r>
              <a:rPr lang="en-US" sz="950" b="0" dirty="0">
                <a:solidFill>
                  <a:srgbClr val="2C3E50"/>
                </a:solidFill>
              </a:rPr>
              <a:t>Random Forest correctly ranks a loyal user above a non-loyal
one 91.2% of the time on the held-out test set</a:t>
            </a:r>
          </a:p>
          <a:p>
            <a:r>
              <a:rPr lang="en-US" sz="1000" b="1" dirty="0">
                <a:solidFill>
                  <a:srgbClr val="0B2A4A"/>
                </a:solidFill>
              </a:rPr>
              <a:t>5 features, zero leakage</a:t>
            </a:r>
          </a:p>
          <a:p>
            <a:r>
              <a:rPr lang="en-US" sz="950" b="0" dirty="0">
                <a:solidFill>
                  <a:srgbClr val="2C3E50"/>
                </a:solidFill>
              </a:rPr>
              <a:t>All features engineered from days 0–60 only.
Labels set at Dec 31 — no future data seen during training</a:t>
            </a:r>
          </a:p>
          <a:p>
            <a:r>
              <a:rPr lang="en-US" sz="1000" b="1" dirty="0">
                <a:solidFill>
                  <a:srgbClr val="0B2A4A"/>
                </a:solidFill>
              </a:rPr>
              <a:t>Handles 1-in-31 class imbalance</a:t>
            </a:r>
          </a:p>
          <a:p>
            <a:r>
              <a:rPr lang="en-US" sz="950" b="0" dirty="0">
                <a:solidFill>
                  <a:srgbClr val="2C3E50"/>
                </a:solidFill>
              </a:rPr>
              <a:t>class_weight='balanced' gives the rare loyal class
sufficient weight without synthetic oversampling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234440"/>
            <a:ext cx="3566160" cy="502920"/>
          </a:xfrm>
          <a:prstGeom prst="rect">
            <a:avLst/>
          </a:prstGeom>
          <a:solidFill>
            <a:srgbClr val="2D6A9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1261872"/>
            <a:ext cx="3383279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1">
                <a:solidFill>
                  <a:srgbClr val="C09840"/>
                </a:solidFill>
              </a:rPr>
              <a:t>③  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1737360"/>
            <a:ext cx="3566160" cy="21031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75320" y="1828800"/>
            <a:ext cx="3291840" cy="15773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rgbClr val="0B2A4A"/>
                </a:solidFill>
              </a:rPr>
              <a:t>3-tier segmentation, calibrated</a:t>
            </a:r>
          </a:p>
          <a:p>
            <a:r>
              <a:rPr lang="en-US" sz="950" b="0" dirty="0">
                <a:solidFill>
                  <a:srgbClr val="2C3E50"/>
                </a:solidFill>
              </a:rPr>
              <a:t>Scores applied to all eligible new users,
bucketed into Low / Medium / High probability tiers</a:t>
            </a:r>
          </a:p>
          <a:p>
            <a:r>
              <a:rPr lang="en-US" sz="1000" b="1" dirty="0">
                <a:solidFill>
                  <a:srgbClr val="0B2A4A"/>
                </a:solidFill>
              </a:rPr>
              <a:t>High segment: 83.9% actual loyalty</a:t>
            </a:r>
          </a:p>
          <a:p>
            <a:r>
              <a:rPr lang="en-US" sz="950" b="0" dirty="0">
                <a:solidFill>
                  <a:srgbClr val="2C3E50"/>
                </a:solidFill>
              </a:rPr>
              <a:t>4 in 5 users the model was confident about
actually turned out to be loyal — model is not hedging</a:t>
            </a:r>
          </a:p>
          <a:p>
            <a:r>
              <a:rPr lang="en-US" sz="1000" b="1" dirty="0">
                <a:solidFill>
                  <a:srgbClr val="0B2A4A"/>
                </a:solidFill>
              </a:rPr>
              <a:t>Calibration confirmed</a:t>
            </a:r>
          </a:p>
          <a:p>
            <a:r>
              <a:rPr lang="en-US" sz="950" b="0" dirty="0">
                <a:solidFill>
                  <a:srgbClr val="2C3E50"/>
                </a:solidFill>
              </a:rPr>
              <a:t>Average predicted probabilities: Low 0.10, Medium 0.44, High 0.95
Segmentation is actionable, not borderline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1097280"/>
            <a:ext cx="11640312" cy="27432"/>
          </a:xfrm>
          <a:prstGeom prst="rect">
            <a:avLst/>
          </a:prstGeom>
          <a:solidFill>
            <a:srgbClr val="C0984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74320" y="5989320"/>
            <a:ext cx="11640312" cy="640080"/>
          </a:xfrm>
          <a:prstGeom prst="rect">
            <a:avLst/>
          </a:prstGeom>
          <a:solidFill>
            <a:srgbClr val="0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4320" y="6035040"/>
            <a:ext cx="11640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Rigorous definition.     Month-2 scoring.     Three actionable segments.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1185</TotalTime>
  <Words>3310</Words>
  <Application>Microsoft Office PowerPoint</Application>
  <PresentationFormat>Custom</PresentationFormat>
  <Paragraphs>322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Bargal, Prathmesh</cp:lastModifiedBy>
  <cp:revision>22</cp:revision>
  <dcterms:created xsi:type="dcterms:W3CDTF">2013-01-27T09:14:16Z</dcterms:created>
  <dcterms:modified xsi:type="dcterms:W3CDTF">2026-07-17T04:43:09Z</dcterms:modified>
  <cp:category/>
</cp:coreProperties>
</file>