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strCache>
            </c:strRef>
          </c:tx>
          <c:dPt>
            <c:idx val="0"/>
            <c:bubble3D val="0"/>
            <c:spPr>
              <a:solidFill>
                <a:srgbClr val="2D6A9F"/>
              </a:solidFill>
            </c:spPr>
            <c:extLst>
              <c:ext xmlns:c16="http://schemas.microsoft.com/office/drawing/2014/chart" uri="{C3380CC4-5D6E-409C-BE32-E72D297353CC}">
                <c16:uniqueId val="{00000001-AF81-4A14-8F43-882E453867FA}"/>
              </c:ext>
            </c:extLst>
          </c:dPt>
          <c:dPt>
            <c:idx val="1"/>
            <c:bubble3D val="0"/>
            <c:spPr>
              <a:solidFill>
                <a:srgbClr val="5E7080"/>
              </a:solidFill>
            </c:spPr>
            <c:extLst>
              <c:ext xmlns:c16="http://schemas.microsoft.com/office/drawing/2014/chart" uri="{C3380CC4-5D6E-409C-BE32-E72D297353CC}">
                <c16:uniqueId val="{00000003-AF81-4A14-8F43-882E453867FA}"/>
              </c:ext>
            </c:extLst>
          </c:dPt>
          <c:cat>
            <c:strRef>
              <c:f>Sheet1!$A$2:$A$3</c:f>
              <c:strCache>
                <c:ptCount val="2"/>
                <c:pt idx="0">
                  <c:v>New Users (72.8K)</c:v>
                </c:pt>
                <c:pt idx="1">
                  <c:v>Existing Users (64K)</c:v>
                </c:pt>
              </c:strCache>
            </c:strRef>
          </c:cat>
          <c:val>
            <c:numRef>
              <c:f>Sheet1!$B$2:$B$3</c:f>
              <c:numCache>
                <c:formatCode>General</c:formatCode>
                <c:ptCount val="2"/>
                <c:pt idx="0">
                  <c:v>72.8</c:v>
                </c:pt>
                <c:pt idx="1">
                  <c:v>64</c:v>
                </c:pt>
              </c:numCache>
            </c:numRef>
          </c:val>
          <c:extLst>
            <c:ext xmlns:c16="http://schemas.microsoft.com/office/drawing/2014/chart" uri="{C3380CC4-5D6E-409C-BE32-E72D297353CC}">
              <c16:uniqueId val="{00000004-AF81-4A14-8F43-882E453867FA}"/>
            </c:ext>
          </c:extLst>
        </c:ser>
        <c:dLbls>
          <c:showLegendKey val="0"/>
          <c:showVal val="0"/>
          <c:showCatName val="0"/>
          <c:showSerName val="0"/>
          <c:showPercent val="0"/>
          <c:showBubbleSize val="0"/>
          <c:showLeaderLines val="1"/>
        </c:dLbls>
        <c:firstSliceAng val="0"/>
      </c:pieChart>
    </c:plotArea>
    <c:legend>
      <c:legendPos val="b"/>
      <c:overlay val="0"/>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192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 OPENING (approx. 30 seconds)</a:t>
            </a:r>
          </a:p>
          <a:p>
            <a:endParaRPr/>
          </a:p>
          <a:p>
            <a:r>
              <a:t>SAY:</a:t>
            </a:r>
          </a:p>
          <a:p>
            <a:r>
              <a:t>"Thank you for having me. Today I want to walk you through how I approached the Spendy loyalty prediction problem — not just what I built, but why I made the choices I did."</a:t>
            </a:r>
          </a:p>
          <a:p>
            <a:endParaRPr/>
          </a:p>
          <a:p>
            <a:r>
              <a:t>"The core challenge was deceptively simple: which customers are truly loyal to Spendy the platform, and can we identify them early enough to act on it? I'll take you through the problem, the business reasoning behind the loyalty definition, the model, and what this means for marketing."</a:t>
            </a:r>
          </a:p>
          <a:p>
            <a:endParaRPr/>
          </a:p>
          <a:p>
            <a:r>
              <a:t>WHY IT MATTERS:</a:t>
            </a:r>
          </a:p>
          <a:p>
            <a:r>
              <a:t>Starting with the story flow signals to the panel that this is a business-first presentation, not a notebook walkthrough. Senior stakeholders want to see that you understand the end goal before you touch any code.</a:t>
            </a:r>
          </a:p>
          <a:p>
            <a:endParaRPr/>
          </a:p>
          <a:p>
            <a:r>
              <a:t>INTERVIEWER IS THINKING:</a:t>
            </a:r>
          </a:p>
          <a:p>
            <a:r>
              <a:t>- Can this person communicate with non-technical stakeholders?</a:t>
            </a:r>
          </a:p>
          <a:p>
            <a:r>
              <a:t>- Do they understand what the business actually cares about?</a:t>
            </a:r>
          </a:p>
          <a:p>
            <a:r>
              <a:t>- Is this going to be a code dump or a real business presentation?</a:t>
            </a:r>
          </a:p>
          <a:p>
            <a:endParaRPr/>
          </a:p>
          <a:p>
            <a:r>
              <a:t>TIP: Make eye contact, speak confidently. The title slide is your first impression — own the room.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BUSINESS PROBLEM (approx. 90 seconds)</a:t>
            </a:r>
          </a:p>
          <a:p>
            <a:endParaRPr/>
          </a:p>
          <a:p>
            <a:r>
              <a:t>SAY:</a:t>
            </a:r>
          </a:p>
          <a:p>
            <a:r>
              <a:t>"Spendy is a Buy Now Pay Later platform — it sits between merchants and consumers and makes money primarily through merchant fees. This creates an interesting loyalty problem."</a:t>
            </a:r>
          </a:p>
          <a:p>
            <a:endParaRPr/>
          </a:p>
          <a:p>
            <a:r>
              <a:t>"The surface-level concern is that some users look loyal on paper — they buy frequently, they spend a lot — but they're actually loyal to one specific merchant who happens to offer Spendy. If that merchant switches to a competitor, Spendy loses the customer entirely."</a:t>
            </a:r>
          </a:p>
          <a:p>
            <a:endParaRPr/>
          </a:p>
          <a:p>
            <a:r>
              <a:t>"This is what I'm calling the Brand Loyalist Problem. And when I looked at the data, 75% of users had only ever bought from a single shop. That's a massive signal that raw purchase metrics alone can't define loyalty."</a:t>
            </a:r>
          </a:p>
          <a:p>
            <a:endParaRPr/>
          </a:p>
          <a:p>
            <a:r>
              <a:t>"The second business question is: why does it matter when we identify loyalty? The answer is timing. A marketing intervention in month two — when a user is still forming habits — is dramatically cheaper than re-acquisition after they've churned. So the predictive model isn't just about accuracy, it's about enabling proactive marketing."</a:t>
            </a:r>
          </a:p>
          <a:p>
            <a:endParaRPr/>
          </a:p>
          <a:p>
            <a:r>
              <a:t>INTERVIEWER IS THINKING:</a:t>
            </a:r>
          </a:p>
          <a:p>
            <a:r>
              <a:t>- Does this person understand the BNPL business model?</a:t>
            </a:r>
          </a:p>
          <a:p>
            <a:r>
              <a:t>- Have they thought about what loyalty actually means for this specific business?</a:t>
            </a:r>
          </a:p>
          <a:p>
            <a:r>
              <a:t>- Do they see the commercial implications of the Brand Loyalist Problem?</a:t>
            </a:r>
          </a:p>
          <a:p>
            <a:endParaRPr/>
          </a:p>
          <a:p>
            <a:r>
              <a:t>LIKELY FOLLOW-UP QUESTIONS:</a:t>
            </a:r>
          </a:p>
          <a:p>
            <a:r>
              <a:t>Q: How does Spendy's business model differ from a traditional loyalty programme?</a:t>
            </a:r>
          </a:p>
          <a:p>
            <a:r>
              <a:t>A: Traditional loyalty (airlines, retail) rewards repeat customers. Spendy's challenge is that the merchant relationship creates a dependency that can mask whether the user actually prefers Spendy — the platform isn't visible to the user in the same way.</a:t>
            </a:r>
          </a:p>
          <a:p>
            <a:endParaRPr/>
          </a:p>
          <a:p>
            <a:r>
              <a:t>Q: What's the cost of a false positive in your loyalty definition?</a:t>
            </a:r>
          </a:p>
          <a:p>
            <a:r>
              <a:t>A: In a rewards programme context, a false positive means giving cashback or exclusive offers to a user who is actually merchant-loyal and may churn. The definition was designed to minimise this — which is why we require multiple dimensions simultaneously.</a:t>
            </a:r>
          </a:p>
          <a:p>
            <a:endParaRPr/>
          </a:p>
          <a:p>
            <a:r>
              <a:t>TRANSITION: "Let me quickly show you the data we had to work with before jumping into the loyalty definition itself."</a:t>
            </a:r>
          </a:p>
          <a:p>
            <a:endParaRPr/>
          </a:p>
          <a:p>
            <a:r>
              <a:t>[SLIDE TEXT MOVED TO NOTES]</a:t>
            </a:r>
          </a:p>
          <a:p>
            <a:r>
              <a:t>Brand Loyalist Problem (full text):</a:t>
            </a:r>
          </a:p>
          <a:p>
            <a:r>
              <a:t>These users may be loyal to their favourite merchant — not to Spendy. If that merchant stops offering Spendy, the user disappears. A loyalty programme built on raw purchase counts would reward the wrong customers. We need a definition that separates platform loyalty from merchant dependency.</a:t>
            </a:r>
          </a:p>
          <a:p>
            <a:endParaRPr/>
          </a:p>
          <a:p>
            <a:r>
              <a:t>[SLIDE TEXT MOVED TO NOTES]</a:t>
            </a:r>
          </a:p>
          <a:p>
            <a:r>
              <a:t>Why Predict Early (sub-explanations removed from slide):</a:t>
            </a:r>
          </a:p>
          <a:p>
            <a:r>
              <a:t>→ Waiting until a user is loyal means competing after the habit is formed</a:t>
            </a:r>
          </a:p>
          <a:p>
            <a:r>
              <a:t>→ A nudge at month 2 costs far less than re-acquisition at month 12</a:t>
            </a:r>
          </a:p>
          <a:p>
            <a:r>
              <a:t>→ Concentrating effort on high-probability users maximises ROI</a:t>
            </a:r>
          </a:p>
          <a:p>
            <a:r>
              <a:t>→ Early signals reveal platform affinity before it becomes obvious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DATASET (approx. 60 seconds)</a:t>
            </a:r>
          </a:p>
          <a:p>
            <a:endParaRPr/>
          </a:p>
          <a:p>
            <a:r>
              <a:t>SAY:</a:t>
            </a:r>
          </a:p>
          <a:p>
            <a:r>
              <a:t>"The dataset is a transaction log — 759,000 purchases across 136,000 users and 711 shops, covering June through December 2020. No missing values, which simplified the process."</a:t>
            </a:r>
          </a:p>
          <a:p>
            <a:endParaRPr/>
          </a:p>
          <a:p>
            <a:r>
              <a:t>"Three things in the EDA directly shaped my decisions. First: purchase counts are highly skewed — the median user only made 2 purchases total. That immediately told me raw counts aren't useful; I need a rate normalised by how long someone has been registered."</a:t>
            </a:r>
          </a:p>
          <a:p>
            <a:endParaRPr/>
          </a:p>
          <a:p>
            <a:r>
              <a:t>"Second: 75% of users bought from exactly one shop. That's the Brand Loyalist Problem in the data — and it's why merchant diversity had to be a component of the loyalty definition."</a:t>
            </a:r>
          </a:p>
          <a:p>
            <a:endParaRPr/>
          </a:p>
          <a:p>
            <a:r>
              <a:t>"Third: we have two user populations — about 53% joined within the dataset window and have clean join dates; the other 47% are pre-existing users. I used all users for the loyalty definition since more data is better, but restricted the ML model to new users only, so I have clean first-purchase timestamps for every training example."</a:t>
            </a:r>
          </a:p>
          <a:p>
            <a:endParaRPr/>
          </a:p>
          <a:p>
            <a:r>
              <a:t>INTERVIEWER IS THINKING:</a:t>
            </a:r>
          </a:p>
          <a:p>
            <a:r>
              <a:t>- Was the EDA purposeful or random?</a:t>
            </a:r>
          </a:p>
          <a:p>
            <a:r>
              <a:t>- Did they identify the right signals early?</a:t>
            </a:r>
          </a:p>
          <a:p>
            <a:r>
              <a:t>- Do they know how to handle the pre-existing user problem?</a:t>
            </a:r>
          </a:p>
          <a:p>
            <a:endParaRPr/>
          </a:p>
          <a:p>
            <a:r>
              <a:t>LIKELY FOLLOW-UP:</a:t>
            </a:r>
          </a:p>
          <a:p>
            <a:r>
              <a:t>Q: Why not exclude pre-existing users from the loyalty definition too?</a:t>
            </a:r>
          </a:p>
          <a:p>
            <a:r>
              <a:t>A: Because more data is better when building the definition. The tenure approximation (using June 1 as a proxy start date) slightly underestimates tenure for pre-existing users, but this makes the loyalty bar marginally harder to clear — which is conservative and acceptable. For the ML model, I need clean feature windows so I restrict to new users there.</a:t>
            </a:r>
          </a:p>
          <a:p>
            <a:endParaRPr/>
          </a:p>
          <a:p>
            <a:r>
              <a:t>TRANSITION: "Now let me get to the most important part — how I defined loyalty."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LOYALTY DEFINITION (approx. 3 minutes — spend the most time here)</a:t>
            </a:r>
          </a:p>
          <a:p>
            <a:endParaRPr/>
          </a:p>
          <a:p>
            <a:r>
              <a:t>SAY:</a:t>
            </a:r>
          </a:p>
          <a:p>
            <a:r>
              <a:t>"This is the most important slide in the deck. Everything downstream — the features, the model, the segments — flows from this definition. So let me explain each component and the reasoning behind it."</a:t>
            </a:r>
          </a:p>
          <a:p>
            <a:endParaRPr/>
          </a:p>
          <a:p>
            <a:r>
              <a:t>"The first four are hard requirements that every loyal customer must satisfy. Frequency: at least 2 purchases per month. This isn't arbitrary — there's a natural elbow in the distribution between 1.5 and 2.0, below which users are buying once a month or less, which is more consistent with occasional use than a habit."</a:t>
            </a:r>
          </a:p>
          <a:p>
            <a:endParaRPr/>
          </a:p>
          <a:p>
            <a:r>
              <a:t>"Spend: at least 10,000 JPY per month. This sits above the mean of 6,000 JPY and captures the top 16% of spenders. Below this, spend levels could easily reflect one-off purchases."</a:t>
            </a:r>
          </a:p>
          <a:p>
            <a:endParaRPr/>
          </a:p>
          <a:p>
            <a:r>
              <a:t>"Recency: last purchase within 2 months. This is about keeping the label current. If we're giving rewards to loyal customers, inactive users shouldn't keep receiving them."</a:t>
            </a:r>
          </a:p>
          <a:p>
            <a:endParaRPr/>
          </a:p>
          <a:p>
            <a:r>
              <a:t>"Registration: minimum 3 months. This is a business rule, not a data threshold. Without it, a user who joins in December and goes on a Christmas shopping spree can clear all the other thresholds on one month of seasonal behaviour. I found 419 December joiners who would have been classified as loyal under the other criteria alone — with at most 1 month of data. That's clearly wrong."</a:t>
            </a:r>
          </a:p>
          <a:p>
            <a:endParaRPr/>
          </a:p>
          <a:p>
            <a:r>
              <a:t>"The fifth component — platform loyalty — is where it gets interesting. I designed two separate paths. Path A is merchant breadth: has the customer used Spendy at more than one shop? Path B is sustained engagement: has the customer been active in 6 out of 7 months? Either path demonstrates genuine platform affinity."</a:t>
            </a:r>
          </a:p>
          <a:p>
            <a:endParaRPr/>
          </a:p>
          <a:p>
            <a:r>
              <a:t>"Why two paths? Because 75% of users shop at only one merchant. If breadth were the only route, we'd exclude a large group of highly consistent users. But a customer who comes back to Spendy every single month across 7 months — even at one shop — has demonstrated exactly the same loyalty signal, just expressed differently."</a:t>
            </a:r>
          </a:p>
          <a:p>
            <a:endParaRPr/>
          </a:p>
          <a:p>
            <a:r>
              <a:t>"The 4.6% result sounds low, but it's intentional. When real monetary rewards are attached to a label, the cost of a false positive is real. A loyalty programme covering 30% of users isn't a loyalty programme — it's a blanket discount scheme."</a:t>
            </a:r>
          </a:p>
          <a:p>
            <a:endParaRPr/>
          </a:p>
          <a:p>
            <a:r>
              <a:t>INTERVIEWER IS THINKING:</a:t>
            </a:r>
          </a:p>
          <a:p>
            <a:r>
              <a:t>- Is this definition rigorous or arbitrary?</a:t>
            </a:r>
          </a:p>
          <a:p>
            <a:r>
              <a:t>- Did they think about the business cost of misclassification?</a:t>
            </a:r>
          </a:p>
          <a:p>
            <a:r>
              <a:t>- Do they understand the Brand Loyalist Problem deeply?</a:t>
            </a:r>
          </a:p>
          <a:p>
            <a:r>
              <a:t>- Is the OR condition well-reasoned?</a:t>
            </a:r>
          </a:p>
          <a:p>
            <a:endParaRPr/>
          </a:p>
          <a:p>
            <a:r>
              <a:t>LIKELY FOLLOW-UP QUESTIONS:</a:t>
            </a:r>
          </a:p>
          <a:p>
            <a:r>
              <a:t>Q: Why is the frequency threshold 2 and not 1.5 or 3?</a:t>
            </a:r>
          </a:p>
          <a:p>
            <a:r>
              <a:t>A: The distribution shows a natural elbow between 1.5 and 2.0. Below 2, the density is much higher — many occasional users cluster there. At 2, we're capturing users who have made buying on Spendy a genuine habit. The exact number is a business decision that can be calibrated based on reward programme economics.</a:t>
            </a:r>
          </a:p>
          <a:p>
            <a:endParaRPr/>
          </a:p>
          <a:p>
            <a:r>
              <a:t>Q: Could you have defined loyalty differently?</a:t>
            </a:r>
          </a:p>
          <a:p>
            <a:r>
              <a:t>A: Absolutely — see backup slide A. I considered simpler definitions (top-N% by spend, RFM scoring, engagement tiers) but rejected them because they either don't solve the Brand Loyalist Problem or they're too opaque to be actionable for marketing.</a:t>
            </a:r>
          </a:p>
          <a:p>
            <a:endParaRPr/>
          </a:p>
          <a:p>
            <a:r>
              <a:t>Q: Why is the 4.6% loyalty rate acceptable?</a:t>
            </a:r>
          </a:p>
          <a:p>
            <a:r>
              <a:t>A: Because the definition is conservative by design. Every user who clears all requirements has demonstrated loyalty across multiple dimensions simultaneously. If the business wants broader coverage, the thresholds can be relaxed — but that's a product decision that depends on the reward structure, not a data science decision.</a:t>
            </a:r>
          </a:p>
          <a:p>
            <a:endParaRPr/>
          </a:p>
          <a:p>
            <a:r>
              <a:t>Q: Is the OR condition principled or just to boost numbers?</a:t>
            </a:r>
          </a:p>
          <a:p>
            <a:r>
              <a:t>A: It's principled. The two paths represent fundamentally different expressions of the same underlying construct — platform affinity. Breadth shows it spatially (across merchants), depth shows it temporally (across months). A customer who misses only one month in 7 has demonstrated more consistent platform engagement than a customer who visited 2 shops but was only active for 2 months. The OR condition was not added to inflate numbers — the combined "either" qualification rate is only 28.5%.</a:t>
            </a:r>
          </a:p>
          <a:p>
            <a:endParaRPr/>
          </a:p>
          <a:p>
            <a:r>
              <a:t>TRANSITION: "Now that we have a loyalty label, let me show you how I translated this into machine-learning features."</a:t>
            </a:r>
          </a:p>
          <a:p>
            <a:endParaRPr/>
          </a:p>
          <a:p>
            <a:r>
              <a:t>[MOVED FROM SLIDE]</a:t>
            </a:r>
          </a:p>
          <a:p>
            <a:r>
              <a:t>Rationale sentences removed from slide (moved here):</a:t>
            </a:r>
          </a:p>
          <a:p>
            <a:r>
              <a:t>1. Freq: Elbow in distribution between 1.5-2.0 signals genuine habit vs occasional use.</a:t>
            </a:r>
          </a:p>
          <a:p>
            <a:r>
              <a:t>2. Spend: Sits above the mean (Y6K). Below this, spend could reflect one-off transactions.</a:t>
            </a:r>
          </a:p>
          <a:p>
            <a:r>
              <a:t>3. Recency: Ensures rewards go to active users, not historical loyalists who have disengaged.</a:t>
            </a:r>
          </a:p>
          <a:p>
            <a:r>
              <a:t>4. Registration: Prevents Christmas gift spike: December joiners have &lt;=1 month of data.</a:t>
            </a:r>
          </a:p>
          <a:p>
            <a:r>
              <a:t>Path A: Deliberately low bar — the signal is the ACT of bringing Spendy to a new merchant context.</a:t>
            </a:r>
          </a:p>
          <a:p>
            <a:r>
              <a:t>Path B: Missing only one month across 7 months is a stronger loyalty signal than visiting 2 shops but being inactive.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FEATURE ENGINEERING (approx. 90 seconds)</a:t>
            </a:r>
          </a:p>
          <a:p>
            <a:endParaRPr/>
          </a:p>
          <a:p>
            <a:r>
              <a:t>SAY:</a:t>
            </a:r>
          </a:p>
          <a:p>
            <a:r>
              <a:t>"Every feature in the model directly maps back to a component of the loyalty definition. There's no arbitrary feature engineering here — each one has a clear hypothesis."</a:t>
            </a:r>
          </a:p>
          <a:p>
            <a:endParaRPr/>
          </a:p>
          <a:p>
            <a:r>
              <a:t>"The most important design decision was the 60-day window. Marketing needs to act after month 2. So I can only use data from the first 60 days as input. Using anything beyond that would be data leakage — the model would be using future information to predict the future."</a:t>
            </a:r>
          </a:p>
          <a:p>
            <a:endParaRPr/>
          </a:p>
          <a:p>
            <a:r>
              <a:t>"Let me walk through each feature quickly. Frequency rate and spend rate are direct proxies for the two primary loyalty thresholds. Unique shops in the first 60 days captures early merchant exploration — if a user has already visited two shops in month 2, that's a very strong signal. Days since last purchase within the window captures whether engagement is fading — a user whose last purchase was day 5 of 60 may be dropping off. And the spend month comparison is a trend feature: is spend growing from month 1 to month 2? That directional signal is a leading indicator of whether the user will eventually clear the spend threshold."</a:t>
            </a:r>
          </a:p>
          <a:p>
            <a:endParaRPr/>
          </a:p>
          <a:p>
            <a:r>
              <a:t>"Note that the sustained activity feature — 6+ months active — cannot be captured in 60 days by definition. The spend trend feature partially compensates by detecting early momentum."</a:t>
            </a:r>
          </a:p>
          <a:p>
            <a:endParaRPr/>
          </a:p>
          <a:p>
            <a:r>
              <a:t>INTERVIEWER IS THINKING:</a:t>
            </a:r>
          </a:p>
          <a:p>
            <a:r>
              <a:t>- Did they think carefully about data leakage?</a:t>
            </a:r>
          </a:p>
          <a:p>
            <a:r>
              <a:t>- Is feature construction principled or exploratory?</a:t>
            </a:r>
          </a:p>
          <a:p>
            <a:r>
              <a:t>- Are there obvious features they missed?</a:t>
            </a:r>
          </a:p>
          <a:p>
            <a:endParaRPr/>
          </a:p>
          <a:p>
            <a:r>
              <a:t>LIKELY FOLLOW-UP:</a:t>
            </a:r>
          </a:p>
          <a:p>
            <a:r>
              <a:t>Q: Why didn't you include more features like time of day, day of week, etc.?</a:t>
            </a:r>
          </a:p>
          <a:p>
            <a:r>
              <a:t>A: The dataset doesn't include those dimensions. Given only price, timestamp, user ID, and shop ID, these five features represent the most informative signals available. With richer data — categories, demographics, campaign interactions — the feature set would expand significantly.</a:t>
            </a:r>
          </a:p>
          <a:p>
            <a:endParaRPr/>
          </a:p>
          <a:p>
            <a:r>
              <a:t>Q: Did you test for multicollinearity between spend features?</a:t>
            </a:r>
          </a:p>
          <a:p>
            <a:r>
              <a:t>A: Yes — spend_rate_2m and spend_month_comparison are correlated since both are spend-derived. Random Forest handles correlated features naturally because it sub-samples features at each split. This would be a concern with logistic regression.</a:t>
            </a:r>
          </a:p>
          <a:p>
            <a:endParaRPr/>
          </a:p>
          <a:p>
            <a:r>
              <a:t>Q: How did you handle users who had no activity in month 1 or month 2?</a:t>
            </a:r>
          </a:p>
          <a:p>
            <a:r>
              <a:t>A: The spend_month_comparison feature uses a +1 denominator (spend_month1 + 1) to avoid division by zero. Users with zero month-1 spend get a spend_month_comparison of 0, which is a valid signal.</a:t>
            </a:r>
          </a:p>
          <a:p>
            <a:endParaRPr/>
          </a:p>
          <a:p>
            <a:r>
              <a:t>TRANSITION: "With features defined, I needed to choose a model. Let me explain why Random Forest."</a:t>
            </a:r>
          </a:p>
          <a:p>
            <a:endParaRPr/>
          </a:p>
          <a:p>
            <a:r>
              <a:t>[MOVED FROM SLIDE]</a:t>
            </a:r>
          </a:p>
          <a:p>
            <a:r>
              <a:t>WHY 60 DAYS (full text):</a:t>
            </a:r>
          </a:p>
          <a:p>
            <a:r>
              <a:t>At prediction time, marketing has exactly 2 months of data per new user. Using any data beyond day 60 would be data leakage — the model would know the future. The first 60 days are also the moment of maximum leverage: habits are still forming.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MODEL SELECTION (approx. 90 seconds)</a:t>
            </a:r>
          </a:p>
          <a:p>
            <a:endParaRPr/>
          </a:p>
          <a:p>
            <a:r>
              <a:t>SAY:</a:t>
            </a:r>
          </a:p>
          <a:p>
            <a:r>
              <a:t>"The model choice was driven entirely by the structure of the problem, not by default or convention."</a:t>
            </a:r>
          </a:p>
          <a:p>
            <a:endParaRPr/>
          </a:p>
          <a:p>
            <a:r>
              <a:t>"The loyalty definition is built on hard thresholds. A user either crosses 2 purchases per month or they don't — the relationship is a step function, not a straight line. Random Forest learns through decision tree splits, which naturally mirror this kind of threshold logic. Logistic Regression assumes a smooth, linear relationship between features and the outcome, which doesn't match how this label was constructed."</a:t>
            </a:r>
          </a:p>
          <a:p>
            <a:endParaRPr/>
          </a:p>
          <a:p>
            <a:r>
              <a:t>"The features also have a scale problem — spend can go up to 260,000 JPY while frequency sits between 0 and 65. And spend features are correlated with each other. Both of these hurt logistic regression; Random Forest handles them out of the box."</a:t>
            </a:r>
          </a:p>
          <a:p>
            <a:endParaRPr/>
          </a:p>
          <a:p>
            <a:r>
              <a:t>"One deliberate choice: I used class_weight='balanced' because only 3.2% of training users are loyal. Without it, the model could just predict everyone as not loyal and be 96.8% accurate while being completely useless. The balanced weight increases the cost of missing a loyal user during training — which is the right trade-off for this business use case."</a:t>
            </a:r>
          </a:p>
          <a:p>
            <a:endParaRPr/>
          </a:p>
          <a:p>
            <a:r>
              <a:t>INTERVIEWER IS THINKING:</a:t>
            </a:r>
          </a:p>
          <a:p>
            <a:r>
              <a:t>- Do they understand why RF fits this specific problem?</a:t>
            </a:r>
          </a:p>
          <a:p>
            <a:r>
              <a:t>- Do they know the limitations of their model choice?</a:t>
            </a:r>
          </a:p>
          <a:p>
            <a:r>
              <a:t>- Is their class imbalance handling principled?</a:t>
            </a:r>
          </a:p>
          <a:p>
            <a:endParaRPr/>
          </a:p>
          <a:p>
            <a:r>
              <a:t>LIKELY FOLLOW-UP:</a:t>
            </a:r>
          </a:p>
          <a:p>
            <a:r>
              <a:t>Q: Did you try Gradient Boosting or XGBoost?</a:t>
            </a:r>
          </a:p>
          <a:p>
            <a:r>
              <a:t>A: Not in this iteration — see backup slide B. RF was chosen as a strong, interpretable baseline. GBM would likely improve AUC further, especially given the class imbalance, and it's the obvious next step. Hyperparameter sensitivity is the main trade-off.</a:t>
            </a:r>
          </a:p>
          <a:p>
            <a:endParaRPr/>
          </a:p>
          <a:p>
            <a:r>
              <a:t>Q: Did you tune hyperparameters?</a:t>
            </a:r>
          </a:p>
          <a:p>
            <a:r>
              <a:t>A: I used 100 estimators with default max_features and max_depth for the baseline. Given the ROC-AUC of 0.912, the baseline is strong. A grid search over max_depth, min_samples_split, and n_estimators would be the natural next step.</a:t>
            </a:r>
          </a:p>
          <a:p>
            <a:endParaRPr/>
          </a:p>
          <a:p>
            <a:r>
              <a:t>Q: Why not a neural network?</a:t>
            </a:r>
          </a:p>
          <a:p>
            <a:r>
              <a:t>A: With 34K training examples and 5 features, a neural network would overfit and offer no interpretability advantage. The problem doesn't have the dimensionality or data volume that neural networks require.</a:t>
            </a:r>
          </a:p>
          <a:p>
            <a:endParaRPr/>
          </a:p>
          <a:p>
            <a:r>
              <a:t>TRANSITION: "Let me show you how the model actually performed."</a:t>
            </a:r>
          </a:p>
          <a:p>
            <a:endParaRPr/>
          </a:p>
          <a:p>
            <a:r>
              <a:t>[MOVED FROM SLIDE]</a:t>
            </a:r>
          </a:p>
          <a:p>
            <a:r>
              <a:t>RF reason body text (full versions moved here):</a:t>
            </a:r>
          </a:p>
          <a:p>
            <a:r>
              <a:t>The loyalty label is built on hard thresholds (≥2/month, ≥¥10K). The feature-to-label relationship is inherently step-wise, not linear. Random Forest mirrors this through decision splits — it learns exactly this type of rule.</a:t>
            </a:r>
          </a:p>
          <a:p>
            <a:r>
              <a:t>---</a:t>
            </a:r>
          </a:p>
          <a:p>
            <a:r>
              <a:t>A user with high frequency AND high spend is very different from a user with only one of those. Random Forest captures joint conditions naturally. Logistic Regression cannot do this without manual interaction terms.</a:t>
            </a:r>
          </a:p>
          <a:p>
            <a:r>
              <a:t>---</a:t>
            </a:r>
          </a:p>
          <a:p>
            <a:r>
              <a:t>spend_rate_2m (0–260K JPY) and freq_rate_2m (0–65) are on very different scales. spend_rate_2m and spend_month_comparison are correlated. Random Forest requires no normalisation and handles correlated features through feature sub-sampling.</a:t>
            </a:r>
          </a:p>
          <a:p>
            <a:r>
              <a:t>---</a:t>
            </a:r>
          </a:p>
          <a:p>
            <a:r>
              <a:t>predict_proba() gives a calibrated score per customer — not just a class label. Marketing needs a ranked list, not a binary split.</a:t>
            </a:r>
          </a:p>
          <a:p>
            <a:r>
              <a:t>---</a:t>
            </a:r>
          </a:p>
          <a:p>
            <a:r>
              <a:t>Feature importances give marketing and product stakeholders a simple, honest explanation of what the model responds to — no black box.</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MODEL PERFORMANCE (approx. 90 seconds)</a:t>
            </a:r>
          </a:p>
          <a:p>
            <a:endParaRPr/>
          </a:p>
          <a:p>
            <a:r>
              <a:t>SAY:</a:t>
            </a:r>
          </a:p>
          <a:p>
            <a:r>
              <a:t>"The model achieved a ROC-AUC of 0.912. Let me explain what that means before I get into the confusion matrix."</a:t>
            </a:r>
          </a:p>
          <a:p>
            <a:endParaRPr/>
          </a:p>
          <a:p>
            <a:r>
              <a:t>"With 96.8% of users being not loyal, accuracy is a completely misleading metric. A model that predicts 'not loyal' for everyone scores 96.8% and tells you nothing. ROC-AUC measures something actually useful: how well the model ranks a loyal user above a non-loyal one across all possible thresholds. 0.912 means it does this correctly 91% of the time."</a:t>
            </a:r>
          </a:p>
          <a:p>
            <a:endParaRPr/>
          </a:p>
          <a:p>
            <a:r>
              <a:t>"The confusion matrix shows we correctly identify 132 loyal users out of 222 in the test set — a recall of 0.45 — while generating 234 false positives. For marketing, this means roughly 1 in 3 users flagged as loyal actually is, which is still far better than random."</a:t>
            </a:r>
          </a:p>
          <a:p>
            <a:endParaRPr/>
          </a:p>
          <a:p>
            <a:r>
              <a:t>"Feature importances are the sanity check I always run. Spend dominates at 42%, frequency is second at 28% — exactly what we'd expect from the loyalty definition. If an unexpected feature like shop ID or timestamp had dominated, that would be a data leakage flag. The fact that the model's top features mirror the loyalty components exactly tells me the model is learning something real."</a:t>
            </a:r>
          </a:p>
          <a:p>
            <a:endParaRPr/>
          </a:p>
          <a:p>
            <a:r>
              <a:t>INTERVIEWER IS THINKING:</a:t>
            </a:r>
          </a:p>
          <a:p>
            <a:r>
              <a:t>- Do they understand why ROC-AUC matters here and not accuracy?</a:t>
            </a:r>
          </a:p>
          <a:p>
            <a:r>
              <a:t>- Do they know how to interpret the trade-off between precision and recall?</a:t>
            </a:r>
          </a:p>
          <a:p>
            <a:r>
              <a:t>- Are they watching for data leakage?</a:t>
            </a:r>
          </a:p>
          <a:p>
            <a:endParaRPr/>
          </a:p>
          <a:p>
            <a:r>
              <a:t>LIKELY FOLLOW-UP:</a:t>
            </a:r>
          </a:p>
          <a:p>
            <a:r>
              <a:t>Q: Recall of 0.45 means you're missing 55% of loyal users — isn't that a problem?</a:t>
            </a:r>
          </a:p>
          <a:p>
            <a:r>
              <a:t>A: It's a known limitation driven by class imbalance. With only 3.2% positive rate, the model has very few examples to learn from. The trade-off is that class_weight='balanced' already improves recall at the cost of precision. In practice, the High likelihood segment (probability &gt; 0.66) has an 83.9% observed loyalty rate — so for the most confident predictions, the model is very good. The missed loyal users likely fall into the Medium segment, where targeted campaigns can still help.</a:t>
            </a:r>
          </a:p>
          <a:p>
            <a:endParaRPr/>
          </a:p>
          <a:p>
            <a:r>
              <a:t>Q: How would you improve recall?</a:t>
            </a:r>
          </a:p>
          <a:p>
            <a:r>
              <a:t>A: Several approaches: (1) Adjust the classification threshold — lower it from 0.5 to increase recall at the cost of precision. (2) Try SMOTE or other resampling techniques. (3) Use Gradient Boosting, which often handles imbalanced data better. (4) Collect more data — more loyal users in training improves recall naturally.</a:t>
            </a:r>
          </a:p>
          <a:p>
            <a:endParaRPr/>
          </a:p>
          <a:p>
            <a:r>
              <a:t>TRANSITION: "Now the model isn't just about performance numbers — it's about what marketing does with the output."</a:t>
            </a:r>
          </a:p>
          <a:p>
            <a:endParaRPr/>
          </a:p>
          <a:p>
            <a:r>
              <a:t>[MOVED FROM SLIDE]</a:t>
            </a:r>
          </a:p>
          <a:p>
            <a:r>
              <a:t>KEY INSIGHT full text (moved here):</a:t>
            </a:r>
          </a:p>
          <a:p>
            <a:r>
              <a:t>KEY INSIGHT</a:t>
            </a:r>
          </a:p>
          <a:p>
            <a:endParaRPr/>
          </a:p>
          <a:p>
            <a:r>
              <a:t>Recall 0.45: model catches 45% of loyal users — the remaining 55% are missed. class_weight='balanced' was the right trade-off but recall improvement is the #1 future priority.</a:t>
            </a:r>
          </a:p>
          <a:p>
            <a:endParaRPr/>
          </a:p>
          <a:p>
            <a:r>
              <a:t>Precision 0.34: of users flagged as loyal, 34% are correct — giving marketing a 3:1 signal-to-noise ratio in the high segment.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BUSINESS SEGMENTATION (approx. 90 seconds)</a:t>
            </a:r>
          </a:p>
          <a:p>
            <a:endParaRPr/>
          </a:p>
          <a:p>
            <a:r>
              <a:t>SAY:</a:t>
            </a:r>
          </a:p>
          <a:p>
            <a:r>
              <a:t>"The model output isn't just a prediction — it's a prioritisation tool. I've segmented new customers into three groups based on their loyalty probability score, and each segment has a fundamentally different marketing response."</a:t>
            </a:r>
          </a:p>
          <a:p>
            <a:endParaRPr/>
          </a:p>
          <a:p>
            <a:r>
              <a:t>"High likelihood — 2,135 users with scores above 66%. The observed loyalty rate in this group is 83.9%. These users are essentially already on the path to loyalty. The right response is reinforcement: early loyalty tier access, exclusive offers, a referral programme. Don't over-communicate — they're engaged."</a:t>
            </a:r>
          </a:p>
          <a:p>
            <a:endParaRPr/>
          </a:p>
          <a:p>
            <a:r>
              <a:t>"Medium likelihood — 6,060 users scoring between 33 and 66%. This is where I'd concentrate the most marketing investment. They're showing platform interest but haven't cleared the loyalty bar. A well-targeted incentive — a spend cashback, a merchant discovery prompt — might be exactly what tips them over."</a:t>
            </a:r>
          </a:p>
          <a:p>
            <a:endParaRPr/>
          </a:p>
          <a:p>
            <a:r>
              <a:t>"Low likelihood — 26,225 users below 33%. Observed loyalty rate of just 1%. This doesn't mean you ignore them entirely, but the cost of converting a low-likelihood user likely exceeds the value. A light re-engagement test is worthwhile, but this is where budget reallocation away from spray-and-pray marketing creates real savings."</a:t>
            </a:r>
          </a:p>
          <a:p>
            <a:endParaRPr/>
          </a:p>
          <a:p>
            <a:r>
              <a:t>"Notice that the number of users in each segment itself is a business insight. The fact that only 2,135 users are high likelihood tells you the total addressable loyalty population — which feeds directly into rewards programme sizing."</a:t>
            </a:r>
          </a:p>
          <a:p>
            <a:endParaRPr/>
          </a:p>
          <a:p>
            <a:r>
              <a:t>INTERVIEWER IS THINKING:</a:t>
            </a:r>
          </a:p>
          <a:p>
            <a:r>
              <a:t>- Can this person translate model outputs into actual marketing decisions?</a:t>
            </a:r>
          </a:p>
          <a:p>
            <a:r>
              <a:t>- Are the segment boundaries principled or arbitrary?</a:t>
            </a:r>
          </a:p>
          <a:p>
            <a:r>
              <a:t>- Do they understand the budget implications?</a:t>
            </a:r>
          </a:p>
          <a:p>
            <a:endParaRPr/>
          </a:p>
          <a:p>
            <a:r>
              <a:t>LIKELY FOLLOW-UP:</a:t>
            </a:r>
          </a:p>
          <a:p>
            <a:r>
              <a:t>Q: How did you choose 33% and 66% as threshold boundaries?</a:t>
            </a:r>
          </a:p>
          <a:p>
            <a:r>
              <a:t>A: These are initial thresholds for a production prototype. In practice, the thresholds should be set based on the economics of the rewards programme — the margin per loyal customer, the cost per campaign, and the estimated conversion lift per segment. If rewards are high-value, you'd tighten the High segment threshold. If campaigns are cheap, you'd extend the Medium segment range.</a:t>
            </a:r>
          </a:p>
          <a:p>
            <a:endParaRPr/>
          </a:p>
          <a:p>
            <a:r>
              <a:t>Q: What's the expected revenue impact of the Medium segment?</a:t>
            </a:r>
          </a:p>
          <a:p>
            <a:r>
              <a:t>A: With ~6,060 users at 6.3% baseline loyalty and estimated campaign lift of 2-3 percentage points, a successful nudge campaign would convert ~180 additional users to loyal status. Depending on LTV uplift per loyal user, that translates to a concrete ROI calculation.</a:t>
            </a:r>
          </a:p>
          <a:p>
            <a:endParaRPr/>
          </a:p>
          <a:p>
            <a:r>
              <a:t>TRANSITION: "Let me put all of this together in terms of what this actually delivers for the business."</a:t>
            </a:r>
          </a:p>
          <a:p>
            <a:endParaRPr/>
          </a:p>
          <a:p>
            <a:r>
              <a:t>[MOVED FROM SLIDE]</a:t>
            </a:r>
          </a:p>
          <a:p>
            <a:r>
              <a:t>Segment business notes (moved here):</a:t>
            </a:r>
          </a:p>
          <a:p>
            <a:r>
              <a:t>Lowest CAC priority. Cost of converting these users likely exceeds lifetime value uplift.</a:t>
            </a:r>
          </a:p>
          <a:p>
            <a:r>
              <a:t>Highest ROI opportunity. Already showing platform interest — one incentive may tip them to loyal.</a:t>
            </a:r>
          </a:p>
          <a:p>
            <a:r>
              <a:t>4 in 5 users in this segment become loyal. High confidence — invest in retention, not conversion.</a:t>
            </a:r>
          </a:p>
          <a:p>
            <a:endParaRPr/>
          </a:p>
          <a:p>
            <a:r>
              <a:t>Removed tactics:</a:t>
            </a:r>
          </a:p>
          <a:p>
            <a:r>
              <a:t>→  Monitor for natural recovery — some will self-convert</a:t>
            </a:r>
          </a:p>
          <a:p>
            <a:r>
              <a:t>→  Streak reward: reward consecutive month activity</a:t>
            </a:r>
          </a:p>
          <a:p>
            <a:r>
              <a:t>→  Minimal friction: don't over-communicate — they're already engaged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BUSINESS IMPACT (approx. 60–90 seconds)</a:t>
            </a:r>
          </a:p>
          <a:p>
            <a:endParaRPr/>
          </a:p>
          <a:p>
            <a:r>
              <a:t>SAY:</a:t>
            </a:r>
          </a:p>
          <a:p>
            <a:r>
              <a:t>"Let me summarise what this framework actually delivers versus the status quo."</a:t>
            </a:r>
          </a:p>
          <a:p>
            <a:endParaRPr/>
          </a:p>
          <a:p>
            <a:r>
              <a:t>"Before this analysis, Spendy had no clear definition of what loyalty means for their platform. Marketing was treating all new users the same, risking rewarding merchant-loyal users and missing early interventions on genuinely platform-loyal customers."</a:t>
            </a:r>
          </a:p>
          <a:p>
            <a:endParaRPr/>
          </a:p>
          <a:p>
            <a:r>
              <a:t>"After this framework: we have a rigorous, multi-dimensional loyalty definition that explicitly solves the Brand Loyalist Problem. We have three distinct customer segments available at month 2 — months before the outcome is visible. And we have a High segment where 83.9% of flagged users actually become loyal."</a:t>
            </a:r>
          </a:p>
          <a:p>
            <a:endParaRPr/>
          </a:p>
          <a:p>
            <a:r>
              <a:t>"The key business insight here is timing. The earlier you can identify a high-value customer, the cheaper it is to cement that relationship. A month-2 loyalty prediction enables interventions during the habit-formation window — when the customer's behaviour is still malleable. By month 6 or 7, they've either become loyal or they haven't, and marketing is catching up to an outcome rather than shaping one."</a:t>
            </a:r>
          </a:p>
          <a:p>
            <a:endParaRPr/>
          </a:p>
          <a:p>
            <a:r>
              <a:t>INTERVIEWER IS THINKING:</a:t>
            </a:r>
          </a:p>
          <a:p>
            <a:r>
              <a:t>- Can they frame technical work in terms of business value?</a:t>
            </a:r>
          </a:p>
          <a:p>
            <a:r>
              <a:t>- Do they understand LTV and customer acquisition cost dynamics?</a:t>
            </a:r>
          </a:p>
          <a:p>
            <a:r>
              <a:t>- Is the ROI story coherent?</a:t>
            </a:r>
          </a:p>
          <a:p>
            <a:endParaRPr/>
          </a:p>
          <a:p>
            <a:r>
              <a:t>LIKELY FOLLOW-UP:</a:t>
            </a:r>
          </a:p>
          <a:p>
            <a:r>
              <a:t>Q: How would you measure the ROI of this system?</a:t>
            </a:r>
          </a:p>
          <a:p>
            <a:r>
              <a:t>A: The ideal test is an A/B experiment: randomly split a new user cohort into two groups. The control group receives standard marketing. The treatment group receives segment-differentiated campaigns based on the model score. After 6 months, compare loyalty rates and LTV per user between groups. The difference represents the causal impact of the model.</a:t>
            </a:r>
          </a:p>
          <a:p>
            <a:endParaRPr/>
          </a:p>
          <a:p>
            <a:r>
              <a:t>Q: What's the risk if the model is wrong?</a:t>
            </a:r>
          </a:p>
          <a:p>
            <a:r>
              <a:t>A: A false positive in the High segment means investing in a user who doesn't become loyal — a wasted reward. A false negative means missing a genuinely loyal user — a missed opportunity. At 83.9% precision in High, the false positive rate is acceptable for most reward structures. The bigger risk is over-relying on the Low segment classification — those users haven't been written off, just deprioritised.</a:t>
            </a:r>
          </a:p>
          <a:p>
            <a:endParaRPr/>
          </a:p>
          <a:p>
            <a:r>
              <a:t>TRANSITION: "No model is complete without an honest assessment of its limitations. Let me be direct about what's missing."</a:t>
            </a:r>
          </a:p>
          <a:p>
            <a:endParaRPr/>
          </a:p>
          <a:p>
            <a:r>
              <a:t>[MOVED FROM SLIDE]</a:t>
            </a:r>
          </a:p>
          <a:p>
            <a:r>
              <a:t>Strategic Implication (full text):</a:t>
            </a:r>
          </a:p>
          <a:p>
            <a:r>
              <a:t>This framework enables Spendy to concentrate retention spend on users most likely to deliver long-term platform value — not all new users equally. The earlier the intervention, the cheaper the conversion. Month 2 is the optimal window: habits are forming, but the customer hasn't yet committed to a pattern.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LIMITATIONS &amp; IMPROVEMENTS (approx. 90 seconds)</a:t>
            </a:r>
          </a:p>
          <a:p>
            <a:endParaRPr/>
          </a:p>
          <a:p>
            <a:r>
              <a:t>SAY:</a:t>
            </a:r>
          </a:p>
          <a:p>
            <a:r>
              <a:t>"Every model has limitations, and being honest about them is as important as presenting the results. Let me walk through the five I'd flag."</a:t>
            </a:r>
          </a:p>
          <a:p>
            <a:endParaRPr/>
          </a:p>
          <a:p>
            <a:r>
              <a:t>"First: the thresholds in the loyalty definition are data-informed heuristics, not optimised against a business metric. If Spendy has LTV data, the right approach would be to back-solve from 'what is a loyal customer worth?' to 'what thresholds best predict that value?'"</a:t>
            </a:r>
          </a:p>
          <a:p>
            <a:endParaRPr/>
          </a:p>
          <a:p>
            <a:r>
              <a:t>"Second: recall of 45% means we're missing more than half of loyal users. The practical fix is testing Gradient Boosting models and calibrating the classification threshold. In the meantime, the missed loyal users likely appear in the Medium segment — where campaigns can still help."</a:t>
            </a:r>
          </a:p>
          <a:p>
            <a:endParaRPr/>
          </a:p>
          <a:p>
            <a:r>
              <a:t>"Third: we're working with a very sparse feature set — 5 features from 3 raw columns. The sustained engagement signal (6+ months of activity) cannot be captured in 60 days by definition. Richer data — categories, demographics, campaign responses — would meaningfully improve performance."</a:t>
            </a:r>
          </a:p>
          <a:p>
            <a:endParaRPr/>
          </a:p>
          <a:p>
            <a:r>
              <a:t>"Fourth: we're validating on one 7-month window from 2020. Seasonal effects, COVID disruption, and platform maturity all affect these results. Longitudinal validation is essential before production deployment."</a:t>
            </a:r>
          </a:p>
          <a:p>
            <a:endParaRPr/>
          </a:p>
          <a:p>
            <a:r>
              <a:t>"Fifth: the 33/66% segment thresholds are heuristic. In production, these should be optimised based on reward programme economics — at what probability does the marginal revenue from loyal conversion exceed the campaign cost?"</a:t>
            </a:r>
          </a:p>
          <a:p>
            <a:endParaRPr/>
          </a:p>
          <a:p>
            <a:r>
              <a:t>INTERVIEWER IS THINKING:</a:t>
            </a:r>
          </a:p>
          <a:p>
            <a:r>
              <a:t>- Are they self-aware about what they built?</a:t>
            </a:r>
          </a:p>
          <a:p>
            <a:r>
              <a:t>- Do they know what the next steps look like?</a:t>
            </a:r>
          </a:p>
          <a:p>
            <a:r>
              <a:t>- Would I trust them to deploy this in production without supervision?</a:t>
            </a:r>
          </a:p>
          <a:p>
            <a:endParaRPr/>
          </a:p>
          <a:p>
            <a:r>
              <a:t>THIS IS WHERE GOOD CANDIDATES STAND OUT:</a:t>
            </a:r>
          </a:p>
          <a:p>
            <a:r>
              <a:t>Proactively raising limitations signals scientific integrity and production maturity. Interviewers expect you to know what's wrong with your model — the question is whether you'll tell them.</a:t>
            </a:r>
          </a:p>
          <a:p>
            <a:endParaRPr/>
          </a:p>
          <a:p>
            <a:r>
              <a:t>TRANSITION: "Let me wrap up with the overall conclusion."</a:t>
            </a:r>
          </a:p>
          <a:p>
            <a:endParaRPr/>
          </a:p>
          <a:p>
            <a:r>
              <a:t>[MOVED FROM SLIDE]</a:t>
            </a:r>
          </a:p>
          <a:p>
            <a:r>
              <a:t>Limitation/Fix full texts (moved here):</a:t>
            </a:r>
          </a:p>
          <a:p>
            <a:r>
              <a:t>Run A/B tests with different threshold sets. Calibrate against actual LTV data or reward programme ROI. Consider letting the business define what 'loyal' is worth and back-solve to thresholds.</a:t>
            </a:r>
          </a:p>
          <a:p>
            <a:r>
              <a:t>---</a:t>
            </a:r>
          </a:p>
          <a:p>
            <a:r>
              <a:t>Try SMOTE for oversampling. Test Gradient Boosting (XGBoost, LightGBM) which often performs better on imbalanced data. Calibrate the probability threshold — lowering from 0.5 increases recall at a precision cost.</a:t>
            </a:r>
          </a:p>
          <a:p>
            <a:r>
              <a:t>---</a:t>
            </a:r>
          </a:p>
          <a:p>
            <a:r>
              <a:t>Add: product/shop categories, customer demographics, promotion responses, device data, session behaviour. Each new dimension likely improves recall for the sustainable engagement path.</a:t>
            </a:r>
          </a:p>
          <a:p>
            <a:r>
              <a:t>---</a:t>
            </a:r>
          </a:p>
          <a:p>
            <a:r>
              <a:t>Extend to 2+ years of data. Cross-validate the loyalty definition across cohorts. Add temporal features to capture seasonality. Re-evaluate whether the 4.6% loyalty rate is stable or period-specific.</a:t>
            </a:r>
          </a:p>
          <a:p>
            <a:r>
              <a:t>---</a:t>
            </a:r>
          </a:p>
          <a:p>
            <a:r>
              <a:t>Define thresholds based on expected campaign ROI: at what probability does the expected revenue uplift exceed the reward cost? Use decision theory rather than arbitrary percentile cuts.</a:t>
            </a:r>
          </a:p>
          <a:p>
            <a:r>
              <a:t>---</a:t>
            </a:r>
          </a:p>
          <a:p>
            <a:r>
              <a:t>The observation window is one calendar year (H2 2020). The loyalty definition and model have not been validated on other time periods, seasonality effects, or post-COVID normalisation.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CONCLUSION (approx. 60 seconds)</a:t>
            </a:r>
          </a:p>
          <a:p>
            <a:endParaRPr/>
          </a:p>
          <a:p>
            <a:r>
              <a:t>SAY:</a:t>
            </a:r>
          </a:p>
          <a:p>
            <a:r>
              <a:t>"To bring everything together:"</a:t>
            </a:r>
          </a:p>
          <a:p>
            <a:endParaRPr/>
          </a:p>
          <a:p>
            <a:r>
              <a:t>"Spendy had a fundamental measurement problem — without a clear definition of loyalty, any loyalty programme is built on sand. I started by building that foundation from the data up, with each component earning its place through explicit business reasoning."</a:t>
            </a:r>
          </a:p>
          <a:p>
            <a:endParaRPr/>
          </a:p>
          <a:p>
            <a:r>
              <a:t>"The machine learning model isn't a black box — it's a direct operationalisation of the loyalty definition, using only the data available at month 2. The 0.912 ROC-AUC and 83.9% High segment precision mean the model is ready to drive real marketing decisions today."</a:t>
            </a:r>
          </a:p>
          <a:p>
            <a:endParaRPr/>
          </a:p>
          <a:p>
            <a:r>
              <a:t>"The framework I've built answers three questions that Spendy couldn't answer before: who is genuinely loyal to our platform (not just one merchant), how many loyal customers do we have and how is that changing over time, and which new users are likely to become loyal — and how should we treat them differently right now."</a:t>
            </a:r>
          </a:p>
          <a:p>
            <a:endParaRPr/>
          </a:p>
          <a:p>
            <a:r>
              <a:t>"I'm happy to go deeper on any aspect — the loyalty definition, the model, the segmentation, or how this would look in production."</a:t>
            </a:r>
          </a:p>
          <a:p>
            <a:endParaRPr/>
          </a:p>
          <a:p>
            <a:r>
              <a:t>CLOSING TIP:</a:t>
            </a:r>
          </a:p>
          <a:p>
            <a:r>
              <a:t>End with a strong, direct statement and invite questions. Don't trail off. The last impression is as important as the first.</a:t>
            </a:r>
          </a:p>
          <a:p>
            <a:endParaRPr/>
          </a:p>
          <a:p>
            <a:r>
              <a:t>WHAT INTERVIEWERS REMEMBER:</a:t>
            </a:r>
          </a:p>
          <a:p>
            <a:r>
              <a:t>They will remember whether you owned the room, whether you could explain your reasoning, and whether you demonstrated business thinking alongside technical competence. This conclusion should leave them with a clear sense that you built something useful — not just something clever.</a:t>
            </a:r>
          </a:p>
          <a:p>
            <a:endParaRPr/>
          </a:p>
          <a:p>
            <a:r>
              <a:t>[MOVED FROM SLIDE]</a:t>
            </a:r>
          </a:p>
          <a:p>
            <a:r>
              <a:t>Conclusion full bullet text (moved here):</a:t>
            </a:r>
          </a:p>
          <a:p>
            <a:r>
              <a:t>Spendy needed to distinguish true platform loyalists from merchant-dependent users — and act on that distinction early.</a:t>
            </a:r>
          </a:p>
          <a:p>
            <a:r>
              <a:t>---</a:t>
            </a:r>
          </a:p>
          <a:p>
            <a:r>
              <a:t>A five-component definition grounded in data and business logic: frequency, spend, recency, registration, and platform loyalty (breadth OR depth).</a:t>
            </a:r>
          </a:p>
          <a:p>
            <a:r>
              <a:t>---</a:t>
            </a:r>
          </a:p>
          <a:p>
            <a:r>
              <a:t>Five features derived from the first 60 days of each user's activity — directly mapped to loyalty components, with strict data leakage prevention.</a:t>
            </a:r>
          </a:p>
          <a:p>
            <a:r>
              <a:t>---</a:t>
            </a:r>
          </a:p>
          <a:p>
            <a:r>
              <a:t>Random Forest with balanced class weights — chosen for its non-linear threshold learning, robustness to scale, and probability output for segmentation.</a:t>
            </a:r>
          </a:p>
          <a:p>
            <a:r>
              <a:t>---</a:t>
            </a:r>
          </a:p>
          <a:p>
            <a:r>
              <a:t>ROC-AUC 0.912. High segment: 83.9% observed loyalty. Marketing can act on precise, three-tier segments from month 2 of a user's lifecycle.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B — MODEL COMPARISON</a:t>
            </a:r>
          </a:p>
          <a:p>
            <a:endParaRPr/>
          </a:p>
          <a:p>
            <a:r>
              <a:t>USE WHEN: Interviewer asks "Why not XGBoost?" or "Did you try other models?"</a:t>
            </a:r>
          </a:p>
          <a:p>
            <a:endParaRPr/>
          </a:p>
          <a:p>
            <a:r>
              <a:t>SAY:</a:t>
            </a:r>
          </a:p>
          <a:p>
            <a:r>
              <a:t>"I chose Random Forest over Logistic Regression because the problem structure — hard thresholds, non-linear feature interactions, mixed-scale features — maps directly to what Random Forest does naturally. Logistic Regression would work as a baseline sanity check but isn't the right primary model here."</a:t>
            </a:r>
          </a:p>
          <a:p>
            <a:endParaRPr/>
          </a:p>
          <a:p>
            <a:r>
              <a:t>"Gradient Boosting is the obvious next step. It typically handles class imbalance better through sequential error correction, and I'd expect a 1–3% AUC improvement. The trade-off is more hyperparameters to tune and reduced interpretability."</a:t>
            </a:r>
          </a:p>
          <a:p>
            <a:endParaRPr/>
          </a:p>
          <a:p>
            <a:r>
              <a:t>"Neural networks are not appropriate at this data scale and feature dimensionality. Tree-based models consistently outperform deep learning on structured tabular data when you have fewer than 100K samples and fewer than ~20 features."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C — PRODUCTION ARCHITECTURE</a:t>
            </a:r>
          </a:p>
          <a:p>
            <a:endParaRPr/>
          </a:p>
          <a:p>
            <a:r>
              <a:t>USE WHEN: Interviewer asks "How would this work in production?" or "What would the engineering pipeline look like?"</a:t>
            </a:r>
          </a:p>
          <a:p>
            <a:endParaRPr/>
          </a:p>
          <a:p>
            <a:r>
              <a:t>SAY:</a:t>
            </a:r>
          </a:p>
          <a:p>
            <a:r>
              <a:t>"In production, this would be a monthly batch pipeline. Transactions flow into BigQuery or S3. A feature pipeline — implemented in dbt or Apache Beam — computes the 60-day feature window for each user who crossed the day-60 mark since the last run. The model scores them via predict_proba, the output is written to the CRM with three segment labels, and marketing campaigns are triggered automatically."</a:t>
            </a:r>
          </a:p>
          <a:p>
            <a:endParaRPr/>
          </a:p>
          <a:p>
            <a:r>
              <a:t>"The loyalty definition itself runs separately — a monthly snapshot computes who is currently loyal at the aggregate level, which feeds the platform's loyalty KPI dashboard. This is the monitoring ground truth that validates the model's predictions over time."</a:t>
            </a:r>
          </a:p>
          <a:p>
            <a:endParaRPr/>
          </a:p>
          <a:p>
            <a:r>
              <a:t>"Model retraining would be quarterly, with a strict AUC gate before promoting to production. I'd also set up score distribution monitoring — if the mean predicted probability drifts significantly, it likely means something upstream in the data changed."</a:t>
            </a:r>
          </a:p>
          <a:p>
            <a:endParaRPr/>
          </a:p>
          <a:p>
            <a:r>
              <a:t>"The critical governance piece is the threshold review. Loyalty thresholds and segment cutoffs should be owned jointly by data science, marketing, and finance — not set once and forgotten."</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88720"/>
            <a:ext cx="164592" cy="1252728"/>
          </a:xfrm>
          <a:prstGeom prst="rect">
            <a:avLst/>
          </a:prstGeom>
          <a:solidFill>
            <a:srgbClr val="C09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47472"/>
            <a:ext cx="1645920" cy="384048"/>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365760"/>
            <a:ext cx="1463040" cy="347472"/>
          </a:xfrm>
          <a:prstGeom prst="rect">
            <a:avLst/>
          </a:prstGeom>
          <a:noFill/>
        </p:spPr>
        <p:txBody>
          <a:bodyPr wrap="square">
            <a:spAutoFit/>
          </a:bodyPr>
          <a:lstStyle/>
          <a:p>
            <a:pPr algn="ctr"/>
            <a:r>
              <a:rPr sz="1400" b="1" i="0">
                <a:solidFill>
                  <a:srgbClr val="FFFFFF"/>
                </a:solidFill>
                <a:latin typeface="Calibri"/>
              </a:rPr>
              <a:t>SPENDY</a:t>
            </a:r>
          </a:p>
        </p:txBody>
      </p:sp>
      <p:sp>
        <p:nvSpPr>
          <p:cNvPr id="6" name="TextBox 5"/>
          <p:cNvSpPr txBox="1"/>
          <p:nvPr/>
        </p:nvSpPr>
        <p:spPr>
          <a:xfrm>
            <a:off x="457200" y="1188720"/>
            <a:ext cx="10058400" cy="777240"/>
          </a:xfrm>
          <a:prstGeom prst="rect">
            <a:avLst/>
          </a:prstGeom>
          <a:noFill/>
        </p:spPr>
        <p:txBody>
          <a:bodyPr wrap="square">
            <a:spAutoFit/>
          </a:bodyPr>
          <a:lstStyle/>
          <a:p>
            <a:pPr algn="l"/>
            <a:r>
              <a:rPr sz="4400" b="1" i="0">
                <a:solidFill>
                  <a:srgbClr val="0B2A4A"/>
                </a:solidFill>
                <a:latin typeface="Calibri Light"/>
              </a:rPr>
              <a:t>Customer Loyalty Prediction</a:t>
            </a:r>
          </a:p>
        </p:txBody>
      </p:sp>
      <p:sp>
        <p:nvSpPr>
          <p:cNvPr id="7" name="TextBox 6"/>
          <p:cNvSpPr txBox="1"/>
          <p:nvPr/>
        </p:nvSpPr>
        <p:spPr>
          <a:xfrm>
            <a:off x="457200" y="1965960"/>
            <a:ext cx="9144000" cy="475488"/>
          </a:xfrm>
          <a:prstGeom prst="rect">
            <a:avLst/>
          </a:prstGeom>
          <a:noFill/>
        </p:spPr>
        <p:txBody>
          <a:bodyPr wrap="square">
            <a:spAutoFit/>
          </a:bodyPr>
          <a:lstStyle/>
          <a:p>
            <a:pPr algn="l"/>
            <a:r>
              <a:rPr sz="2000" b="0" i="0">
                <a:solidFill>
                  <a:srgbClr val="2E75B6"/>
                </a:solidFill>
                <a:latin typeface="Calibri Light"/>
              </a:rPr>
              <a:t>From Transaction Data to Actionable Marketing Intelligence</a:t>
            </a:r>
          </a:p>
        </p:txBody>
      </p:sp>
      <p:sp>
        <p:nvSpPr>
          <p:cNvPr id="8" name="Rectangle 7"/>
          <p:cNvSpPr/>
          <p:nvPr/>
        </p:nvSpPr>
        <p:spPr>
          <a:xfrm>
            <a:off x="457200" y="2606040"/>
            <a:ext cx="82296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743200"/>
            <a:ext cx="8229600" cy="365760"/>
          </a:xfrm>
          <a:prstGeom prst="rect">
            <a:avLst/>
          </a:prstGeom>
          <a:noFill/>
        </p:spPr>
        <p:txBody>
          <a:bodyPr wrap="square">
            <a:spAutoFit/>
          </a:bodyPr>
          <a:lstStyle/>
          <a:p>
            <a:pPr algn="l"/>
            <a:r>
              <a:rPr sz="1400" b="0" i="0">
                <a:solidFill>
                  <a:srgbClr val="95A5A6"/>
                </a:solidFill>
                <a:latin typeface="Calibri Light"/>
              </a:rPr>
              <a:t>Data Scientist Case Study  |  Final Round Presentation</a:t>
            </a:r>
          </a:p>
        </p:txBody>
      </p:sp>
      <p:sp>
        <p:nvSpPr>
          <p:cNvPr id="10" name="Rectangle 9"/>
          <p:cNvSpPr/>
          <p:nvPr/>
        </p:nvSpPr>
        <p:spPr>
          <a:xfrm>
            <a:off x="56235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2356" y="3337560"/>
            <a:ext cx="210312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6" y="3392424"/>
            <a:ext cx="2103120" cy="411480"/>
          </a:xfrm>
          <a:prstGeom prst="rect">
            <a:avLst/>
          </a:prstGeom>
          <a:noFill/>
        </p:spPr>
        <p:txBody>
          <a:bodyPr wrap="none">
            <a:spAutoFit/>
          </a:bodyPr>
          <a:lstStyle/>
          <a:p>
            <a:pPr algn="ctr"/>
            <a:r>
              <a:rPr sz="2200" b="1">
                <a:solidFill>
                  <a:srgbClr val="FFFFFF"/>
                </a:solidFill>
              </a:rPr>
              <a:t>01</a:t>
            </a:r>
          </a:p>
        </p:txBody>
      </p:sp>
      <p:sp>
        <p:nvSpPr>
          <p:cNvPr id="13" name="TextBox 12"/>
          <p:cNvSpPr txBox="1"/>
          <p:nvPr/>
        </p:nvSpPr>
        <p:spPr>
          <a:xfrm>
            <a:off x="672084" y="3913632"/>
            <a:ext cx="1883663" cy="1005840"/>
          </a:xfrm>
          <a:prstGeom prst="rect">
            <a:avLst/>
          </a:prstGeom>
          <a:noFill/>
        </p:spPr>
        <p:txBody>
          <a:bodyPr wrap="square">
            <a:spAutoFit/>
          </a:bodyPr>
          <a:lstStyle/>
          <a:p>
            <a:pPr>
              <a:spcBef>
                <a:spcPts val="0"/>
              </a:spcBef>
            </a:pPr>
            <a:r>
              <a:rPr sz="1200" b="1">
                <a:solidFill>
                  <a:srgbClr val="0B2A4A"/>
                </a:solidFill>
              </a:rPr>
              <a:t>BUSINESS</a:t>
            </a:r>
          </a:p>
          <a:p>
            <a:r>
              <a:rPr sz="1200" b="1">
                <a:solidFill>
                  <a:srgbClr val="0B2A4A"/>
                </a:solidFill>
              </a:rPr>
              <a:t>CONTEXT</a:t>
            </a:r>
          </a:p>
        </p:txBody>
      </p:sp>
      <p:sp>
        <p:nvSpPr>
          <p:cNvPr id="14" name="TextBox 13"/>
          <p:cNvSpPr txBox="1"/>
          <p:nvPr/>
        </p:nvSpPr>
        <p:spPr>
          <a:xfrm>
            <a:off x="672084" y="5029200"/>
            <a:ext cx="1883663" cy="1051560"/>
          </a:xfrm>
          <a:prstGeom prst="rect">
            <a:avLst/>
          </a:prstGeom>
          <a:noFill/>
        </p:spPr>
        <p:txBody>
          <a:bodyPr wrap="square">
            <a:spAutoFit/>
          </a:bodyPr>
          <a:lstStyle/>
          <a:p>
            <a:r>
              <a:rPr sz="950" b="0">
                <a:solidFill>
                  <a:srgbClr val="2C3E50"/>
                </a:solidFill>
              </a:rPr>
              <a:t>759K transactions</a:t>
            </a:r>
          </a:p>
          <a:p>
            <a:pPr>
              <a:spcBef>
                <a:spcPts val="300"/>
              </a:spcBef>
            </a:pPr>
            <a:r>
              <a:rPr sz="950" b="0">
                <a:solidFill>
                  <a:srgbClr val="2C3E50"/>
                </a:solidFill>
              </a:rPr>
              <a:t>136.8K users</a:t>
            </a:r>
          </a:p>
          <a:p>
            <a:pPr>
              <a:spcBef>
                <a:spcPts val="300"/>
              </a:spcBef>
            </a:pPr>
            <a:r>
              <a:rPr sz="950" b="0">
                <a:solidFill>
                  <a:srgbClr val="2C3E50"/>
                </a:solidFill>
              </a:rPr>
              <a:t>Jun-Dec 2020</a:t>
            </a:r>
          </a:p>
        </p:txBody>
      </p:sp>
      <p:sp>
        <p:nvSpPr>
          <p:cNvPr id="15" name="Rectangle 14"/>
          <p:cNvSpPr/>
          <p:nvPr/>
        </p:nvSpPr>
        <p:spPr>
          <a:xfrm>
            <a:off x="280263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802636" y="3337560"/>
            <a:ext cx="2103120" cy="50292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02636" y="3392424"/>
            <a:ext cx="2103120" cy="411480"/>
          </a:xfrm>
          <a:prstGeom prst="rect">
            <a:avLst/>
          </a:prstGeom>
          <a:noFill/>
        </p:spPr>
        <p:txBody>
          <a:bodyPr wrap="none">
            <a:spAutoFit/>
          </a:bodyPr>
          <a:lstStyle/>
          <a:p>
            <a:pPr algn="ctr"/>
            <a:r>
              <a:rPr sz="2200" b="1">
                <a:solidFill>
                  <a:srgbClr val="FFFFFF"/>
                </a:solidFill>
              </a:rPr>
              <a:t>02</a:t>
            </a:r>
          </a:p>
        </p:txBody>
      </p:sp>
      <p:sp>
        <p:nvSpPr>
          <p:cNvPr id="18" name="TextBox 17"/>
          <p:cNvSpPr txBox="1"/>
          <p:nvPr/>
        </p:nvSpPr>
        <p:spPr>
          <a:xfrm>
            <a:off x="2912364" y="3913632"/>
            <a:ext cx="1883663" cy="1005840"/>
          </a:xfrm>
          <a:prstGeom prst="rect">
            <a:avLst/>
          </a:prstGeom>
          <a:noFill/>
        </p:spPr>
        <p:txBody>
          <a:bodyPr wrap="square">
            <a:spAutoFit/>
          </a:bodyPr>
          <a:lstStyle/>
          <a:p>
            <a:pPr>
              <a:spcBef>
                <a:spcPts val="0"/>
              </a:spcBef>
            </a:pPr>
            <a:r>
              <a:rPr sz="1200" b="1">
                <a:solidFill>
                  <a:srgbClr val="0B2A4A"/>
                </a:solidFill>
              </a:rPr>
              <a:t>LOYALTY</a:t>
            </a:r>
          </a:p>
          <a:p>
            <a:r>
              <a:rPr sz="1200" b="1">
                <a:solidFill>
                  <a:srgbClr val="0B2A4A"/>
                </a:solidFill>
              </a:rPr>
              <a:t>DEFINITION</a:t>
            </a:r>
          </a:p>
        </p:txBody>
      </p:sp>
      <p:sp>
        <p:nvSpPr>
          <p:cNvPr id="19" name="TextBox 18"/>
          <p:cNvSpPr txBox="1"/>
          <p:nvPr/>
        </p:nvSpPr>
        <p:spPr>
          <a:xfrm>
            <a:off x="2912364" y="5029200"/>
            <a:ext cx="1883663" cy="1051560"/>
          </a:xfrm>
          <a:prstGeom prst="rect">
            <a:avLst/>
          </a:prstGeom>
          <a:noFill/>
        </p:spPr>
        <p:txBody>
          <a:bodyPr wrap="square">
            <a:spAutoFit/>
          </a:bodyPr>
          <a:lstStyle/>
          <a:p>
            <a:r>
              <a:rPr sz="950" b="0">
                <a:solidFill>
                  <a:srgbClr val="2C3E50"/>
                </a:solidFill>
              </a:rPr>
              <a:t>4 hard thresholds</a:t>
            </a:r>
          </a:p>
          <a:p>
            <a:pPr>
              <a:spcBef>
                <a:spcPts val="300"/>
              </a:spcBef>
            </a:pPr>
            <a:r>
              <a:rPr sz="950" b="0">
                <a:solidFill>
                  <a:srgbClr val="2C3E50"/>
                </a:solidFill>
              </a:rPr>
              <a:t>AND/OR platform logic</a:t>
            </a:r>
          </a:p>
          <a:p>
            <a:pPr>
              <a:spcBef>
                <a:spcPts val="300"/>
              </a:spcBef>
            </a:pPr>
            <a:r>
              <a:rPr sz="950" b="0">
                <a:solidFill>
                  <a:srgbClr val="2C3E50"/>
                </a:solidFill>
              </a:rPr>
              <a:t>4.6% loyal rate</a:t>
            </a:r>
          </a:p>
        </p:txBody>
      </p:sp>
      <p:sp>
        <p:nvSpPr>
          <p:cNvPr id="20" name="Rectangle 19"/>
          <p:cNvSpPr/>
          <p:nvPr/>
        </p:nvSpPr>
        <p:spPr>
          <a:xfrm>
            <a:off x="504291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42916" y="3337560"/>
            <a:ext cx="2103120" cy="50292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42916" y="3392424"/>
            <a:ext cx="2103120" cy="411480"/>
          </a:xfrm>
          <a:prstGeom prst="rect">
            <a:avLst/>
          </a:prstGeom>
          <a:noFill/>
        </p:spPr>
        <p:txBody>
          <a:bodyPr wrap="none">
            <a:spAutoFit/>
          </a:bodyPr>
          <a:lstStyle/>
          <a:p>
            <a:pPr algn="ctr"/>
            <a:r>
              <a:rPr sz="2200" b="1">
                <a:solidFill>
                  <a:srgbClr val="FFFFFF"/>
                </a:solidFill>
              </a:rPr>
              <a:t>03</a:t>
            </a:r>
          </a:p>
        </p:txBody>
      </p:sp>
      <p:sp>
        <p:nvSpPr>
          <p:cNvPr id="23" name="TextBox 22"/>
          <p:cNvSpPr txBox="1"/>
          <p:nvPr/>
        </p:nvSpPr>
        <p:spPr>
          <a:xfrm>
            <a:off x="5152644" y="3913632"/>
            <a:ext cx="1883663" cy="1005840"/>
          </a:xfrm>
          <a:prstGeom prst="rect">
            <a:avLst/>
          </a:prstGeom>
          <a:noFill/>
        </p:spPr>
        <p:txBody>
          <a:bodyPr wrap="square">
            <a:spAutoFit/>
          </a:bodyPr>
          <a:lstStyle/>
          <a:p>
            <a:pPr>
              <a:spcBef>
                <a:spcPts val="0"/>
              </a:spcBef>
            </a:pPr>
            <a:r>
              <a:rPr sz="1200" b="1">
                <a:solidFill>
                  <a:srgbClr val="0B2A4A"/>
                </a:solidFill>
              </a:rPr>
              <a:t>FEATURE</a:t>
            </a:r>
          </a:p>
          <a:p>
            <a:r>
              <a:rPr sz="1200" b="1">
                <a:solidFill>
                  <a:srgbClr val="0B2A4A"/>
                </a:solidFill>
              </a:rPr>
              <a:t>ENGINEERING</a:t>
            </a:r>
          </a:p>
        </p:txBody>
      </p:sp>
      <p:sp>
        <p:nvSpPr>
          <p:cNvPr id="24" name="TextBox 23"/>
          <p:cNvSpPr txBox="1"/>
          <p:nvPr/>
        </p:nvSpPr>
        <p:spPr>
          <a:xfrm>
            <a:off x="5152644" y="5029200"/>
            <a:ext cx="1883663" cy="1051560"/>
          </a:xfrm>
          <a:prstGeom prst="rect">
            <a:avLst/>
          </a:prstGeom>
          <a:noFill/>
        </p:spPr>
        <p:txBody>
          <a:bodyPr wrap="square">
            <a:spAutoFit/>
          </a:bodyPr>
          <a:lstStyle/>
          <a:p>
            <a:r>
              <a:rPr sz="950" b="0">
                <a:solidFill>
                  <a:srgbClr val="2C3E50"/>
                </a:solidFill>
              </a:rPr>
              <a:t>60-day window</a:t>
            </a:r>
          </a:p>
          <a:p>
            <a:pPr>
              <a:spcBef>
                <a:spcPts val="300"/>
              </a:spcBef>
            </a:pPr>
            <a:r>
              <a:rPr sz="950" b="0">
                <a:solidFill>
                  <a:srgbClr val="2C3E50"/>
                </a:solidFill>
              </a:rPr>
              <a:t>5 behavioral features</a:t>
            </a:r>
          </a:p>
          <a:p>
            <a:pPr>
              <a:spcBef>
                <a:spcPts val="300"/>
              </a:spcBef>
            </a:pPr>
            <a:r>
              <a:rPr sz="950" b="0">
                <a:solidFill>
                  <a:srgbClr val="2C3E50"/>
                </a:solidFill>
              </a:rPr>
              <a:t>recency + freq + spend</a:t>
            </a:r>
          </a:p>
        </p:txBody>
      </p:sp>
      <p:sp>
        <p:nvSpPr>
          <p:cNvPr id="25" name="Rectangle 24"/>
          <p:cNvSpPr/>
          <p:nvPr/>
        </p:nvSpPr>
        <p:spPr>
          <a:xfrm>
            <a:off x="728319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283196" y="3337560"/>
            <a:ext cx="2103120" cy="502920"/>
          </a:xfrm>
          <a:prstGeom prst="rect">
            <a:avLst/>
          </a:prstGeom>
          <a:solidFill>
            <a:srgbClr val="5E7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83196" y="3392424"/>
            <a:ext cx="2103120" cy="411480"/>
          </a:xfrm>
          <a:prstGeom prst="rect">
            <a:avLst/>
          </a:prstGeom>
          <a:noFill/>
        </p:spPr>
        <p:txBody>
          <a:bodyPr wrap="none">
            <a:spAutoFit/>
          </a:bodyPr>
          <a:lstStyle/>
          <a:p>
            <a:pPr algn="ctr"/>
            <a:r>
              <a:rPr sz="2200" b="1">
                <a:solidFill>
                  <a:srgbClr val="FFFFFF"/>
                </a:solidFill>
              </a:rPr>
              <a:t>04</a:t>
            </a:r>
          </a:p>
        </p:txBody>
      </p:sp>
      <p:sp>
        <p:nvSpPr>
          <p:cNvPr id="28" name="TextBox 27"/>
          <p:cNvSpPr txBox="1"/>
          <p:nvPr/>
        </p:nvSpPr>
        <p:spPr>
          <a:xfrm>
            <a:off x="7392923" y="3913632"/>
            <a:ext cx="1883663" cy="1005840"/>
          </a:xfrm>
          <a:prstGeom prst="rect">
            <a:avLst/>
          </a:prstGeom>
          <a:noFill/>
        </p:spPr>
        <p:txBody>
          <a:bodyPr wrap="square">
            <a:spAutoFit/>
          </a:bodyPr>
          <a:lstStyle/>
          <a:p>
            <a:pPr>
              <a:spcBef>
                <a:spcPts val="0"/>
              </a:spcBef>
            </a:pPr>
            <a:r>
              <a:rPr sz="1200" b="1">
                <a:solidFill>
                  <a:srgbClr val="0B2A4A"/>
                </a:solidFill>
              </a:rPr>
              <a:t>RANDOM FOREST</a:t>
            </a:r>
          </a:p>
          <a:p>
            <a:r>
              <a:rPr sz="1200" b="1">
                <a:solidFill>
                  <a:srgbClr val="0B2A4A"/>
                </a:solidFill>
              </a:rPr>
              <a:t>MODEL</a:t>
            </a:r>
          </a:p>
        </p:txBody>
      </p:sp>
      <p:sp>
        <p:nvSpPr>
          <p:cNvPr id="29" name="TextBox 28"/>
          <p:cNvSpPr txBox="1"/>
          <p:nvPr/>
        </p:nvSpPr>
        <p:spPr>
          <a:xfrm>
            <a:off x="7392923" y="5029200"/>
            <a:ext cx="1883663" cy="1051560"/>
          </a:xfrm>
          <a:prstGeom prst="rect">
            <a:avLst/>
          </a:prstGeom>
          <a:noFill/>
        </p:spPr>
        <p:txBody>
          <a:bodyPr wrap="square">
            <a:spAutoFit/>
          </a:bodyPr>
          <a:lstStyle/>
          <a:p>
            <a:r>
              <a:rPr sz="950" b="0">
                <a:solidFill>
                  <a:srgbClr val="2C3E50"/>
                </a:solidFill>
              </a:rPr>
              <a:t>AUC 0.912</a:t>
            </a:r>
          </a:p>
          <a:p>
            <a:pPr>
              <a:spcBef>
                <a:spcPts val="300"/>
              </a:spcBef>
            </a:pPr>
            <a:r>
              <a:rPr sz="950" b="0">
                <a:solidFill>
                  <a:srgbClr val="2C3E50"/>
                </a:solidFill>
              </a:rPr>
              <a:t>class_weight balanced</a:t>
            </a:r>
          </a:p>
          <a:p>
            <a:pPr>
              <a:spcBef>
                <a:spcPts val="300"/>
              </a:spcBef>
            </a:pPr>
            <a:r>
              <a:rPr sz="950" b="0">
                <a:solidFill>
                  <a:srgbClr val="2C3E50"/>
                </a:solidFill>
              </a:rPr>
              <a:t>3-tier probability scores</a:t>
            </a:r>
          </a:p>
        </p:txBody>
      </p:sp>
      <p:sp>
        <p:nvSpPr>
          <p:cNvPr id="30" name="Rectangle 29"/>
          <p:cNvSpPr/>
          <p:nvPr/>
        </p:nvSpPr>
        <p:spPr>
          <a:xfrm>
            <a:off x="952347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23476" y="3337560"/>
            <a:ext cx="2103120" cy="502920"/>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523476" y="3392424"/>
            <a:ext cx="2103120" cy="411480"/>
          </a:xfrm>
          <a:prstGeom prst="rect">
            <a:avLst/>
          </a:prstGeom>
          <a:noFill/>
        </p:spPr>
        <p:txBody>
          <a:bodyPr wrap="none">
            <a:spAutoFit/>
          </a:bodyPr>
          <a:lstStyle/>
          <a:p>
            <a:pPr algn="ctr"/>
            <a:r>
              <a:rPr sz="2200" b="1">
                <a:solidFill>
                  <a:srgbClr val="FFFFFF"/>
                </a:solidFill>
              </a:rPr>
              <a:t>05</a:t>
            </a:r>
          </a:p>
        </p:txBody>
      </p:sp>
      <p:sp>
        <p:nvSpPr>
          <p:cNvPr id="33" name="TextBox 32"/>
          <p:cNvSpPr txBox="1"/>
          <p:nvPr/>
        </p:nvSpPr>
        <p:spPr>
          <a:xfrm>
            <a:off x="9633203" y="3913632"/>
            <a:ext cx="1883663" cy="1005840"/>
          </a:xfrm>
          <a:prstGeom prst="rect">
            <a:avLst/>
          </a:prstGeom>
          <a:noFill/>
        </p:spPr>
        <p:txBody>
          <a:bodyPr wrap="square">
            <a:spAutoFit/>
          </a:bodyPr>
          <a:lstStyle/>
          <a:p>
            <a:pPr>
              <a:spcBef>
                <a:spcPts val="0"/>
              </a:spcBef>
            </a:pPr>
            <a:r>
              <a:rPr sz="1200" b="1">
                <a:solidFill>
                  <a:srgbClr val="0B2A4A"/>
                </a:solidFill>
              </a:rPr>
              <a:t>SEGMENTATION</a:t>
            </a:r>
          </a:p>
          <a:p>
            <a:r>
              <a:rPr sz="1200" b="1">
                <a:solidFill>
                  <a:srgbClr val="0B2A4A"/>
                </a:solidFill>
              </a:rPr>
              <a:t>&amp; IMPACT</a:t>
            </a:r>
          </a:p>
        </p:txBody>
      </p:sp>
      <p:sp>
        <p:nvSpPr>
          <p:cNvPr id="34" name="TextBox 33"/>
          <p:cNvSpPr txBox="1"/>
          <p:nvPr/>
        </p:nvSpPr>
        <p:spPr>
          <a:xfrm>
            <a:off x="9633203" y="5029200"/>
            <a:ext cx="1883663" cy="1051560"/>
          </a:xfrm>
          <a:prstGeom prst="rect">
            <a:avLst/>
          </a:prstGeom>
          <a:noFill/>
        </p:spPr>
        <p:txBody>
          <a:bodyPr wrap="square">
            <a:spAutoFit/>
          </a:bodyPr>
          <a:lstStyle/>
          <a:p>
            <a:r>
              <a:rPr sz="950" b="0">
                <a:solidFill>
                  <a:srgbClr val="2C3E50"/>
                </a:solidFill>
              </a:rPr>
              <a:t>Low / Med / High tiers</a:t>
            </a:r>
          </a:p>
          <a:p>
            <a:pPr>
              <a:spcBef>
                <a:spcPts val="300"/>
              </a:spcBef>
            </a:pPr>
            <a:r>
              <a:rPr sz="950" b="0">
                <a:solidFill>
                  <a:srgbClr val="2C3E50"/>
                </a:solidFill>
              </a:rPr>
              <a:t>83.9% loyalty in High</a:t>
            </a:r>
          </a:p>
          <a:p>
            <a:pPr>
              <a:spcBef>
                <a:spcPts val="300"/>
              </a:spcBef>
            </a:pPr>
            <a:r>
              <a:rPr sz="950" b="0">
                <a:solidFill>
                  <a:srgbClr val="2C3E50"/>
                </a:solidFill>
              </a:rPr>
              <a:t>monthly CRM pipeline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The Business Problem</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Why does predicting loyalty early create value for Spendy?</a:t>
            </a:r>
          </a:p>
        </p:txBody>
      </p:sp>
      <p:sp>
        <p:nvSpPr>
          <p:cNvPr id="6" name="Rectangle 5"/>
          <p:cNvSpPr/>
          <p:nvPr/>
        </p:nvSpPr>
        <p:spPr>
          <a:xfrm>
            <a:off x="274320" y="1216152"/>
            <a:ext cx="109728" cy="1362456"/>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143000"/>
            <a:ext cx="11521440" cy="150876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16152"/>
            <a:ext cx="3200400" cy="320040"/>
          </a:xfrm>
          <a:prstGeom prst="rect">
            <a:avLst/>
          </a:prstGeom>
          <a:noFill/>
        </p:spPr>
        <p:txBody>
          <a:bodyPr wrap="none">
            <a:spAutoFit/>
          </a:bodyPr>
          <a:lstStyle/>
          <a:p>
            <a:r>
              <a:rPr sz="950" b="1">
                <a:solidFill>
                  <a:srgbClr val="0B2A4A"/>
                </a:solidFill>
              </a:rPr>
              <a:t>WHAT IS SPENDY?</a:t>
            </a:r>
          </a:p>
        </p:txBody>
      </p:sp>
      <p:sp>
        <p:nvSpPr>
          <p:cNvPr id="9" name="TextBox 8"/>
          <p:cNvSpPr txBox="1"/>
          <p:nvPr/>
        </p:nvSpPr>
        <p:spPr>
          <a:xfrm>
            <a:off x="502920" y="1527048"/>
            <a:ext cx="11247120" cy="1051560"/>
          </a:xfrm>
          <a:prstGeom prst="rect">
            <a:avLst/>
          </a:prstGeom>
          <a:noFill/>
        </p:spPr>
        <p:txBody>
          <a:bodyPr wrap="square">
            <a:spAutoFit/>
          </a:bodyPr>
          <a:lstStyle/>
          <a:p>
            <a:pPr>
              <a:spcBef>
                <a:spcPts val="0"/>
              </a:spcBef>
            </a:pPr>
            <a:r>
              <a:rPr sz="1050">
                <a:solidFill>
                  <a:srgbClr val="2C3E50"/>
                </a:solidFill>
              </a:rPr>
              <a:t>–  Buy Now, Pay Later (BNPL) platform operating across Japan.</a:t>
            </a:r>
          </a:p>
          <a:p>
            <a:pPr>
              <a:spcBef>
                <a:spcPts val="200"/>
              </a:spcBef>
            </a:pPr>
            <a:r>
              <a:rPr sz="1050">
                <a:solidFill>
                  <a:srgbClr val="2C3E50"/>
                </a:solidFill>
              </a:rPr>
              <a:t>–  Revenue: merchant transaction fees + consumer instalment interest.</a:t>
            </a:r>
          </a:p>
          <a:p>
            <a:pPr>
              <a:spcBef>
                <a:spcPts val="200"/>
              </a:spcBef>
            </a:pPr>
            <a:r>
              <a:rPr sz="1050">
                <a:solidFill>
                  <a:srgbClr val="2C3E50"/>
                </a:solidFill>
              </a:rPr>
              <a:t>–  Dataset: 759K transactions, 136.8K users, 711 shops  (Jun – Dec 2020).</a:t>
            </a:r>
          </a:p>
        </p:txBody>
      </p:sp>
      <p:sp>
        <p:nvSpPr>
          <p:cNvPr id="10" name="Rectangle 9"/>
          <p:cNvSpPr/>
          <p:nvPr/>
        </p:nvSpPr>
        <p:spPr>
          <a:xfrm>
            <a:off x="274320" y="2862072"/>
            <a:ext cx="109728" cy="1453896"/>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1480" y="2788920"/>
            <a:ext cx="11521440" cy="160020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2862072"/>
            <a:ext cx="3200400" cy="320040"/>
          </a:xfrm>
          <a:prstGeom prst="rect">
            <a:avLst/>
          </a:prstGeom>
          <a:noFill/>
        </p:spPr>
        <p:txBody>
          <a:bodyPr wrap="none">
            <a:spAutoFit/>
          </a:bodyPr>
          <a:lstStyle/>
          <a:p>
            <a:r>
              <a:rPr sz="950" b="1">
                <a:solidFill>
                  <a:srgbClr val="0B2A4A"/>
                </a:solidFill>
              </a:rPr>
              <a:t>THE BRAND LOYALIST PROBLEM</a:t>
            </a:r>
          </a:p>
        </p:txBody>
      </p:sp>
      <p:sp>
        <p:nvSpPr>
          <p:cNvPr id="13" name="TextBox 12"/>
          <p:cNvSpPr txBox="1"/>
          <p:nvPr/>
        </p:nvSpPr>
        <p:spPr>
          <a:xfrm>
            <a:off x="502920" y="3172968"/>
            <a:ext cx="11247120" cy="1143000"/>
          </a:xfrm>
          <a:prstGeom prst="rect">
            <a:avLst/>
          </a:prstGeom>
          <a:noFill/>
        </p:spPr>
        <p:txBody>
          <a:bodyPr wrap="square">
            <a:spAutoFit/>
          </a:bodyPr>
          <a:lstStyle/>
          <a:p>
            <a:pPr>
              <a:spcBef>
                <a:spcPts val="0"/>
              </a:spcBef>
            </a:pPr>
            <a:r>
              <a:rPr sz="1050">
                <a:solidFill>
                  <a:srgbClr val="2C3E50"/>
                </a:solidFill>
              </a:rPr>
              <a:t>–  75% of users bought from exactly ONE merchant: they are loyal to the shop, not to Spendy.</a:t>
            </a:r>
          </a:p>
          <a:p>
            <a:pPr>
              <a:spcBef>
                <a:spcPts val="200"/>
              </a:spcBef>
            </a:pPr>
            <a:r>
              <a:rPr sz="1050">
                <a:solidFill>
                  <a:srgbClr val="2C3E50"/>
                </a:solidFill>
              </a:rPr>
              <a:t>–  If that merchant stops accepting Spendy, the customer disappears entirely.</a:t>
            </a:r>
          </a:p>
          <a:p>
            <a:pPr>
              <a:spcBef>
                <a:spcPts val="200"/>
              </a:spcBef>
            </a:pPr>
            <a:r>
              <a:rPr sz="1050">
                <a:solidFill>
                  <a:srgbClr val="2C3E50"/>
                </a:solidFill>
              </a:rPr>
              <a:t>–  Raw purchase counts reward these single-shop users: a loyalty programme built on that metric wastes budget.</a:t>
            </a:r>
          </a:p>
        </p:txBody>
      </p:sp>
      <p:sp>
        <p:nvSpPr>
          <p:cNvPr id="14" name="Rectangle 13"/>
          <p:cNvSpPr/>
          <p:nvPr/>
        </p:nvSpPr>
        <p:spPr>
          <a:xfrm>
            <a:off x="274320" y="4599432"/>
            <a:ext cx="109728" cy="1316736"/>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1480" y="4526280"/>
            <a:ext cx="11521440" cy="146304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4599432"/>
            <a:ext cx="3200400" cy="320040"/>
          </a:xfrm>
          <a:prstGeom prst="rect">
            <a:avLst/>
          </a:prstGeom>
          <a:noFill/>
        </p:spPr>
        <p:txBody>
          <a:bodyPr wrap="none">
            <a:spAutoFit/>
          </a:bodyPr>
          <a:lstStyle/>
          <a:p>
            <a:r>
              <a:rPr sz="950" b="1">
                <a:solidFill>
                  <a:srgbClr val="0B2A4A"/>
                </a:solidFill>
              </a:rPr>
              <a:t>WHY PREDICT EARLY?</a:t>
            </a:r>
          </a:p>
        </p:txBody>
      </p:sp>
      <p:sp>
        <p:nvSpPr>
          <p:cNvPr id="17" name="TextBox 16"/>
          <p:cNvSpPr txBox="1"/>
          <p:nvPr/>
        </p:nvSpPr>
        <p:spPr>
          <a:xfrm>
            <a:off x="502920" y="4910328"/>
            <a:ext cx="11247120" cy="1005840"/>
          </a:xfrm>
          <a:prstGeom prst="rect">
            <a:avLst/>
          </a:prstGeom>
          <a:noFill/>
        </p:spPr>
        <p:txBody>
          <a:bodyPr wrap="square">
            <a:spAutoFit/>
          </a:bodyPr>
          <a:lstStyle/>
          <a:p>
            <a:pPr>
              <a:spcBef>
                <a:spcPts val="0"/>
              </a:spcBef>
            </a:pPr>
            <a:r>
              <a:rPr sz="1050">
                <a:solidFill>
                  <a:srgbClr val="2C3E50"/>
                </a:solidFill>
              </a:rPr>
              <a:t>–  At Month 2 a user's habits are still forming: an incentive now is far cheaper than re-acquisition later.</a:t>
            </a:r>
          </a:p>
          <a:p>
            <a:pPr>
              <a:spcBef>
                <a:spcPts val="200"/>
              </a:spcBef>
            </a:pPr>
            <a:r>
              <a:rPr sz="1050">
                <a:solidFill>
                  <a:srgbClr val="2C3E50"/>
                </a:solidFill>
              </a:rPr>
              <a:t>–  Not all new users have the same potential: the model separates high-value targets from the rest.</a:t>
            </a:r>
          </a:p>
          <a:p>
            <a:pPr>
              <a:spcBef>
                <a:spcPts val="200"/>
              </a:spcBef>
            </a:pPr>
            <a:r>
              <a:rPr sz="1050">
                <a:solidFill>
                  <a:srgbClr val="2C3E50"/>
                </a:solidFill>
              </a:rPr>
              <a:t>–  Proactive segmentation at Month 2 → differentiated campaigns → better ROI per marketing pound.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Dataset Overview</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Exploratory findings that shaped the modelling approach</a:t>
            </a:r>
          </a:p>
        </p:txBody>
      </p:sp>
      <p:sp>
        <p:nvSpPr>
          <p:cNvPr id="9" name="Rectangle 8"/>
          <p:cNvSpPr/>
          <p:nvPr/>
        </p:nvSpPr>
        <p:spPr>
          <a:xfrm>
            <a:off x="274320" y="1234440"/>
            <a:ext cx="2194560" cy="100584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325880"/>
            <a:ext cx="2011680" cy="548640"/>
          </a:xfrm>
          <a:prstGeom prst="rect">
            <a:avLst/>
          </a:prstGeom>
          <a:noFill/>
        </p:spPr>
        <p:txBody>
          <a:bodyPr wrap="square">
            <a:spAutoFit/>
          </a:bodyPr>
          <a:lstStyle/>
          <a:p>
            <a:pPr algn="ctr"/>
            <a:r>
              <a:rPr sz="3200" b="1" i="0">
                <a:solidFill>
                  <a:srgbClr val="C09840"/>
                </a:solidFill>
                <a:latin typeface="Calibri"/>
              </a:rPr>
              <a:t>759K</a:t>
            </a:r>
          </a:p>
        </p:txBody>
      </p:sp>
      <p:sp>
        <p:nvSpPr>
          <p:cNvPr id="11" name="TextBox 10"/>
          <p:cNvSpPr txBox="1"/>
          <p:nvPr/>
        </p:nvSpPr>
        <p:spPr>
          <a:xfrm>
            <a:off x="365760" y="1828800"/>
            <a:ext cx="2011680" cy="457200"/>
          </a:xfrm>
          <a:prstGeom prst="rect">
            <a:avLst/>
          </a:prstGeom>
          <a:noFill/>
        </p:spPr>
        <p:txBody>
          <a:bodyPr wrap="square">
            <a:spAutoFit/>
          </a:bodyPr>
          <a:lstStyle/>
          <a:p>
            <a:pPr algn="ctr"/>
            <a:r>
              <a:rPr sz="1100" b="0" i="0">
                <a:solidFill>
                  <a:srgbClr val="FFFFFF"/>
                </a:solidFill>
                <a:latin typeface="Calibri Light"/>
              </a:rPr>
              <a:t>Transactions
(Jun–Dec 2020)</a:t>
            </a:r>
          </a:p>
        </p:txBody>
      </p:sp>
      <p:sp>
        <p:nvSpPr>
          <p:cNvPr id="12" name="Rectangle 11"/>
          <p:cNvSpPr/>
          <p:nvPr/>
        </p:nvSpPr>
        <p:spPr>
          <a:xfrm>
            <a:off x="2606040" y="1234440"/>
            <a:ext cx="2194560" cy="100584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97480" y="1325880"/>
            <a:ext cx="2011680" cy="548640"/>
          </a:xfrm>
          <a:prstGeom prst="rect">
            <a:avLst/>
          </a:prstGeom>
          <a:noFill/>
        </p:spPr>
        <p:txBody>
          <a:bodyPr wrap="square">
            <a:spAutoFit/>
          </a:bodyPr>
          <a:lstStyle/>
          <a:p>
            <a:pPr algn="ctr"/>
            <a:r>
              <a:rPr sz="3200" b="1" i="0">
                <a:solidFill>
                  <a:srgbClr val="C09840"/>
                </a:solidFill>
                <a:latin typeface="Calibri"/>
              </a:rPr>
              <a:t>136.8K</a:t>
            </a:r>
          </a:p>
        </p:txBody>
      </p:sp>
      <p:sp>
        <p:nvSpPr>
          <p:cNvPr id="14" name="TextBox 13"/>
          <p:cNvSpPr txBox="1"/>
          <p:nvPr/>
        </p:nvSpPr>
        <p:spPr>
          <a:xfrm>
            <a:off x="2697480" y="1828800"/>
            <a:ext cx="2011680" cy="457200"/>
          </a:xfrm>
          <a:prstGeom prst="rect">
            <a:avLst/>
          </a:prstGeom>
          <a:noFill/>
        </p:spPr>
        <p:txBody>
          <a:bodyPr wrap="square">
            <a:spAutoFit/>
          </a:bodyPr>
          <a:lstStyle/>
          <a:p>
            <a:pPr algn="ctr"/>
            <a:r>
              <a:rPr sz="1100" b="0" i="0">
                <a:solidFill>
                  <a:srgbClr val="FFFFFF"/>
                </a:solidFill>
                <a:latin typeface="Calibri Light"/>
              </a:rPr>
              <a:t>Unique Users</a:t>
            </a:r>
          </a:p>
        </p:txBody>
      </p:sp>
      <p:sp>
        <p:nvSpPr>
          <p:cNvPr id="15" name="Rectangle 14"/>
          <p:cNvSpPr/>
          <p:nvPr/>
        </p:nvSpPr>
        <p:spPr>
          <a:xfrm>
            <a:off x="4937760" y="1234440"/>
            <a:ext cx="2194560" cy="100584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0" y="1325880"/>
            <a:ext cx="2011680" cy="548640"/>
          </a:xfrm>
          <a:prstGeom prst="rect">
            <a:avLst/>
          </a:prstGeom>
          <a:noFill/>
        </p:spPr>
        <p:txBody>
          <a:bodyPr wrap="square">
            <a:spAutoFit/>
          </a:bodyPr>
          <a:lstStyle/>
          <a:p>
            <a:pPr algn="ctr"/>
            <a:r>
              <a:rPr sz="3200" b="1" i="0">
                <a:solidFill>
                  <a:srgbClr val="C09840"/>
                </a:solidFill>
                <a:latin typeface="Calibri"/>
              </a:rPr>
              <a:t>711</a:t>
            </a:r>
          </a:p>
        </p:txBody>
      </p:sp>
      <p:sp>
        <p:nvSpPr>
          <p:cNvPr id="17" name="TextBox 16"/>
          <p:cNvSpPr txBox="1"/>
          <p:nvPr/>
        </p:nvSpPr>
        <p:spPr>
          <a:xfrm>
            <a:off x="5029200" y="1828800"/>
            <a:ext cx="2011680" cy="457200"/>
          </a:xfrm>
          <a:prstGeom prst="rect">
            <a:avLst/>
          </a:prstGeom>
          <a:noFill/>
        </p:spPr>
        <p:txBody>
          <a:bodyPr wrap="square">
            <a:spAutoFit/>
          </a:bodyPr>
          <a:lstStyle/>
          <a:p>
            <a:pPr algn="ctr"/>
            <a:r>
              <a:rPr sz="1100" b="0" i="0">
                <a:solidFill>
                  <a:srgbClr val="FFFFFF"/>
                </a:solidFill>
                <a:latin typeface="Calibri Light"/>
              </a:rPr>
              <a:t>Unique Shops</a:t>
            </a:r>
          </a:p>
        </p:txBody>
      </p:sp>
      <p:sp>
        <p:nvSpPr>
          <p:cNvPr id="18" name="Rectangle 17"/>
          <p:cNvSpPr/>
          <p:nvPr/>
        </p:nvSpPr>
        <p:spPr>
          <a:xfrm>
            <a:off x="7269480" y="1234440"/>
            <a:ext cx="2194560"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60920" y="1325880"/>
            <a:ext cx="2011680" cy="548640"/>
          </a:xfrm>
          <a:prstGeom prst="rect">
            <a:avLst/>
          </a:prstGeom>
          <a:noFill/>
        </p:spPr>
        <p:txBody>
          <a:bodyPr wrap="square">
            <a:spAutoFit/>
          </a:bodyPr>
          <a:lstStyle/>
          <a:p>
            <a:pPr algn="ctr"/>
            <a:r>
              <a:rPr sz="3200" b="1" i="0">
                <a:solidFill>
                  <a:srgbClr val="C09840"/>
                </a:solidFill>
                <a:latin typeface="Calibri"/>
              </a:rPr>
              <a:t>7 mos</a:t>
            </a:r>
          </a:p>
        </p:txBody>
      </p:sp>
      <p:sp>
        <p:nvSpPr>
          <p:cNvPr id="20" name="TextBox 19"/>
          <p:cNvSpPr txBox="1"/>
          <p:nvPr/>
        </p:nvSpPr>
        <p:spPr>
          <a:xfrm>
            <a:off x="7360920" y="1828800"/>
            <a:ext cx="2011680" cy="457200"/>
          </a:xfrm>
          <a:prstGeom prst="rect">
            <a:avLst/>
          </a:prstGeom>
          <a:noFill/>
        </p:spPr>
        <p:txBody>
          <a:bodyPr wrap="square">
            <a:spAutoFit/>
          </a:bodyPr>
          <a:lstStyle/>
          <a:p>
            <a:pPr algn="ctr"/>
            <a:r>
              <a:rPr sz="1100" b="0" i="0">
                <a:solidFill>
                  <a:srgbClr val="FFFFFF"/>
                </a:solidFill>
                <a:latin typeface="Calibri Light"/>
              </a:rPr>
              <a:t>Observation Window</a:t>
            </a:r>
          </a:p>
        </p:txBody>
      </p:sp>
      <p:sp>
        <p:nvSpPr>
          <p:cNvPr id="21" name="Rectangle 20"/>
          <p:cNvSpPr/>
          <p:nvPr/>
        </p:nvSpPr>
        <p:spPr>
          <a:xfrm>
            <a:off x="9601200" y="1234440"/>
            <a:ext cx="2286000" cy="1005840"/>
          </a:xfrm>
          <a:prstGeom prst="rect">
            <a:avLst/>
          </a:prstGeom>
          <a:solidFill>
            <a:srgbClr val="3D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92640" y="1325880"/>
            <a:ext cx="2103120" cy="548640"/>
          </a:xfrm>
          <a:prstGeom prst="rect">
            <a:avLst/>
          </a:prstGeom>
          <a:noFill/>
        </p:spPr>
        <p:txBody>
          <a:bodyPr wrap="square">
            <a:spAutoFit/>
          </a:bodyPr>
          <a:lstStyle/>
          <a:p>
            <a:pPr algn="ctr"/>
            <a:r>
              <a:rPr sz="3200" b="1" i="0">
                <a:solidFill>
                  <a:srgbClr val="C09840"/>
                </a:solidFill>
                <a:latin typeface="Calibri"/>
              </a:rPr>
              <a:t>Zero</a:t>
            </a:r>
          </a:p>
        </p:txBody>
      </p:sp>
      <p:sp>
        <p:nvSpPr>
          <p:cNvPr id="23" name="TextBox 22"/>
          <p:cNvSpPr txBox="1"/>
          <p:nvPr/>
        </p:nvSpPr>
        <p:spPr>
          <a:xfrm>
            <a:off x="9692640" y="1828800"/>
            <a:ext cx="2103120" cy="457200"/>
          </a:xfrm>
          <a:prstGeom prst="rect">
            <a:avLst/>
          </a:prstGeom>
          <a:noFill/>
        </p:spPr>
        <p:txBody>
          <a:bodyPr wrap="square">
            <a:spAutoFit/>
          </a:bodyPr>
          <a:lstStyle/>
          <a:p>
            <a:pPr algn="ctr"/>
            <a:r>
              <a:rPr sz="1100" b="0" i="0">
                <a:solidFill>
                  <a:srgbClr val="FFFFFF"/>
                </a:solidFill>
                <a:latin typeface="Calibri Light"/>
              </a:rPr>
              <a:t>Missing Values</a:t>
            </a:r>
          </a:p>
        </p:txBody>
      </p:sp>
      <p:sp>
        <p:nvSpPr>
          <p:cNvPr id="24" name="Rectangle 23"/>
          <p:cNvSpPr/>
          <p:nvPr/>
        </p:nvSpPr>
        <p:spPr>
          <a:xfrm>
            <a:off x="274320" y="2468880"/>
            <a:ext cx="365760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2468880"/>
            <a:ext cx="3657600" cy="54864"/>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2560320"/>
            <a:ext cx="3474720" cy="347472"/>
          </a:xfrm>
          <a:prstGeom prst="rect">
            <a:avLst/>
          </a:prstGeom>
          <a:noFill/>
        </p:spPr>
        <p:txBody>
          <a:bodyPr wrap="square">
            <a:spAutoFit/>
          </a:bodyPr>
          <a:lstStyle/>
          <a:p>
            <a:pPr algn="l"/>
            <a:r>
              <a:rPr sz="1100" b="1" i="0">
                <a:solidFill>
                  <a:srgbClr val="0B2A4A"/>
                </a:solidFill>
                <a:latin typeface="Calibri"/>
              </a:rPr>
              <a:t>SKEWED PURCHASE DISTRIBUTION</a:t>
            </a:r>
          </a:p>
        </p:txBody>
      </p:sp>
      <p:sp>
        <p:nvSpPr>
          <p:cNvPr id="27" name="TextBox 26"/>
          <p:cNvSpPr txBox="1"/>
          <p:nvPr/>
        </p:nvSpPr>
        <p:spPr>
          <a:xfrm>
            <a:off x="365760" y="2926080"/>
            <a:ext cx="3383280" cy="320040"/>
          </a:xfrm>
          <a:prstGeom prst="rect">
            <a:avLst/>
          </a:prstGeom>
          <a:noFill/>
        </p:spPr>
        <p:txBody>
          <a:bodyPr wrap="square">
            <a:spAutoFit/>
          </a:bodyPr>
          <a:lstStyle/>
          <a:p>
            <a:pPr algn="l"/>
            <a:r>
              <a:rPr sz="2000" b="1" i="0">
                <a:solidFill>
                  <a:srgbClr val="7A6858"/>
                </a:solidFill>
                <a:latin typeface="Calibri"/>
              </a:rPr>
              <a:t>Median: 2 purchases per user</a:t>
            </a:r>
          </a:p>
        </p:txBody>
      </p:sp>
      <p:sp>
        <p:nvSpPr>
          <p:cNvPr id="28" name="TextBox 27"/>
          <p:cNvSpPr txBox="1"/>
          <p:nvPr/>
        </p:nvSpPr>
        <p:spPr>
          <a:xfrm>
            <a:off x="365760" y="3291840"/>
            <a:ext cx="3383280" cy="600164"/>
          </a:xfrm>
          <a:prstGeom prst="rect">
            <a:avLst/>
          </a:prstGeom>
          <a:noFill/>
        </p:spPr>
        <p:txBody>
          <a:bodyPr wrap="square">
            <a:spAutoFit/>
          </a:bodyPr>
          <a:lstStyle/>
          <a:p>
            <a:pPr algn="l"/>
            <a:r>
              <a:rPr sz="1100" b="0">
                <a:solidFill>
                  <a:srgbClr val="2C3E50"/>
                </a:solidFill>
                <a:latin typeface="Calibri"/>
              </a:rPr>
              <a:t>→  Raw purchase count is misleading</a:t>
            </a:r>
          </a:p>
          <a:p>
            <a:pPr algn="l"/>
            <a:r>
              <a:rPr sz="1100" b="0">
                <a:solidFill>
                  <a:srgbClr val="2C3E50"/>
                </a:solidFill>
                <a:latin typeface="Calibri"/>
              </a:rPr>
              <a:t>→  Must normalise by registration tenure</a:t>
            </a:r>
          </a:p>
          <a:p>
            <a:pPr algn="l"/>
            <a:r>
              <a:rPr sz="1100" b="0">
                <a:solidFill>
                  <a:srgbClr val="2C3E50"/>
                </a:solidFill>
                <a:latin typeface="Calibri"/>
              </a:rPr>
              <a:t>→  Frequency rate (purchases/month) is the right metric</a:t>
            </a:r>
          </a:p>
        </p:txBody>
      </p:sp>
      <p:sp>
        <p:nvSpPr>
          <p:cNvPr id="29" name="Rectangle 28"/>
          <p:cNvSpPr/>
          <p:nvPr/>
        </p:nvSpPr>
        <p:spPr>
          <a:xfrm>
            <a:off x="4114800" y="2468880"/>
            <a:ext cx="365760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114800" y="2468880"/>
            <a:ext cx="3657600" cy="54864"/>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206240" y="2560320"/>
            <a:ext cx="3474720" cy="347472"/>
          </a:xfrm>
          <a:prstGeom prst="rect">
            <a:avLst/>
          </a:prstGeom>
          <a:noFill/>
        </p:spPr>
        <p:txBody>
          <a:bodyPr wrap="square">
            <a:spAutoFit/>
          </a:bodyPr>
          <a:lstStyle/>
          <a:p>
            <a:pPr algn="l"/>
            <a:r>
              <a:rPr sz="1100" b="1" i="0">
                <a:solidFill>
                  <a:srgbClr val="0B2A4A"/>
                </a:solidFill>
                <a:latin typeface="Calibri"/>
              </a:rPr>
              <a:t>SINGLE-SHOP CONCENTRATION</a:t>
            </a:r>
          </a:p>
        </p:txBody>
      </p:sp>
      <p:sp>
        <p:nvSpPr>
          <p:cNvPr id="32" name="TextBox 31"/>
          <p:cNvSpPr txBox="1"/>
          <p:nvPr/>
        </p:nvSpPr>
        <p:spPr>
          <a:xfrm>
            <a:off x="4206240" y="2926080"/>
            <a:ext cx="3383280" cy="320040"/>
          </a:xfrm>
          <a:prstGeom prst="rect">
            <a:avLst/>
          </a:prstGeom>
          <a:noFill/>
        </p:spPr>
        <p:txBody>
          <a:bodyPr wrap="square">
            <a:spAutoFit/>
          </a:bodyPr>
          <a:lstStyle/>
          <a:p>
            <a:pPr algn="l"/>
            <a:r>
              <a:rPr sz="2000" b="1" i="0">
                <a:solidFill>
                  <a:srgbClr val="5E7080"/>
                </a:solidFill>
                <a:latin typeface="Calibri"/>
              </a:rPr>
              <a:t>75% shop at ONE merchant</a:t>
            </a:r>
          </a:p>
        </p:txBody>
      </p:sp>
      <p:sp>
        <p:nvSpPr>
          <p:cNvPr id="33" name="TextBox 32"/>
          <p:cNvSpPr txBox="1"/>
          <p:nvPr/>
        </p:nvSpPr>
        <p:spPr>
          <a:xfrm>
            <a:off x="4206240" y="3291840"/>
            <a:ext cx="3383280" cy="600164"/>
          </a:xfrm>
          <a:prstGeom prst="rect">
            <a:avLst/>
          </a:prstGeom>
          <a:noFill/>
        </p:spPr>
        <p:txBody>
          <a:bodyPr wrap="square">
            <a:spAutoFit/>
          </a:bodyPr>
          <a:lstStyle/>
          <a:p>
            <a:pPr algn="l"/>
            <a:r>
              <a:rPr sz="1100" b="0">
                <a:solidFill>
                  <a:srgbClr val="2C3E50"/>
                </a:solidFill>
                <a:latin typeface="Calibri"/>
              </a:rPr>
              <a:t>→  Merchant loyalty ≠ Platform loyalty</a:t>
            </a:r>
          </a:p>
          <a:p>
            <a:pPr algn="l"/>
            <a:r>
              <a:rPr sz="1100" b="0">
                <a:solidFill>
                  <a:srgbClr val="2C3E50"/>
                </a:solidFill>
                <a:latin typeface="Calibri"/>
              </a:rPr>
              <a:t>→  Requires explicit platform diversification check</a:t>
            </a:r>
          </a:p>
          <a:p>
            <a:pPr algn="l"/>
            <a:r>
              <a:rPr sz="1100" b="0">
                <a:solidFill>
                  <a:srgbClr val="2C3E50"/>
                </a:solidFill>
                <a:latin typeface="Calibri"/>
              </a:rPr>
              <a:t>→  Core motivation for the loyalty definition</a:t>
            </a:r>
          </a:p>
        </p:txBody>
      </p:sp>
      <p:sp>
        <p:nvSpPr>
          <p:cNvPr id="34" name="Rectangle 33"/>
          <p:cNvSpPr/>
          <p:nvPr/>
        </p:nvSpPr>
        <p:spPr>
          <a:xfrm>
            <a:off x="7955279" y="2468880"/>
            <a:ext cx="393192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955279" y="2468880"/>
            <a:ext cx="3931920" cy="54864"/>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46720" y="2560320"/>
            <a:ext cx="3657600" cy="347472"/>
          </a:xfrm>
          <a:prstGeom prst="rect">
            <a:avLst/>
          </a:prstGeom>
          <a:noFill/>
        </p:spPr>
        <p:txBody>
          <a:bodyPr wrap="square">
            <a:spAutoFit/>
          </a:bodyPr>
          <a:lstStyle/>
          <a:p>
            <a:pPr algn="l"/>
            <a:r>
              <a:rPr sz="1100" b="1" i="0">
                <a:solidFill>
                  <a:srgbClr val="0B2A4A"/>
                </a:solidFill>
                <a:latin typeface="Calibri"/>
              </a:rPr>
              <a:t>TWO USER POPULATIONS</a:t>
            </a:r>
          </a:p>
        </p:txBody>
      </p:sp>
      <p:sp>
        <p:nvSpPr>
          <p:cNvPr id="37" name="TextBox 36"/>
          <p:cNvSpPr txBox="1"/>
          <p:nvPr/>
        </p:nvSpPr>
        <p:spPr>
          <a:xfrm>
            <a:off x="8046720" y="2926080"/>
            <a:ext cx="3657600" cy="320040"/>
          </a:xfrm>
          <a:prstGeom prst="rect">
            <a:avLst/>
          </a:prstGeom>
          <a:noFill/>
        </p:spPr>
        <p:txBody>
          <a:bodyPr wrap="square">
            <a:spAutoFit/>
          </a:bodyPr>
          <a:lstStyle/>
          <a:p>
            <a:pPr algn="l"/>
            <a:r>
              <a:rPr sz="1700" b="1" i="0">
                <a:solidFill>
                  <a:srgbClr val="2D6A9F"/>
                </a:solidFill>
                <a:latin typeface="Calibri"/>
              </a:rPr>
              <a:t>72.8K new  |  64K existing</a:t>
            </a:r>
          </a:p>
        </p:txBody>
      </p:sp>
      <p:sp>
        <p:nvSpPr>
          <p:cNvPr id="38" name="TextBox 37"/>
          <p:cNvSpPr txBox="1"/>
          <p:nvPr/>
        </p:nvSpPr>
        <p:spPr>
          <a:xfrm>
            <a:off x="8046720" y="3291840"/>
            <a:ext cx="3657600" cy="600164"/>
          </a:xfrm>
          <a:prstGeom prst="rect">
            <a:avLst/>
          </a:prstGeom>
          <a:noFill/>
        </p:spPr>
        <p:txBody>
          <a:bodyPr wrap="square">
            <a:spAutoFit/>
          </a:bodyPr>
          <a:lstStyle/>
          <a:p>
            <a:pPr algn="l"/>
            <a:r>
              <a:rPr sz="1100" b="0">
                <a:solidFill>
                  <a:srgbClr val="2C3E50"/>
                </a:solidFill>
                <a:latin typeface="Calibri"/>
              </a:rPr>
              <a:t>→  Loyalty definition: uses all users (more data)</a:t>
            </a:r>
          </a:p>
          <a:p>
            <a:pPr algn="l"/>
            <a:r>
              <a:rPr sz="1100" b="0">
                <a:solidFill>
                  <a:srgbClr val="2C3E50"/>
                </a:solidFill>
                <a:latin typeface="Calibri"/>
              </a:rPr>
              <a:t>→  ML model: uses only new users (clean join dates, no tenure ambiguity)</a:t>
            </a:r>
          </a:p>
        </p:txBody>
      </p:sp>
      <p:pic>
        <p:nvPicPr>
          <p:cNvPr id="39" name="Picture 38" descr="eda_frequency_distribution.png"/>
          <p:cNvPicPr>
            <a:picLocks noChangeAspect="1"/>
          </p:cNvPicPr>
          <p:nvPr/>
        </p:nvPicPr>
        <p:blipFill>
          <a:blip r:embed="rId3"/>
          <a:stretch>
            <a:fillRect/>
          </a:stretch>
        </p:blipFill>
        <p:spPr>
          <a:xfrm>
            <a:off x="402336" y="3962253"/>
            <a:ext cx="3401568" cy="2093977"/>
          </a:xfrm>
          <a:prstGeom prst="rect">
            <a:avLst/>
          </a:prstGeom>
        </p:spPr>
      </p:pic>
      <p:pic>
        <p:nvPicPr>
          <p:cNvPr id="40" name="Picture 39" descr="loyalty_merchant_vs_platform_pie.png"/>
          <p:cNvPicPr>
            <a:picLocks noChangeAspect="1"/>
          </p:cNvPicPr>
          <p:nvPr/>
        </p:nvPicPr>
        <p:blipFill>
          <a:blip r:embed="rId4"/>
          <a:stretch>
            <a:fillRect/>
          </a:stretch>
        </p:blipFill>
        <p:spPr>
          <a:xfrm>
            <a:off x="4242816" y="3977639"/>
            <a:ext cx="3401568" cy="2023727"/>
          </a:xfrm>
          <a:prstGeom prst="rect">
            <a:avLst/>
          </a:prstGeom>
        </p:spPr>
      </p:pic>
      <p:graphicFrame>
        <p:nvGraphicFramePr>
          <p:cNvPr id="41" name="Chart 40"/>
          <p:cNvGraphicFramePr>
            <a:graphicFrameLocks noGrp="1"/>
          </p:cNvGraphicFramePr>
          <p:nvPr>
            <p:extLst>
              <p:ext uri="{D42A27DB-BD31-4B8C-83A1-F6EECF244321}">
                <p14:modId xmlns:p14="http://schemas.microsoft.com/office/powerpoint/2010/main" val="2850344339"/>
              </p:ext>
            </p:extLst>
          </p:nvPr>
        </p:nvGraphicFramePr>
        <p:xfrm>
          <a:off x="8275318" y="3951658"/>
          <a:ext cx="3291841" cy="2115166"/>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Defining Customer Loyalty</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Five components, grounded in data and business logic</a:t>
            </a:r>
          </a:p>
        </p:txBody>
      </p:sp>
      <p:sp>
        <p:nvSpPr>
          <p:cNvPr id="9" name="Rectangle 8"/>
          <p:cNvSpPr/>
          <p:nvPr/>
        </p:nvSpPr>
        <p:spPr>
          <a:xfrm>
            <a:off x="274320" y="1124711"/>
            <a:ext cx="5120640" cy="5212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a:xfrm>
            <a:off x="274320" y="1124711"/>
            <a:ext cx="5120640" cy="384048"/>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152143"/>
            <a:ext cx="4937760" cy="329184"/>
          </a:xfrm>
          <a:prstGeom prst="rect">
            <a:avLst/>
          </a:prstGeom>
          <a:noFill/>
        </p:spPr>
        <p:txBody>
          <a:bodyPr wrap="square">
            <a:spAutoFit/>
          </a:bodyPr>
          <a:lstStyle/>
          <a:p>
            <a:pPr algn="l"/>
            <a:r>
              <a:rPr sz="1050" b="1" i="0">
                <a:solidFill>
                  <a:srgbClr val="FFFFFF"/>
                </a:solidFill>
                <a:latin typeface="Calibri"/>
              </a:rPr>
              <a:t>FOUR HARD REQUIREMENTS  (ALL must be met)</a:t>
            </a:r>
          </a:p>
        </p:txBody>
      </p:sp>
      <p:sp>
        <p:nvSpPr>
          <p:cNvPr id="37" name="Rectangle 36"/>
          <p:cNvSpPr/>
          <p:nvPr/>
        </p:nvSpPr>
        <p:spPr>
          <a:xfrm>
            <a:off x="6263640" y="1143000"/>
            <a:ext cx="5623560" cy="5212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263640" y="1143000"/>
            <a:ext cx="5623560" cy="384048"/>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55080" y="1170432"/>
            <a:ext cx="5394960" cy="329184"/>
          </a:xfrm>
          <a:prstGeom prst="rect">
            <a:avLst/>
          </a:prstGeom>
          <a:noFill/>
        </p:spPr>
        <p:txBody>
          <a:bodyPr wrap="square">
            <a:spAutoFit/>
          </a:bodyPr>
          <a:lstStyle/>
          <a:p>
            <a:pPr algn="l"/>
            <a:r>
              <a:rPr sz="1050" b="1" i="0">
                <a:solidFill>
                  <a:srgbClr val="FFFFFF"/>
                </a:solidFill>
                <a:latin typeface="Calibri"/>
              </a:rPr>
              <a:t>PLATFORM LOYALTY CHECK  (at least ONE path)</a:t>
            </a:r>
          </a:p>
        </p:txBody>
      </p:sp>
      <p:sp>
        <p:nvSpPr>
          <p:cNvPr id="40" name="Rectangle 39"/>
          <p:cNvSpPr/>
          <p:nvPr/>
        </p:nvSpPr>
        <p:spPr>
          <a:xfrm>
            <a:off x="6355080" y="1627632"/>
            <a:ext cx="5349240" cy="1828800"/>
          </a:xfrm>
          <a:prstGeom prst="rect">
            <a:avLst/>
          </a:prstGeom>
          <a:solidFill>
            <a:srgbClr val="DF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46520" y="1673352"/>
            <a:ext cx="5029200" cy="274320"/>
          </a:xfrm>
          <a:prstGeom prst="rect">
            <a:avLst/>
          </a:prstGeom>
          <a:noFill/>
        </p:spPr>
        <p:txBody>
          <a:bodyPr wrap="square">
            <a:spAutoFit/>
          </a:bodyPr>
          <a:lstStyle/>
          <a:p>
            <a:pPr algn="l"/>
            <a:r>
              <a:rPr sz="1000" b="1" i="0">
                <a:solidFill>
                  <a:srgbClr val="0B2A4A"/>
                </a:solidFill>
                <a:latin typeface="Calibri"/>
              </a:rPr>
              <a:t>PATH A: MERCHANT BREADTH</a:t>
            </a:r>
          </a:p>
        </p:txBody>
      </p:sp>
      <p:sp>
        <p:nvSpPr>
          <p:cNvPr id="42" name="TextBox 41"/>
          <p:cNvSpPr txBox="1"/>
          <p:nvPr/>
        </p:nvSpPr>
        <p:spPr>
          <a:xfrm>
            <a:off x="6446520" y="1920240"/>
            <a:ext cx="3657600" cy="384048"/>
          </a:xfrm>
          <a:prstGeom prst="rect">
            <a:avLst/>
          </a:prstGeom>
          <a:noFill/>
        </p:spPr>
        <p:txBody>
          <a:bodyPr wrap="square">
            <a:spAutoFit/>
          </a:bodyPr>
          <a:lstStyle/>
          <a:p>
            <a:pPr algn="l"/>
            <a:r>
              <a:rPr sz="2200" b="1" i="0">
                <a:solidFill>
                  <a:srgbClr val="2D6A9F"/>
                </a:solidFill>
                <a:latin typeface="Calibri"/>
              </a:rPr>
              <a:t>≥ 2 Unique Shops</a:t>
            </a:r>
          </a:p>
        </p:txBody>
      </p:sp>
      <p:sp>
        <p:nvSpPr>
          <p:cNvPr id="43" name="TextBox 42"/>
          <p:cNvSpPr txBox="1"/>
          <p:nvPr/>
        </p:nvSpPr>
        <p:spPr>
          <a:xfrm>
            <a:off x="6446520" y="2286000"/>
            <a:ext cx="2286000" cy="228600"/>
          </a:xfrm>
          <a:prstGeom prst="rect">
            <a:avLst/>
          </a:prstGeom>
          <a:noFill/>
        </p:spPr>
        <p:txBody>
          <a:bodyPr wrap="square">
            <a:spAutoFit/>
          </a:bodyPr>
          <a:lstStyle/>
          <a:p>
            <a:pPr algn="l"/>
            <a:r>
              <a:rPr sz="1000" b="0" i="0">
                <a:solidFill>
                  <a:srgbClr val="2E75B6"/>
                </a:solidFill>
                <a:latin typeface="Calibri"/>
              </a:rPr>
              <a:t>25.2% of users qualify</a:t>
            </a:r>
          </a:p>
        </p:txBody>
      </p:sp>
      <p:sp>
        <p:nvSpPr>
          <p:cNvPr id="44" name="TextBox 43"/>
          <p:cNvSpPr txBox="1"/>
          <p:nvPr/>
        </p:nvSpPr>
        <p:spPr>
          <a:xfrm>
            <a:off x="6446520" y="2487168"/>
            <a:ext cx="5120640" cy="457200"/>
          </a:xfrm>
          <a:prstGeom prst="rect">
            <a:avLst/>
          </a:prstGeom>
          <a:noFill/>
        </p:spPr>
        <p:txBody>
          <a:bodyPr wrap="square">
            <a:spAutoFit/>
          </a:bodyPr>
          <a:lstStyle/>
          <a:p>
            <a:pPr algn="l"/>
            <a:r>
              <a:rPr sz="950" b="0" i="0">
                <a:solidFill>
                  <a:srgbClr val="2C3E50"/>
                </a:solidFill>
                <a:latin typeface="Calibri Light"/>
              </a:rPr>
              <a:t>Signal: actively choosing Spendy in a new merchant context</a:t>
            </a:r>
          </a:p>
        </p:txBody>
      </p:sp>
      <p:sp>
        <p:nvSpPr>
          <p:cNvPr id="45" name="Rectangle 44"/>
          <p:cNvSpPr/>
          <p:nvPr/>
        </p:nvSpPr>
        <p:spPr>
          <a:xfrm>
            <a:off x="8503920" y="3520440"/>
            <a:ext cx="640080" cy="320040"/>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z="1000" b="1">
                <a:solidFill>
                  <a:srgbClr val="FFFFFF"/>
                </a:solidFill>
              </a:rPr>
              <a:t>OR</a:t>
            </a:r>
            <a:endParaRPr dirty="0"/>
          </a:p>
        </p:txBody>
      </p:sp>
      <p:sp>
        <p:nvSpPr>
          <p:cNvPr id="47" name="Rectangle 46"/>
          <p:cNvSpPr/>
          <p:nvPr/>
        </p:nvSpPr>
        <p:spPr>
          <a:xfrm>
            <a:off x="6355080" y="3886200"/>
            <a:ext cx="5349240" cy="1920240"/>
          </a:xfrm>
          <a:prstGeom prst="rect">
            <a:avLst/>
          </a:prstGeom>
          <a:solidFill>
            <a:srgbClr val="DF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46520" y="3931920"/>
            <a:ext cx="5029200" cy="274320"/>
          </a:xfrm>
          <a:prstGeom prst="rect">
            <a:avLst/>
          </a:prstGeom>
          <a:noFill/>
        </p:spPr>
        <p:txBody>
          <a:bodyPr wrap="square">
            <a:spAutoFit/>
          </a:bodyPr>
          <a:lstStyle/>
          <a:p>
            <a:pPr algn="l"/>
            <a:r>
              <a:rPr sz="1000" b="1" i="0">
                <a:solidFill>
                  <a:srgbClr val="0B2A4A"/>
                </a:solidFill>
                <a:latin typeface="Calibri"/>
              </a:rPr>
              <a:t>PATH B: SUSTAINED ENGAGEMENT</a:t>
            </a:r>
          </a:p>
        </p:txBody>
      </p:sp>
      <p:sp>
        <p:nvSpPr>
          <p:cNvPr id="49" name="TextBox 48"/>
          <p:cNvSpPr txBox="1"/>
          <p:nvPr/>
        </p:nvSpPr>
        <p:spPr>
          <a:xfrm>
            <a:off x="6446520" y="4178808"/>
            <a:ext cx="4114800" cy="384048"/>
          </a:xfrm>
          <a:prstGeom prst="rect">
            <a:avLst/>
          </a:prstGeom>
          <a:noFill/>
        </p:spPr>
        <p:txBody>
          <a:bodyPr wrap="square">
            <a:spAutoFit/>
          </a:bodyPr>
          <a:lstStyle/>
          <a:p>
            <a:pPr algn="l"/>
            <a:r>
              <a:rPr sz="2200" b="1" i="0">
                <a:solidFill>
                  <a:srgbClr val="2D6A9F"/>
                </a:solidFill>
                <a:latin typeface="Calibri"/>
              </a:rPr>
              <a:t>≥ 6 Active Months (of 7)</a:t>
            </a:r>
          </a:p>
        </p:txBody>
      </p:sp>
      <p:sp>
        <p:nvSpPr>
          <p:cNvPr id="50" name="TextBox 49"/>
          <p:cNvSpPr txBox="1"/>
          <p:nvPr/>
        </p:nvSpPr>
        <p:spPr>
          <a:xfrm>
            <a:off x="6446520" y="4544568"/>
            <a:ext cx="2286000" cy="228600"/>
          </a:xfrm>
          <a:prstGeom prst="rect">
            <a:avLst/>
          </a:prstGeom>
          <a:noFill/>
        </p:spPr>
        <p:txBody>
          <a:bodyPr wrap="square">
            <a:spAutoFit/>
          </a:bodyPr>
          <a:lstStyle/>
          <a:p>
            <a:pPr algn="l"/>
            <a:r>
              <a:rPr sz="1000" b="0" i="0">
                <a:solidFill>
                  <a:srgbClr val="2E75B6"/>
                </a:solidFill>
                <a:latin typeface="Calibri"/>
              </a:rPr>
              <a:t>8.0% of users qualify</a:t>
            </a:r>
          </a:p>
        </p:txBody>
      </p:sp>
      <p:sp>
        <p:nvSpPr>
          <p:cNvPr id="51" name="TextBox 50"/>
          <p:cNvSpPr txBox="1"/>
          <p:nvPr/>
        </p:nvSpPr>
        <p:spPr>
          <a:xfrm>
            <a:off x="6446520" y="4754880"/>
            <a:ext cx="5120640" cy="457200"/>
          </a:xfrm>
          <a:prstGeom prst="rect">
            <a:avLst/>
          </a:prstGeom>
          <a:noFill/>
        </p:spPr>
        <p:txBody>
          <a:bodyPr wrap="square">
            <a:spAutoFit/>
          </a:bodyPr>
          <a:lstStyle/>
          <a:p>
            <a:pPr algn="l"/>
            <a:r>
              <a:rPr sz="950" b="0" i="0">
                <a:solidFill>
                  <a:srgbClr val="2C3E50"/>
                </a:solidFill>
                <a:latin typeface="Calibri Light"/>
              </a:rPr>
              <a:t>Near-perfect monthly attendance &gt; 2-shop breadth with low activity</a:t>
            </a:r>
          </a:p>
        </p:txBody>
      </p:sp>
      <p:sp>
        <p:nvSpPr>
          <p:cNvPr id="52" name="Rectangle 51"/>
          <p:cNvSpPr/>
          <p:nvPr/>
        </p:nvSpPr>
        <p:spPr>
          <a:xfrm>
            <a:off x="274320" y="6400800"/>
            <a:ext cx="11640312" cy="25603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65760" y="6419088"/>
            <a:ext cx="11430000" cy="219456"/>
          </a:xfrm>
          <a:prstGeom prst="rect">
            <a:avLst/>
          </a:prstGeom>
          <a:noFill/>
        </p:spPr>
        <p:txBody>
          <a:bodyPr wrap="square">
            <a:spAutoFit/>
          </a:bodyPr>
          <a:lstStyle/>
          <a:p>
            <a:pPr algn="ctr"/>
            <a:r>
              <a:rPr sz="950" b="1" i="0">
                <a:solidFill>
                  <a:srgbClr val="C09840"/>
                </a:solidFill>
                <a:latin typeface="Calibri"/>
              </a:rPr>
              <a:t>4.6% of users qualify as Loyal  (6,273 users)  |  Conservative by design: real rewards have real costs</a:t>
            </a:r>
          </a:p>
        </p:txBody>
      </p:sp>
      <p:sp>
        <p:nvSpPr>
          <p:cNvPr id="54" name="Rectangle 53"/>
          <p:cNvSpPr/>
          <p:nvPr/>
        </p:nvSpPr>
        <p:spPr>
          <a:xfrm>
            <a:off x="384048" y="1536190"/>
            <a:ext cx="4901183" cy="10515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384048" y="1536190"/>
            <a:ext cx="54864" cy="105156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12064" y="1600198"/>
            <a:ext cx="3200400" cy="256032"/>
          </a:xfrm>
          <a:prstGeom prst="rect">
            <a:avLst/>
          </a:prstGeom>
          <a:noFill/>
        </p:spPr>
        <p:txBody>
          <a:bodyPr wrap="none">
            <a:spAutoFit/>
          </a:bodyPr>
          <a:lstStyle/>
          <a:p>
            <a:r>
              <a:rPr sz="1000" b="1">
                <a:solidFill>
                  <a:srgbClr val="0B2A4A"/>
                </a:solidFill>
              </a:rPr>
              <a:t>① PURCHASE FREQUENCY</a:t>
            </a:r>
          </a:p>
        </p:txBody>
      </p:sp>
      <p:sp>
        <p:nvSpPr>
          <p:cNvPr id="57" name="TextBox 56"/>
          <p:cNvSpPr txBox="1"/>
          <p:nvPr/>
        </p:nvSpPr>
        <p:spPr>
          <a:xfrm>
            <a:off x="512064" y="1901950"/>
            <a:ext cx="2743200" cy="274320"/>
          </a:xfrm>
          <a:prstGeom prst="rect">
            <a:avLst/>
          </a:prstGeom>
          <a:noFill/>
        </p:spPr>
        <p:txBody>
          <a:bodyPr wrap="none">
            <a:spAutoFit/>
          </a:bodyPr>
          <a:lstStyle/>
          <a:p>
            <a:r>
              <a:rPr sz="1100" b="1">
                <a:solidFill>
                  <a:srgbClr val="2E75B6"/>
                </a:solidFill>
              </a:rPr>
              <a:t>≥ 2 purchases / month</a:t>
            </a:r>
          </a:p>
        </p:txBody>
      </p:sp>
      <p:sp>
        <p:nvSpPr>
          <p:cNvPr id="58" name="Rectangle 57"/>
          <p:cNvSpPr/>
          <p:nvPr/>
        </p:nvSpPr>
        <p:spPr>
          <a:xfrm>
            <a:off x="3931920" y="1618486"/>
            <a:ext cx="1188720" cy="245364"/>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931920" y="1627630"/>
            <a:ext cx="1188720" cy="228600"/>
          </a:xfrm>
          <a:prstGeom prst="rect">
            <a:avLst/>
          </a:prstGeom>
          <a:noFill/>
        </p:spPr>
        <p:txBody>
          <a:bodyPr wrap="none">
            <a:spAutoFit/>
          </a:bodyPr>
          <a:lstStyle/>
          <a:p>
            <a:pPr algn="ctr"/>
            <a:r>
              <a:rPr sz="850" b="1">
                <a:solidFill>
                  <a:srgbClr val="FFFFFF"/>
                </a:solidFill>
              </a:rPr>
              <a:t>18.4% qualify</a:t>
            </a:r>
          </a:p>
        </p:txBody>
      </p:sp>
      <p:sp>
        <p:nvSpPr>
          <p:cNvPr id="60" name="TextBox 59"/>
          <p:cNvSpPr txBox="1"/>
          <p:nvPr/>
        </p:nvSpPr>
        <p:spPr>
          <a:xfrm>
            <a:off x="512064" y="2258566"/>
            <a:ext cx="3438143" cy="292608"/>
          </a:xfrm>
          <a:prstGeom prst="rect">
            <a:avLst/>
          </a:prstGeom>
          <a:noFill/>
        </p:spPr>
        <p:txBody>
          <a:bodyPr wrap="square">
            <a:spAutoFit/>
          </a:bodyPr>
          <a:lstStyle/>
          <a:p>
            <a:r>
              <a:rPr sz="900" b="0">
                <a:solidFill>
                  <a:srgbClr val="5E7080"/>
                </a:solidFill>
              </a:rPr>
              <a:t>Natural elbow at 2.0: marks habit vs occasional use</a:t>
            </a:r>
          </a:p>
        </p:txBody>
      </p:sp>
      <p:sp>
        <p:nvSpPr>
          <p:cNvPr id="61" name="Rectangle 60"/>
          <p:cNvSpPr/>
          <p:nvPr/>
        </p:nvSpPr>
        <p:spPr>
          <a:xfrm>
            <a:off x="384048" y="2770630"/>
            <a:ext cx="4901183" cy="10515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384048" y="2770630"/>
            <a:ext cx="54864" cy="105156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12064" y="2834638"/>
            <a:ext cx="3200400" cy="256032"/>
          </a:xfrm>
          <a:prstGeom prst="rect">
            <a:avLst/>
          </a:prstGeom>
          <a:noFill/>
        </p:spPr>
        <p:txBody>
          <a:bodyPr wrap="none">
            <a:spAutoFit/>
          </a:bodyPr>
          <a:lstStyle/>
          <a:p>
            <a:r>
              <a:rPr sz="1000" b="1">
                <a:solidFill>
                  <a:srgbClr val="0B2A4A"/>
                </a:solidFill>
              </a:rPr>
              <a:t>② MONTHLY SPEND</a:t>
            </a:r>
          </a:p>
        </p:txBody>
      </p:sp>
      <p:sp>
        <p:nvSpPr>
          <p:cNvPr id="64" name="TextBox 63"/>
          <p:cNvSpPr txBox="1"/>
          <p:nvPr/>
        </p:nvSpPr>
        <p:spPr>
          <a:xfrm>
            <a:off x="512064" y="3136390"/>
            <a:ext cx="2743200" cy="274320"/>
          </a:xfrm>
          <a:prstGeom prst="rect">
            <a:avLst/>
          </a:prstGeom>
          <a:noFill/>
        </p:spPr>
        <p:txBody>
          <a:bodyPr wrap="none">
            <a:spAutoFit/>
          </a:bodyPr>
          <a:lstStyle/>
          <a:p>
            <a:r>
              <a:rPr sz="1100" b="1">
                <a:solidFill>
                  <a:srgbClr val="2D6A9F"/>
                </a:solidFill>
              </a:rPr>
              <a:t>≥ ¥10,000 / month</a:t>
            </a:r>
          </a:p>
        </p:txBody>
      </p:sp>
      <p:sp>
        <p:nvSpPr>
          <p:cNvPr id="65" name="Rectangle 64"/>
          <p:cNvSpPr/>
          <p:nvPr/>
        </p:nvSpPr>
        <p:spPr>
          <a:xfrm>
            <a:off x="3931920" y="2852926"/>
            <a:ext cx="1188720" cy="245364"/>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931920" y="2862070"/>
            <a:ext cx="1188720" cy="228600"/>
          </a:xfrm>
          <a:prstGeom prst="rect">
            <a:avLst/>
          </a:prstGeom>
          <a:noFill/>
        </p:spPr>
        <p:txBody>
          <a:bodyPr wrap="none">
            <a:spAutoFit/>
          </a:bodyPr>
          <a:lstStyle/>
          <a:p>
            <a:pPr algn="ctr"/>
            <a:r>
              <a:rPr sz="850" b="1">
                <a:solidFill>
                  <a:srgbClr val="FFFFFF"/>
                </a:solidFill>
              </a:rPr>
              <a:t>16.3% qualify</a:t>
            </a:r>
          </a:p>
        </p:txBody>
      </p:sp>
      <p:sp>
        <p:nvSpPr>
          <p:cNvPr id="67" name="TextBox 66"/>
          <p:cNvSpPr txBox="1"/>
          <p:nvPr/>
        </p:nvSpPr>
        <p:spPr>
          <a:xfrm>
            <a:off x="512064" y="3493006"/>
            <a:ext cx="3438143" cy="292608"/>
          </a:xfrm>
          <a:prstGeom prst="rect">
            <a:avLst/>
          </a:prstGeom>
          <a:noFill/>
        </p:spPr>
        <p:txBody>
          <a:bodyPr wrap="square">
            <a:spAutoFit/>
          </a:bodyPr>
          <a:lstStyle/>
          <a:p>
            <a:r>
              <a:rPr sz="900" b="0">
                <a:solidFill>
                  <a:srgbClr val="5E7080"/>
                </a:solidFill>
              </a:rPr>
              <a:t>Above mean (¥6K): captures top spending tier</a:t>
            </a:r>
          </a:p>
        </p:txBody>
      </p:sp>
      <p:sp>
        <p:nvSpPr>
          <p:cNvPr id="68" name="Rectangle 67"/>
          <p:cNvSpPr/>
          <p:nvPr/>
        </p:nvSpPr>
        <p:spPr>
          <a:xfrm>
            <a:off x="384048" y="4005069"/>
            <a:ext cx="4901183" cy="10515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384048" y="4005069"/>
            <a:ext cx="54864" cy="1051560"/>
          </a:xfrm>
          <a:prstGeom prst="rect">
            <a:avLst/>
          </a:prstGeom>
          <a:solidFill>
            <a:srgbClr val="5E7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2064" y="4069078"/>
            <a:ext cx="3200400" cy="256032"/>
          </a:xfrm>
          <a:prstGeom prst="rect">
            <a:avLst/>
          </a:prstGeom>
          <a:noFill/>
        </p:spPr>
        <p:txBody>
          <a:bodyPr wrap="none">
            <a:spAutoFit/>
          </a:bodyPr>
          <a:lstStyle/>
          <a:p>
            <a:r>
              <a:rPr sz="1000" b="1">
                <a:solidFill>
                  <a:srgbClr val="0B2A4A"/>
                </a:solidFill>
              </a:rPr>
              <a:t>③ RECENCY</a:t>
            </a:r>
          </a:p>
        </p:txBody>
      </p:sp>
      <p:sp>
        <p:nvSpPr>
          <p:cNvPr id="71" name="TextBox 70"/>
          <p:cNvSpPr txBox="1"/>
          <p:nvPr/>
        </p:nvSpPr>
        <p:spPr>
          <a:xfrm>
            <a:off x="512064" y="4370830"/>
            <a:ext cx="2743200" cy="274320"/>
          </a:xfrm>
          <a:prstGeom prst="rect">
            <a:avLst/>
          </a:prstGeom>
          <a:noFill/>
        </p:spPr>
        <p:txBody>
          <a:bodyPr wrap="none">
            <a:spAutoFit/>
          </a:bodyPr>
          <a:lstStyle/>
          <a:p>
            <a:r>
              <a:rPr sz="1100" b="1">
                <a:solidFill>
                  <a:srgbClr val="5E7080"/>
                </a:solidFill>
              </a:rPr>
              <a:t>Last purchase within 2 months</a:t>
            </a:r>
          </a:p>
        </p:txBody>
      </p:sp>
      <p:sp>
        <p:nvSpPr>
          <p:cNvPr id="72" name="Rectangle 71"/>
          <p:cNvSpPr/>
          <p:nvPr/>
        </p:nvSpPr>
        <p:spPr>
          <a:xfrm>
            <a:off x="3931920" y="4087365"/>
            <a:ext cx="1188720" cy="245364"/>
          </a:xfrm>
          <a:prstGeom prst="rect">
            <a:avLst/>
          </a:prstGeom>
          <a:solidFill>
            <a:srgbClr val="5E7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931920" y="4096509"/>
            <a:ext cx="1188720" cy="228600"/>
          </a:xfrm>
          <a:prstGeom prst="rect">
            <a:avLst/>
          </a:prstGeom>
          <a:noFill/>
        </p:spPr>
        <p:txBody>
          <a:bodyPr wrap="none">
            <a:spAutoFit/>
          </a:bodyPr>
          <a:lstStyle/>
          <a:p>
            <a:pPr algn="ctr"/>
            <a:r>
              <a:rPr sz="850" b="1" dirty="0">
                <a:solidFill>
                  <a:srgbClr val="FFFFFF"/>
                </a:solidFill>
              </a:rPr>
              <a:t>60.3% qualify</a:t>
            </a:r>
          </a:p>
        </p:txBody>
      </p:sp>
      <p:sp>
        <p:nvSpPr>
          <p:cNvPr id="74" name="TextBox 73"/>
          <p:cNvSpPr txBox="1"/>
          <p:nvPr/>
        </p:nvSpPr>
        <p:spPr>
          <a:xfrm>
            <a:off x="512064" y="4727446"/>
            <a:ext cx="3438143" cy="292608"/>
          </a:xfrm>
          <a:prstGeom prst="rect">
            <a:avLst/>
          </a:prstGeom>
          <a:noFill/>
        </p:spPr>
        <p:txBody>
          <a:bodyPr wrap="square">
            <a:spAutoFit/>
          </a:bodyPr>
          <a:lstStyle/>
          <a:p>
            <a:r>
              <a:rPr sz="900" b="0">
                <a:solidFill>
                  <a:srgbClr val="5E7080"/>
                </a:solidFill>
              </a:rPr>
              <a:t>Keeps the label current: rewards active users only</a:t>
            </a:r>
          </a:p>
        </p:txBody>
      </p:sp>
      <p:sp>
        <p:nvSpPr>
          <p:cNvPr id="75" name="Rectangle 74"/>
          <p:cNvSpPr/>
          <p:nvPr/>
        </p:nvSpPr>
        <p:spPr>
          <a:xfrm>
            <a:off x="384048" y="5239509"/>
            <a:ext cx="4901183" cy="10515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384048" y="5239509"/>
            <a:ext cx="54864" cy="105156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12064" y="5303518"/>
            <a:ext cx="3200400" cy="256032"/>
          </a:xfrm>
          <a:prstGeom prst="rect">
            <a:avLst/>
          </a:prstGeom>
          <a:noFill/>
        </p:spPr>
        <p:txBody>
          <a:bodyPr wrap="none">
            <a:spAutoFit/>
          </a:bodyPr>
          <a:lstStyle/>
          <a:p>
            <a:r>
              <a:rPr sz="1000" b="1">
                <a:solidFill>
                  <a:srgbClr val="0B2A4A"/>
                </a:solidFill>
              </a:rPr>
              <a:t>④ REGISTRATION</a:t>
            </a:r>
          </a:p>
        </p:txBody>
      </p:sp>
      <p:sp>
        <p:nvSpPr>
          <p:cNvPr id="78" name="TextBox 77"/>
          <p:cNvSpPr txBox="1"/>
          <p:nvPr/>
        </p:nvSpPr>
        <p:spPr>
          <a:xfrm>
            <a:off x="512064" y="5605270"/>
            <a:ext cx="2743200" cy="274320"/>
          </a:xfrm>
          <a:prstGeom prst="rect">
            <a:avLst/>
          </a:prstGeom>
          <a:noFill/>
        </p:spPr>
        <p:txBody>
          <a:bodyPr wrap="none">
            <a:spAutoFit/>
          </a:bodyPr>
          <a:lstStyle/>
          <a:p>
            <a:r>
              <a:rPr sz="1100" b="1">
                <a:solidFill>
                  <a:srgbClr val="0B2A4A"/>
                </a:solidFill>
              </a:rPr>
              <a:t>≥ 3 months on platform</a:t>
            </a:r>
          </a:p>
        </p:txBody>
      </p:sp>
      <p:sp>
        <p:nvSpPr>
          <p:cNvPr id="79" name="Rectangle 78"/>
          <p:cNvSpPr/>
          <p:nvPr/>
        </p:nvSpPr>
        <p:spPr>
          <a:xfrm>
            <a:off x="3931920" y="5321805"/>
            <a:ext cx="1188720" cy="245364"/>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3931920" y="5330949"/>
            <a:ext cx="1188720" cy="228600"/>
          </a:xfrm>
          <a:prstGeom prst="rect">
            <a:avLst/>
          </a:prstGeom>
          <a:noFill/>
        </p:spPr>
        <p:txBody>
          <a:bodyPr wrap="none">
            <a:spAutoFit/>
          </a:bodyPr>
          <a:lstStyle/>
          <a:p>
            <a:pPr algn="ctr"/>
            <a:r>
              <a:rPr sz="850" b="1">
                <a:solidFill>
                  <a:srgbClr val="FFFFFF"/>
                </a:solidFill>
              </a:rPr>
              <a:t>Business rule</a:t>
            </a:r>
          </a:p>
        </p:txBody>
      </p:sp>
      <p:sp>
        <p:nvSpPr>
          <p:cNvPr id="81" name="TextBox 80"/>
          <p:cNvSpPr txBox="1"/>
          <p:nvPr/>
        </p:nvSpPr>
        <p:spPr>
          <a:xfrm>
            <a:off x="512064" y="5961885"/>
            <a:ext cx="3438143" cy="292608"/>
          </a:xfrm>
          <a:prstGeom prst="rect">
            <a:avLst/>
          </a:prstGeom>
          <a:noFill/>
        </p:spPr>
        <p:txBody>
          <a:bodyPr wrap="square">
            <a:spAutoFit/>
          </a:bodyPr>
          <a:lstStyle/>
          <a:p>
            <a:r>
              <a:rPr sz="900" b="0">
                <a:solidFill>
                  <a:srgbClr val="5E7080"/>
                </a:solidFill>
              </a:rPr>
              <a:t>Guards against seasonal spikes (Dec joiners: 1 month only)</a:t>
            </a:r>
          </a:p>
        </p:txBody>
      </p:sp>
      <p:sp>
        <p:nvSpPr>
          <p:cNvPr id="82" name="TextBox 81"/>
          <p:cNvSpPr txBox="1"/>
          <p:nvPr/>
        </p:nvSpPr>
        <p:spPr>
          <a:xfrm>
            <a:off x="5394959" y="3758182"/>
            <a:ext cx="731520" cy="411480"/>
          </a:xfrm>
          <a:prstGeom prst="rect">
            <a:avLst/>
          </a:prstGeom>
          <a:noFill/>
        </p:spPr>
        <p:txBody>
          <a:bodyPr wrap="none">
            <a:spAutoFit/>
          </a:bodyPr>
          <a:lstStyle/>
          <a:p>
            <a:pPr algn="ctr"/>
            <a:r>
              <a:rPr sz="1300" b="1" dirty="0">
                <a:solidFill>
                  <a:srgbClr val="5E7080"/>
                </a:solidFill>
              </a:rPr>
              <a:t>AND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Feature Engineering</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Every feature is a proxy for a loyalty component; no feature without a reason</a:t>
            </a:r>
          </a:p>
        </p:txBody>
      </p:sp>
      <p:sp>
        <p:nvSpPr>
          <p:cNvPr id="9" name="Rectangle 8"/>
          <p:cNvSpPr/>
          <p:nvPr/>
        </p:nvSpPr>
        <p:spPr>
          <a:xfrm>
            <a:off x="274320" y="1143000"/>
            <a:ext cx="11430000" cy="71323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07008"/>
            <a:ext cx="2286000" cy="310896"/>
          </a:xfrm>
          <a:prstGeom prst="rect">
            <a:avLst/>
          </a:prstGeom>
          <a:noFill/>
        </p:spPr>
        <p:txBody>
          <a:bodyPr wrap="square">
            <a:spAutoFit/>
          </a:bodyPr>
          <a:lstStyle/>
          <a:p>
            <a:pPr algn="l"/>
            <a:r>
              <a:rPr sz="1100" b="1" i="0">
                <a:solidFill>
                  <a:srgbClr val="C09840"/>
                </a:solidFill>
                <a:latin typeface="Calibri"/>
              </a:rPr>
              <a:t>WHY 60 DAYS?</a:t>
            </a:r>
          </a:p>
        </p:txBody>
      </p:sp>
      <p:sp>
        <p:nvSpPr>
          <p:cNvPr id="11" name="TextBox 10"/>
          <p:cNvSpPr txBox="1"/>
          <p:nvPr/>
        </p:nvSpPr>
        <p:spPr>
          <a:xfrm>
            <a:off x="2743200" y="1207008"/>
            <a:ext cx="8961120" cy="577081"/>
          </a:xfrm>
          <a:prstGeom prst="rect">
            <a:avLst/>
          </a:prstGeom>
          <a:noFill/>
        </p:spPr>
        <p:txBody>
          <a:bodyPr wrap="square">
            <a:spAutoFit/>
          </a:bodyPr>
          <a:lstStyle/>
          <a:p>
            <a:pPr algn="l"/>
            <a:r>
              <a:rPr lang="en-US" sz="1050" b="0" dirty="0">
                <a:solidFill>
                  <a:srgbClr val="2C3E50"/>
                </a:solidFill>
              </a:rPr>
              <a:t>Month 2 is the earliest actionable checkpoint: enough history to distinguish a habitual buyer from a one-off visit.</a:t>
            </a:r>
          </a:p>
          <a:p>
            <a:pPr algn="l"/>
            <a:r>
              <a:rPr lang="en-US" sz="1050" b="0" dirty="0">
                <a:solidFill>
                  <a:srgbClr val="2C3E50"/>
                </a:solidFill>
              </a:rPr>
              <a:t>Using only days 0–60 prevents data leakage — at scoring time, no data beyond month 2 exists for a new user.</a:t>
            </a:r>
          </a:p>
          <a:p>
            <a:pPr algn="l"/>
            <a:r>
              <a:rPr lang="en-US" sz="1050" b="0" dirty="0">
                <a:solidFill>
                  <a:srgbClr val="2C3E50"/>
                </a:solidFill>
              </a:rPr>
              <a:t>Two months also enables a spend trend feature: Month 1 → Month 2 momentum is one of the five model inputs.</a:t>
            </a:r>
          </a:p>
        </p:txBody>
      </p:sp>
      <p:sp>
        <p:nvSpPr>
          <p:cNvPr id="12" name="Rectangle 11"/>
          <p:cNvSpPr/>
          <p:nvPr/>
        </p:nvSpPr>
        <p:spPr>
          <a:xfrm>
            <a:off x="274320" y="1965960"/>
            <a:ext cx="2103120" cy="34747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2020824"/>
            <a:ext cx="1956816" cy="274320"/>
          </a:xfrm>
          <a:prstGeom prst="rect">
            <a:avLst/>
          </a:prstGeom>
          <a:noFill/>
        </p:spPr>
        <p:txBody>
          <a:bodyPr wrap="square">
            <a:spAutoFit/>
          </a:bodyPr>
          <a:lstStyle/>
          <a:p>
            <a:pPr algn="l"/>
            <a:r>
              <a:rPr sz="1000" b="1" i="0">
                <a:solidFill>
                  <a:srgbClr val="FFFFFF"/>
                </a:solidFill>
                <a:latin typeface="Calibri"/>
              </a:rPr>
              <a:t>Feature</a:t>
            </a:r>
          </a:p>
        </p:txBody>
      </p:sp>
      <p:sp>
        <p:nvSpPr>
          <p:cNvPr id="14" name="Rectangle 13"/>
          <p:cNvSpPr/>
          <p:nvPr/>
        </p:nvSpPr>
        <p:spPr>
          <a:xfrm>
            <a:off x="2423160" y="1965960"/>
            <a:ext cx="2377440" cy="34747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96312" y="2020824"/>
            <a:ext cx="2231136" cy="274320"/>
          </a:xfrm>
          <a:prstGeom prst="rect">
            <a:avLst/>
          </a:prstGeom>
          <a:noFill/>
        </p:spPr>
        <p:txBody>
          <a:bodyPr wrap="square">
            <a:spAutoFit/>
          </a:bodyPr>
          <a:lstStyle/>
          <a:p>
            <a:pPr algn="l"/>
            <a:r>
              <a:rPr sz="1000" b="1" i="0">
                <a:solidFill>
                  <a:srgbClr val="FFFFFF"/>
                </a:solidFill>
                <a:latin typeface="Calibri"/>
              </a:rPr>
              <a:t>Maps to Loyalty Component</a:t>
            </a:r>
          </a:p>
        </p:txBody>
      </p:sp>
      <p:sp>
        <p:nvSpPr>
          <p:cNvPr id="16" name="Rectangle 15"/>
          <p:cNvSpPr/>
          <p:nvPr/>
        </p:nvSpPr>
        <p:spPr>
          <a:xfrm>
            <a:off x="4846320" y="1965960"/>
            <a:ext cx="6858000" cy="34747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19472" y="2020824"/>
            <a:ext cx="6711696" cy="274320"/>
          </a:xfrm>
          <a:prstGeom prst="rect">
            <a:avLst/>
          </a:prstGeom>
          <a:noFill/>
        </p:spPr>
        <p:txBody>
          <a:bodyPr wrap="square">
            <a:spAutoFit/>
          </a:bodyPr>
          <a:lstStyle/>
          <a:p>
            <a:pPr algn="l"/>
            <a:r>
              <a:rPr sz="1000" b="1" i="0">
                <a:solidFill>
                  <a:srgbClr val="FFFFFF"/>
                </a:solidFill>
                <a:latin typeface="Calibri"/>
              </a:rPr>
              <a:t>Why It Predicts Loyalty</a:t>
            </a:r>
          </a:p>
        </p:txBody>
      </p:sp>
      <p:sp>
        <p:nvSpPr>
          <p:cNvPr id="18" name="Rectangle 17"/>
          <p:cNvSpPr/>
          <p:nvPr/>
        </p:nvSpPr>
        <p:spPr>
          <a:xfrm>
            <a:off x="274320" y="2313432"/>
            <a:ext cx="210312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377440"/>
            <a:ext cx="1956816" cy="676656"/>
          </a:xfrm>
          <a:prstGeom prst="rect">
            <a:avLst/>
          </a:prstGeom>
          <a:noFill/>
        </p:spPr>
        <p:txBody>
          <a:bodyPr wrap="square">
            <a:spAutoFit/>
          </a:bodyPr>
          <a:lstStyle/>
          <a:p>
            <a:pPr algn="l"/>
            <a:r>
              <a:rPr sz="1100" b="1" i="0">
                <a:solidFill>
                  <a:srgbClr val="2D6A9F"/>
                </a:solidFill>
                <a:latin typeface="Calibri"/>
              </a:rPr>
              <a:t>freq_rate_2m</a:t>
            </a:r>
          </a:p>
        </p:txBody>
      </p:sp>
      <p:sp>
        <p:nvSpPr>
          <p:cNvPr id="20" name="Rectangle 19"/>
          <p:cNvSpPr/>
          <p:nvPr/>
        </p:nvSpPr>
        <p:spPr>
          <a:xfrm>
            <a:off x="2423160" y="2313432"/>
            <a:ext cx="237744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496312" y="2377440"/>
            <a:ext cx="2231136" cy="676656"/>
          </a:xfrm>
          <a:prstGeom prst="rect">
            <a:avLst/>
          </a:prstGeom>
          <a:noFill/>
        </p:spPr>
        <p:txBody>
          <a:bodyPr wrap="square">
            <a:spAutoFit/>
          </a:bodyPr>
          <a:lstStyle/>
          <a:p>
            <a:pPr algn="l"/>
            <a:r>
              <a:rPr sz="1100" b="1" i="0">
                <a:solidFill>
                  <a:srgbClr val="3D6B7A"/>
                </a:solidFill>
                <a:latin typeface="Calibri"/>
              </a:rPr>
              <a:t>Purchase Frequency
(≥ 2/month)</a:t>
            </a:r>
          </a:p>
        </p:txBody>
      </p:sp>
      <p:sp>
        <p:nvSpPr>
          <p:cNvPr id="22" name="Rectangle 21"/>
          <p:cNvSpPr/>
          <p:nvPr/>
        </p:nvSpPr>
        <p:spPr>
          <a:xfrm>
            <a:off x="4846320" y="2313432"/>
            <a:ext cx="685800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19472" y="2377440"/>
            <a:ext cx="6711696" cy="676656"/>
          </a:xfrm>
          <a:prstGeom prst="rect">
            <a:avLst/>
          </a:prstGeom>
          <a:noFill/>
        </p:spPr>
        <p:txBody>
          <a:bodyPr wrap="square">
            <a:spAutoFit/>
          </a:bodyPr>
          <a:lstStyle/>
          <a:p>
            <a:r>
              <a:rPr lang="en-US" sz="1000" b="0" dirty="0">
                <a:solidFill>
                  <a:srgbClr val="2C3E50"/>
                </a:solidFill>
              </a:rPr>
              <a:t>Users above the 2/month threshold in their first 60 days are demonstrating a habit, not an experiment: early frequency is the strongest predictor of sustained frequency.</a:t>
            </a:r>
          </a:p>
        </p:txBody>
      </p:sp>
      <p:sp>
        <p:nvSpPr>
          <p:cNvPr id="24" name="Rectangle 23"/>
          <p:cNvSpPr/>
          <p:nvPr/>
        </p:nvSpPr>
        <p:spPr>
          <a:xfrm>
            <a:off x="274320" y="3118104"/>
            <a:ext cx="210312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7472" y="3182112"/>
            <a:ext cx="1956816" cy="676656"/>
          </a:xfrm>
          <a:prstGeom prst="rect">
            <a:avLst/>
          </a:prstGeom>
          <a:noFill/>
        </p:spPr>
        <p:txBody>
          <a:bodyPr wrap="square">
            <a:spAutoFit/>
          </a:bodyPr>
          <a:lstStyle/>
          <a:p>
            <a:pPr algn="l"/>
            <a:r>
              <a:rPr sz="1100" b="1" i="0">
                <a:solidFill>
                  <a:srgbClr val="2D6A9F"/>
                </a:solidFill>
                <a:latin typeface="Calibri"/>
              </a:rPr>
              <a:t>spend_rate_2m</a:t>
            </a:r>
          </a:p>
        </p:txBody>
      </p:sp>
      <p:sp>
        <p:nvSpPr>
          <p:cNvPr id="26" name="Rectangle 25"/>
          <p:cNvSpPr/>
          <p:nvPr/>
        </p:nvSpPr>
        <p:spPr>
          <a:xfrm>
            <a:off x="2423160" y="3118104"/>
            <a:ext cx="237744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496312" y="3182112"/>
            <a:ext cx="2231136" cy="676656"/>
          </a:xfrm>
          <a:prstGeom prst="rect">
            <a:avLst/>
          </a:prstGeom>
          <a:noFill/>
        </p:spPr>
        <p:txBody>
          <a:bodyPr wrap="square">
            <a:spAutoFit/>
          </a:bodyPr>
          <a:lstStyle/>
          <a:p>
            <a:pPr algn="l"/>
            <a:r>
              <a:rPr sz="1100" b="1" i="0">
                <a:solidFill>
                  <a:srgbClr val="3D6B7A"/>
                </a:solidFill>
                <a:latin typeface="Calibri"/>
              </a:rPr>
              <a:t>Monthly Spend
(≥ ¥10K/month)</a:t>
            </a:r>
          </a:p>
        </p:txBody>
      </p:sp>
      <p:sp>
        <p:nvSpPr>
          <p:cNvPr id="28" name="Rectangle 27"/>
          <p:cNvSpPr/>
          <p:nvPr/>
        </p:nvSpPr>
        <p:spPr>
          <a:xfrm>
            <a:off x="4846320" y="3118104"/>
            <a:ext cx="685800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19472" y="3182112"/>
            <a:ext cx="6711696" cy="676656"/>
          </a:xfrm>
          <a:prstGeom prst="rect">
            <a:avLst/>
          </a:prstGeom>
          <a:noFill/>
        </p:spPr>
        <p:txBody>
          <a:bodyPr wrap="square">
            <a:spAutoFit/>
          </a:bodyPr>
          <a:lstStyle/>
          <a:p>
            <a:r>
              <a:rPr lang="en-US" sz="1000" b="0" dirty="0">
                <a:solidFill>
                  <a:srgbClr val="2C3E50"/>
                </a:solidFill>
              </a:rPr>
              <a:t>Reaching ¥10K/month spend within 60 days signals the user is already committing financially: they are not testing, they are buying.</a:t>
            </a:r>
          </a:p>
        </p:txBody>
      </p:sp>
      <p:sp>
        <p:nvSpPr>
          <p:cNvPr id="30" name="Rectangle 29"/>
          <p:cNvSpPr/>
          <p:nvPr/>
        </p:nvSpPr>
        <p:spPr>
          <a:xfrm>
            <a:off x="274320" y="3922776"/>
            <a:ext cx="210312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7472" y="3986784"/>
            <a:ext cx="1956816" cy="676656"/>
          </a:xfrm>
          <a:prstGeom prst="rect">
            <a:avLst/>
          </a:prstGeom>
          <a:noFill/>
        </p:spPr>
        <p:txBody>
          <a:bodyPr wrap="square">
            <a:spAutoFit/>
          </a:bodyPr>
          <a:lstStyle/>
          <a:p>
            <a:pPr algn="l"/>
            <a:r>
              <a:rPr sz="1100" b="1" i="0">
                <a:solidFill>
                  <a:srgbClr val="2D6A9F"/>
                </a:solidFill>
                <a:latin typeface="Calibri"/>
              </a:rPr>
              <a:t>unique_shops_2m</a:t>
            </a:r>
          </a:p>
        </p:txBody>
      </p:sp>
      <p:sp>
        <p:nvSpPr>
          <p:cNvPr id="32" name="Rectangle 31"/>
          <p:cNvSpPr/>
          <p:nvPr/>
        </p:nvSpPr>
        <p:spPr>
          <a:xfrm>
            <a:off x="2423160" y="3922776"/>
            <a:ext cx="237744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96312" y="3986784"/>
            <a:ext cx="2231136" cy="676656"/>
          </a:xfrm>
          <a:prstGeom prst="rect">
            <a:avLst/>
          </a:prstGeom>
          <a:noFill/>
        </p:spPr>
        <p:txBody>
          <a:bodyPr wrap="square">
            <a:spAutoFit/>
          </a:bodyPr>
          <a:lstStyle/>
          <a:p>
            <a:pPr algn="l"/>
            <a:r>
              <a:rPr sz="1100" b="1" i="0">
                <a:solidFill>
                  <a:srgbClr val="3D6B7A"/>
                </a:solidFill>
                <a:latin typeface="Calibri"/>
              </a:rPr>
              <a:t>Merchant Breadth
(Platform loyalty Path A)</a:t>
            </a:r>
          </a:p>
        </p:txBody>
      </p:sp>
      <p:sp>
        <p:nvSpPr>
          <p:cNvPr id="34" name="Rectangle 33"/>
          <p:cNvSpPr/>
          <p:nvPr/>
        </p:nvSpPr>
        <p:spPr>
          <a:xfrm>
            <a:off x="4846320" y="3922776"/>
            <a:ext cx="685800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919472" y="3986784"/>
            <a:ext cx="6711696" cy="676656"/>
          </a:xfrm>
          <a:prstGeom prst="rect">
            <a:avLst/>
          </a:prstGeom>
          <a:noFill/>
        </p:spPr>
        <p:txBody>
          <a:bodyPr wrap="square">
            <a:spAutoFit/>
          </a:bodyPr>
          <a:lstStyle/>
          <a:p>
            <a:r>
              <a:rPr lang="en-US" sz="1000" b="0" dirty="0">
                <a:solidFill>
                  <a:srgbClr val="2C3E50"/>
                </a:solidFill>
              </a:rPr>
              <a:t>Visiting a second merchant in 60 days means the user actively chose Spendy in a new context: early breadth is the clearest signal of platform loyalty vs merchant loyalty.</a:t>
            </a:r>
          </a:p>
        </p:txBody>
      </p:sp>
      <p:sp>
        <p:nvSpPr>
          <p:cNvPr id="36" name="Rectangle 35"/>
          <p:cNvSpPr/>
          <p:nvPr/>
        </p:nvSpPr>
        <p:spPr>
          <a:xfrm>
            <a:off x="274320" y="4727448"/>
            <a:ext cx="210312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7472" y="4791456"/>
            <a:ext cx="1956816" cy="676656"/>
          </a:xfrm>
          <a:prstGeom prst="rect">
            <a:avLst/>
          </a:prstGeom>
          <a:noFill/>
        </p:spPr>
        <p:txBody>
          <a:bodyPr wrap="square">
            <a:spAutoFit/>
          </a:bodyPr>
          <a:lstStyle/>
          <a:p>
            <a:pPr algn="l"/>
            <a:r>
              <a:rPr sz="1100" b="1" i="0">
                <a:solidFill>
                  <a:srgbClr val="2D6A9F"/>
                </a:solidFill>
                <a:latin typeface="Calibri"/>
              </a:rPr>
              <a:t>days_since_last_purchase
_in_window</a:t>
            </a:r>
          </a:p>
        </p:txBody>
      </p:sp>
      <p:sp>
        <p:nvSpPr>
          <p:cNvPr id="38" name="Rectangle 37"/>
          <p:cNvSpPr/>
          <p:nvPr/>
        </p:nvSpPr>
        <p:spPr>
          <a:xfrm>
            <a:off x="2423160" y="4727448"/>
            <a:ext cx="237744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496312" y="4791456"/>
            <a:ext cx="2231136" cy="676656"/>
          </a:xfrm>
          <a:prstGeom prst="rect">
            <a:avLst/>
          </a:prstGeom>
          <a:noFill/>
        </p:spPr>
        <p:txBody>
          <a:bodyPr wrap="square">
            <a:spAutoFit/>
          </a:bodyPr>
          <a:lstStyle/>
          <a:p>
            <a:pPr algn="l"/>
            <a:r>
              <a:rPr sz="1100" b="1" i="0">
                <a:solidFill>
                  <a:srgbClr val="3D6B7A"/>
                </a:solidFill>
                <a:latin typeface="Calibri"/>
              </a:rPr>
              <a:t>Recency
(within 2 months)</a:t>
            </a:r>
          </a:p>
        </p:txBody>
      </p:sp>
      <p:sp>
        <p:nvSpPr>
          <p:cNvPr id="40" name="Rectangle 39"/>
          <p:cNvSpPr/>
          <p:nvPr/>
        </p:nvSpPr>
        <p:spPr>
          <a:xfrm>
            <a:off x="4846320" y="4727448"/>
            <a:ext cx="685800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9472" y="4791456"/>
            <a:ext cx="6711696" cy="676656"/>
          </a:xfrm>
          <a:prstGeom prst="rect">
            <a:avLst/>
          </a:prstGeom>
          <a:noFill/>
        </p:spPr>
        <p:txBody>
          <a:bodyPr wrap="square">
            <a:spAutoFit/>
          </a:bodyPr>
          <a:lstStyle/>
          <a:p>
            <a:r>
              <a:rPr lang="en-US" sz="1000" b="0" dirty="0">
                <a:solidFill>
                  <a:srgbClr val="2C3E50"/>
                </a:solidFill>
              </a:rPr>
              <a:t>A user who has gone quiet before day 60 is unlikely to sustain loyalty: recency flags early drop-off before it becomes churn.</a:t>
            </a:r>
          </a:p>
        </p:txBody>
      </p:sp>
      <p:sp>
        <p:nvSpPr>
          <p:cNvPr id="42" name="Rectangle 41"/>
          <p:cNvSpPr/>
          <p:nvPr/>
        </p:nvSpPr>
        <p:spPr>
          <a:xfrm>
            <a:off x="274320" y="5532120"/>
            <a:ext cx="210312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47472" y="5596128"/>
            <a:ext cx="1956816" cy="676656"/>
          </a:xfrm>
          <a:prstGeom prst="rect">
            <a:avLst/>
          </a:prstGeom>
          <a:noFill/>
        </p:spPr>
        <p:txBody>
          <a:bodyPr wrap="square">
            <a:spAutoFit/>
          </a:bodyPr>
          <a:lstStyle/>
          <a:p>
            <a:pPr algn="l"/>
            <a:r>
              <a:rPr sz="1100" b="1" i="0">
                <a:solidFill>
                  <a:srgbClr val="2D6A9F"/>
                </a:solidFill>
                <a:latin typeface="Calibri"/>
              </a:rPr>
              <a:t>spend_month_comparison</a:t>
            </a:r>
          </a:p>
        </p:txBody>
      </p:sp>
      <p:sp>
        <p:nvSpPr>
          <p:cNvPr id="44" name="Rectangle 43"/>
          <p:cNvSpPr/>
          <p:nvPr/>
        </p:nvSpPr>
        <p:spPr>
          <a:xfrm>
            <a:off x="2423160" y="5532120"/>
            <a:ext cx="237744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496312" y="5596128"/>
            <a:ext cx="2231136" cy="676656"/>
          </a:xfrm>
          <a:prstGeom prst="rect">
            <a:avLst/>
          </a:prstGeom>
          <a:noFill/>
        </p:spPr>
        <p:txBody>
          <a:bodyPr wrap="square">
            <a:spAutoFit/>
          </a:bodyPr>
          <a:lstStyle/>
          <a:p>
            <a:pPr algn="l"/>
            <a:r>
              <a:rPr sz="1100" b="1" i="0">
                <a:solidFill>
                  <a:srgbClr val="3D6B7A"/>
                </a:solidFill>
                <a:latin typeface="Calibri"/>
              </a:rPr>
              <a:t>Spend Trend
(Month 1 → Month 2)</a:t>
            </a:r>
          </a:p>
        </p:txBody>
      </p:sp>
      <p:sp>
        <p:nvSpPr>
          <p:cNvPr id="46" name="Rectangle 45"/>
          <p:cNvSpPr/>
          <p:nvPr/>
        </p:nvSpPr>
        <p:spPr>
          <a:xfrm>
            <a:off x="4846320" y="5532120"/>
            <a:ext cx="685800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919472" y="5596128"/>
            <a:ext cx="6711696" cy="676656"/>
          </a:xfrm>
          <a:prstGeom prst="rect">
            <a:avLst/>
          </a:prstGeom>
          <a:noFill/>
        </p:spPr>
        <p:txBody>
          <a:bodyPr wrap="square">
            <a:spAutoFit/>
          </a:bodyPr>
          <a:lstStyle/>
          <a:p>
            <a:r>
              <a:rPr lang="en-US" sz="1000" b="0" dirty="0">
                <a:solidFill>
                  <a:srgbClr val="2C3E50"/>
                </a:solidFill>
              </a:rPr>
              <a:t>Growing spend from Month 1 to Month 2 shows momentum: a user approaching the ¥10K threshold is on a trajectory consistent with loyalty.</a:t>
            </a:r>
          </a:p>
        </p:txBody>
      </p:sp>
      <p:sp>
        <p:nvSpPr>
          <p:cNvPr id="48" name="Rectangle 47"/>
          <p:cNvSpPr/>
          <p:nvPr/>
        </p:nvSpPr>
        <p:spPr>
          <a:xfrm>
            <a:off x="274320" y="6420000"/>
            <a:ext cx="11430000" cy="310896"/>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11480" y="6456576"/>
            <a:ext cx="11338560" cy="274320"/>
          </a:xfrm>
          <a:prstGeom prst="rect">
            <a:avLst/>
          </a:prstGeom>
          <a:noFill/>
        </p:spPr>
        <p:txBody>
          <a:bodyPr wrap="square">
            <a:spAutoFit/>
          </a:bodyPr>
          <a:lstStyle/>
          <a:p>
            <a:pPr algn="l"/>
            <a:r>
              <a:rPr sz="950" b="0" i="0">
                <a:solidFill>
                  <a:srgbClr val="2C3E50"/>
                </a:solidFill>
                <a:latin typeface="Calibri"/>
              </a:rPr>
              <a:t>DATA LEAKAGE GUARD:  Features: days 0-60  |  Labels: Dec 31  |  Windows strictly separated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Model Selection</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The problem structure, not fashion, dictated the choice of Random Forest</a:t>
            </a:r>
          </a:p>
        </p:txBody>
      </p:sp>
      <p:sp>
        <p:nvSpPr>
          <p:cNvPr id="6" name="Rectangle 5"/>
          <p:cNvSpPr/>
          <p:nvPr/>
        </p:nvSpPr>
        <p:spPr>
          <a:xfrm>
            <a:off x="274320" y="1170432"/>
            <a:ext cx="5623560"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70432"/>
            <a:ext cx="64008" cy="132588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2336" y="1280160"/>
            <a:ext cx="329184" cy="329184"/>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02336" y="1289304"/>
            <a:ext cx="329184" cy="301752"/>
          </a:xfrm>
          <a:prstGeom prst="rect">
            <a:avLst/>
          </a:prstGeom>
          <a:noFill/>
        </p:spPr>
        <p:txBody>
          <a:bodyPr wrap="none">
            <a:spAutoFit/>
          </a:bodyPr>
          <a:lstStyle/>
          <a:p>
            <a:pPr algn="ctr"/>
            <a:r>
              <a:rPr sz="1000" b="1">
                <a:solidFill>
                  <a:srgbClr val="FFFFFF"/>
                </a:solidFill>
              </a:rPr>
              <a:t>01</a:t>
            </a:r>
          </a:p>
        </p:txBody>
      </p:sp>
      <p:sp>
        <p:nvSpPr>
          <p:cNvPr id="10" name="TextBox 9"/>
          <p:cNvSpPr txBox="1"/>
          <p:nvPr/>
        </p:nvSpPr>
        <p:spPr>
          <a:xfrm>
            <a:off x="822959" y="1271016"/>
            <a:ext cx="4965192" cy="310896"/>
          </a:xfrm>
          <a:prstGeom prst="rect">
            <a:avLst/>
          </a:prstGeom>
          <a:noFill/>
        </p:spPr>
        <p:txBody>
          <a:bodyPr wrap="none">
            <a:spAutoFit/>
          </a:bodyPr>
          <a:lstStyle/>
          <a:p>
            <a:r>
              <a:rPr sz="1150" b="1">
                <a:solidFill>
                  <a:srgbClr val="0B2A4A"/>
                </a:solidFill>
              </a:rPr>
              <a:t>Non-linear thresholds by design</a:t>
            </a:r>
          </a:p>
        </p:txBody>
      </p:sp>
      <p:sp>
        <p:nvSpPr>
          <p:cNvPr id="11" name="TextBox 10"/>
          <p:cNvSpPr txBox="1"/>
          <p:nvPr/>
        </p:nvSpPr>
        <p:spPr>
          <a:xfrm>
            <a:off x="822959" y="1664208"/>
            <a:ext cx="4965192" cy="749808"/>
          </a:xfrm>
          <a:prstGeom prst="rect">
            <a:avLst/>
          </a:prstGeom>
          <a:noFill/>
        </p:spPr>
        <p:txBody>
          <a:bodyPr wrap="square">
            <a:spAutoFit/>
          </a:bodyPr>
          <a:lstStyle/>
          <a:p>
            <a:r>
              <a:rPr sz="1000" b="0">
                <a:solidFill>
                  <a:srgbClr val="2C3E50"/>
                </a:solidFill>
              </a:rPr>
              <a:t>Loyalty uses hard gates (≥2/mo, ≥¥10K). RF decision splits mirror this structure naturally: logistic regression cannot replicate hard boundaries.</a:t>
            </a:r>
          </a:p>
        </p:txBody>
      </p:sp>
      <p:sp>
        <p:nvSpPr>
          <p:cNvPr id="12" name="Rectangle 11"/>
          <p:cNvSpPr/>
          <p:nvPr/>
        </p:nvSpPr>
        <p:spPr>
          <a:xfrm>
            <a:off x="274320" y="2660904"/>
            <a:ext cx="5623560"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2660904"/>
            <a:ext cx="64008" cy="132588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2336" y="2770632"/>
            <a:ext cx="329184" cy="329184"/>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2336" y="2779776"/>
            <a:ext cx="329184" cy="301752"/>
          </a:xfrm>
          <a:prstGeom prst="rect">
            <a:avLst/>
          </a:prstGeom>
          <a:noFill/>
        </p:spPr>
        <p:txBody>
          <a:bodyPr wrap="none">
            <a:spAutoFit/>
          </a:bodyPr>
          <a:lstStyle/>
          <a:p>
            <a:pPr algn="ctr"/>
            <a:r>
              <a:rPr sz="1000" b="1">
                <a:solidFill>
                  <a:srgbClr val="FFFFFF"/>
                </a:solidFill>
              </a:rPr>
              <a:t>02</a:t>
            </a:r>
          </a:p>
        </p:txBody>
      </p:sp>
      <p:sp>
        <p:nvSpPr>
          <p:cNvPr id="16" name="TextBox 15"/>
          <p:cNvSpPr txBox="1"/>
          <p:nvPr/>
        </p:nvSpPr>
        <p:spPr>
          <a:xfrm>
            <a:off x="822959" y="2761488"/>
            <a:ext cx="4965192" cy="310896"/>
          </a:xfrm>
          <a:prstGeom prst="rect">
            <a:avLst/>
          </a:prstGeom>
          <a:noFill/>
        </p:spPr>
        <p:txBody>
          <a:bodyPr wrap="none">
            <a:spAutoFit/>
          </a:bodyPr>
          <a:lstStyle/>
          <a:p>
            <a:r>
              <a:rPr sz="1150" b="1">
                <a:solidFill>
                  <a:srgbClr val="0B2A4A"/>
                </a:solidFill>
              </a:rPr>
              <a:t>Feature interactions captured</a:t>
            </a:r>
          </a:p>
        </p:txBody>
      </p:sp>
      <p:sp>
        <p:nvSpPr>
          <p:cNvPr id="17" name="TextBox 16"/>
          <p:cNvSpPr txBox="1"/>
          <p:nvPr/>
        </p:nvSpPr>
        <p:spPr>
          <a:xfrm>
            <a:off x="822959" y="3154680"/>
            <a:ext cx="4965192" cy="749808"/>
          </a:xfrm>
          <a:prstGeom prst="rect">
            <a:avLst/>
          </a:prstGeom>
          <a:noFill/>
        </p:spPr>
        <p:txBody>
          <a:bodyPr wrap="square">
            <a:spAutoFit/>
          </a:bodyPr>
          <a:lstStyle/>
          <a:p>
            <a:r>
              <a:rPr sz="1000" b="0">
                <a:solidFill>
                  <a:srgbClr val="2C3E50"/>
                </a:solidFill>
              </a:rPr>
              <a:t>High frequency AND high spend differs from either alone. RF captures these joint conditions in every tree split without explicit feature engineering.</a:t>
            </a:r>
          </a:p>
        </p:txBody>
      </p:sp>
      <p:sp>
        <p:nvSpPr>
          <p:cNvPr id="18" name="Rectangle 17"/>
          <p:cNvSpPr/>
          <p:nvPr/>
        </p:nvSpPr>
        <p:spPr>
          <a:xfrm>
            <a:off x="274320" y="4151376"/>
            <a:ext cx="5623560"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4151376"/>
            <a:ext cx="64008" cy="132588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02336" y="4261104"/>
            <a:ext cx="329184" cy="329184"/>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2336" y="4270248"/>
            <a:ext cx="329184" cy="301752"/>
          </a:xfrm>
          <a:prstGeom prst="rect">
            <a:avLst/>
          </a:prstGeom>
          <a:noFill/>
        </p:spPr>
        <p:txBody>
          <a:bodyPr wrap="none">
            <a:spAutoFit/>
          </a:bodyPr>
          <a:lstStyle/>
          <a:p>
            <a:pPr algn="ctr"/>
            <a:r>
              <a:rPr sz="1000" b="1">
                <a:solidFill>
                  <a:srgbClr val="FFFFFF"/>
                </a:solidFill>
              </a:rPr>
              <a:t>03</a:t>
            </a:r>
          </a:p>
        </p:txBody>
      </p:sp>
      <p:sp>
        <p:nvSpPr>
          <p:cNvPr id="22" name="TextBox 21"/>
          <p:cNvSpPr txBox="1"/>
          <p:nvPr/>
        </p:nvSpPr>
        <p:spPr>
          <a:xfrm>
            <a:off x="822959" y="4251960"/>
            <a:ext cx="4965192" cy="310896"/>
          </a:xfrm>
          <a:prstGeom prst="rect">
            <a:avLst/>
          </a:prstGeom>
          <a:noFill/>
        </p:spPr>
        <p:txBody>
          <a:bodyPr wrap="none">
            <a:spAutoFit/>
          </a:bodyPr>
          <a:lstStyle/>
          <a:p>
            <a:r>
              <a:rPr sz="1150" b="1">
                <a:solidFill>
                  <a:srgbClr val="0B2A4A"/>
                </a:solidFill>
              </a:rPr>
              <a:t>Scale &amp; correlation robustness</a:t>
            </a:r>
          </a:p>
        </p:txBody>
      </p:sp>
      <p:sp>
        <p:nvSpPr>
          <p:cNvPr id="23" name="TextBox 22"/>
          <p:cNvSpPr txBox="1"/>
          <p:nvPr/>
        </p:nvSpPr>
        <p:spPr>
          <a:xfrm>
            <a:off x="822959" y="4645152"/>
            <a:ext cx="4965192" cy="749808"/>
          </a:xfrm>
          <a:prstGeom prst="rect">
            <a:avLst/>
          </a:prstGeom>
          <a:noFill/>
        </p:spPr>
        <p:txBody>
          <a:bodyPr wrap="square">
            <a:spAutoFit/>
          </a:bodyPr>
          <a:lstStyle/>
          <a:p>
            <a:r>
              <a:rPr sz="1000" b="0">
                <a:solidFill>
                  <a:srgbClr val="2C3E50"/>
                </a:solidFill>
              </a:rPr>
              <a:t>Mixed units and correlated features (freq vs spend) need no normalisation. RF is invariant to monotone transformations and handles multicollinearity.</a:t>
            </a:r>
          </a:p>
        </p:txBody>
      </p:sp>
      <p:sp>
        <p:nvSpPr>
          <p:cNvPr id="24" name="Rectangle 23"/>
          <p:cNvSpPr/>
          <p:nvPr/>
        </p:nvSpPr>
        <p:spPr>
          <a:xfrm>
            <a:off x="6126480" y="1170432"/>
            <a:ext cx="5788152"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26480" y="1170432"/>
            <a:ext cx="64008" cy="1325880"/>
          </a:xfrm>
          <a:prstGeom prst="rect">
            <a:avLst/>
          </a:prstGeom>
          <a:solidFill>
            <a:srgbClr val="5E7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54496" y="1280160"/>
            <a:ext cx="329184" cy="329184"/>
          </a:xfrm>
          <a:prstGeom prst="rect">
            <a:avLst/>
          </a:prstGeom>
          <a:solidFill>
            <a:srgbClr val="5E7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54496" y="1289304"/>
            <a:ext cx="329184" cy="301752"/>
          </a:xfrm>
          <a:prstGeom prst="rect">
            <a:avLst/>
          </a:prstGeom>
          <a:noFill/>
        </p:spPr>
        <p:txBody>
          <a:bodyPr wrap="none">
            <a:spAutoFit/>
          </a:bodyPr>
          <a:lstStyle/>
          <a:p>
            <a:pPr algn="ctr"/>
            <a:r>
              <a:rPr sz="1000" b="1">
                <a:solidFill>
                  <a:srgbClr val="FFFFFF"/>
                </a:solidFill>
              </a:rPr>
              <a:t>04</a:t>
            </a:r>
          </a:p>
        </p:txBody>
      </p:sp>
      <p:sp>
        <p:nvSpPr>
          <p:cNvPr id="28" name="TextBox 27"/>
          <p:cNvSpPr txBox="1"/>
          <p:nvPr/>
        </p:nvSpPr>
        <p:spPr>
          <a:xfrm>
            <a:off x="6675120" y="1271016"/>
            <a:ext cx="5129784" cy="310896"/>
          </a:xfrm>
          <a:prstGeom prst="rect">
            <a:avLst/>
          </a:prstGeom>
          <a:noFill/>
        </p:spPr>
        <p:txBody>
          <a:bodyPr wrap="none">
            <a:spAutoFit/>
          </a:bodyPr>
          <a:lstStyle/>
          <a:p>
            <a:r>
              <a:rPr sz="1150" b="1">
                <a:solidFill>
                  <a:srgbClr val="0B2A4A"/>
                </a:solidFill>
              </a:rPr>
              <a:t>Probability output for segmentation</a:t>
            </a:r>
          </a:p>
        </p:txBody>
      </p:sp>
      <p:sp>
        <p:nvSpPr>
          <p:cNvPr id="29" name="TextBox 28"/>
          <p:cNvSpPr txBox="1"/>
          <p:nvPr/>
        </p:nvSpPr>
        <p:spPr>
          <a:xfrm>
            <a:off x="6675120" y="1664208"/>
            <a:ext cx="5129784" cy="749808"/>
          </a:xfrm>
          <a:prstGeom prst="rect">
            <a:avLst/>
          </a:prstGeom>
          <a:noFill/>
        </p:spPr>
        <p:txBody>
          <a:bodyPr wrap="square">
            <a:spAutoFit/>
          </a:bodyPr>
          <a:lstStyle/>
          <a:p>
            <a:r>
              <a:rPr sz="1000" b="0">
                <a:solidFill>
                  <a:srgbClr val="2C3E50"/>
                </a:solidFill>
              </a:rPr>
              <a:t>predict_proba() delivers a continuous loyalty score per user: not a binary label. This is the mathematical foundation for Low / Medium / High tiering.</a:t>
            </a:r>
          </a:p>
        </p:txBody>
      </p:sp>
      <p:sp>
        <p:nvSpPr>
          <p:cNvPr id="30" name="Rectangle 29"/>
          <p:cNvSpPr/>
          <p:nvPr/>
        </p:nvSpPr>
        <p:spPr>
          <a:xfrm>
            <a:off x="6126480" y="2660904"/>
            <a:ext cx="5788152"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26480" y="2660904"/>
            <a:ext cx="64008" cy="1325880"/>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54496" y="2770632"/>
            <a:ext cx="329184" cy="329184"/>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54496" y="2779776"/>
            <a:ext cx="329184" cy="301752"/>
          </a:xfrm>
          <a:prstGeom prst="rect">
            <a:avLst/>
          </a:prstGeom>
          <a:noFill/>
        </p:spPr>
        <p:txBody>
          <a:bodyPr wrap="none">
            <a:spAutoFit/>
          </a:bodyPr>
          <a:lstStyle/>
          <a:p>
            <a:pPr algn="ctr"/>
            <a:r>
              <a:rPr sz="1000" b="1">
                <a:solidFill>
                  <a:srgbClr val="FFFFFF"/>
                </a:solidFill>
              </a:rPr>
              <a:t>05</a:t>
            </a:r>
          </a:p>
        </p:txBody>
      </p:sp>
      <p:sp>
        <p:nvSpPr>
          <p:cNvPr id="34" name="TextBox 33"/>
          <p:cNvSpPr txBox="1"/>
          <p:nvPr/>
        </p:nvSpPr>
        <p:spPr>
          <a:xfrm>
            <a:off x="6675120" y="2761488"/>
            <a:ext cx="5129784" cy="310896"/>
          </a:xfrm>
          <a:prstGeom prst="rect">
            <a:avLst/>
          </a:prstGeom>
          <a:noFill/>
        </p:spPr>
        <p:txBody>
          <a:bodyPr wrap="none">
            <a:spAutoFit/>
          </a:bodyPr>
          <a:lstStyle/>
          <a:p>
            <a:r>
              <a:rPr sz="1150" b="1">
                <a:solidFill>
                  <a:srgbClr val="0B2A4A"/>
                </a:solidFill>
              </a:rPr>
              <a:t>Built-in feature explainability</a:t>
            </a:r>
          </a:p>
        </p:txBody>
      </p:sp>
      <p:sp>
        <p:nvSpPr>
          <p:cNvPr id="35" name="TextBox 34"/>
          <p:cNvSpPr txBox="1"/>
          <p:nvPr/>
        </p:nvSpPr>
        <p:spPr>
          <a:xfrm>
            <a:off x="6675120" y="3154680"/>
            <a:ext cx="5129784" cy="749808"/>
          </a:xfrm>
          <a:prstGeom prst="rect">
            <a:avLst/>
          </a:prstGeom>
          <a:noFill/>
        </p:spPr>
        <p:txBody>
          <a:bodyPr wrap="square">
            <a:spAutoFit/>
          </a:bodyPr>
          <a:lstStyle/>
          <a:p>
            <a:pPr algn="l"/>
            <a:r>
              <a:rPr lang="en-US" sz="1000" b="0" dirty="0">
                <a:solidFill>
                  <a:srgbClr val="2C3E50"/>
                </a:solidFill>
              </a:rPr>
              <a:t>Frequency (30%) and spend (26%) drive over half the model’s predictions, confirming the model learned the same logic as the loyalty definition.</a:t>
            </a:r>
          </a:p>
          <a:p>
            <a:pPr algn="l"/>
            <a:r>
              <a:rPr lang="en-US" sz="1000" b="0" dirty="0">
                <a:solidFill>
                  <a:srgbClr val="2C3E50"/>
                </a:solidFill>
              </a:rPr>
              <a:t>Recency (24%) and spend trend (19%) add momentum signal.</a:t>
            </a:r>
          </a:p>
          <a:p>
            <a:pPr algn="l"/>
            <a:r>
              <a:rPr lang="en-US" sz="1000" b="0" dirty="0">
                <a:solidFill>
                  <a:srgbClr val="2C3E50"/>
                </a:solidFill>
              </a:rPr>
              <a:t>Shop variety at 2% is near-irrelevant: loyal users go deep at one merchant, not wide across many.</a:t>
            </a:r>
          </a:p>
        </p:txBody>
      </p:sp>
      <p:sp>
        <p:nvSpPr>
          <p:cNvPr id="36" name="Rectangle 35"/>
          <p:cNvSpPr/>
          <p:nvPr/>
        </p:nvSpPr>
        <p:spPr>
          <a:xfrm>
            <a:off x="6126480" y="4151376"/>
            <a:ext cx="5788152" cy="1325880"/>
          </a:xfrm>
          <a:prstGeom prst="rect">
            <a:avLst/>
          </a:prstGeom>
          <a:solidFill>
            <a:srgbClr val="EBF2F8"/>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26480" y="4151376"/>
            <a:ext cx="64008" cy="132588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54496" y="4251960"/>
            <a:ext cx="5568696" cy="256032"/>
          </a:xfrm>
          <a:prstGeom prst="rect">
            <a:avLst/>
          </a:prstGeom>
          <a:noFill/>
        </p:spPr>
        <p:txBody>
          <a:bodyPr wrap="none">
            <a:spAutoFit/>
          </a:bodyPr>
          <a:lstStyle/>
          <a:p>
            <a:r>
              <a:rPr lang="en-US" sz="1000" b="1" dirty="0">
                <a:solidFill>
                  <a:srgbClr val="0B2A4A"/>
                </a:solidFill>
              </a:rPr>
              <a:t>HANDLING THE IMBALANCED DATA CHALLENGE</a:t>
            </a:r>
          </a:p>
        </p:txBody>
      </p:sp>
      <p:sp>
        <p:nvSpPr>
          <p:cNvPr id="39" name="TextBox 38"/>
          <p:cNvSpPr txBox="1"/>
          <p:nvPr/>
        </p:nvSpPr>
        <p:spPr>
          <a:xfrm>
            <a:off x="6254496" y="4572000"/>
            <a:ext cx="5568696" cy="822960"/>
          </a:xfrm>
          <a:prstGeom prst="rect">
            <a:avLst/>
          </a:prstGeom>
          <a:noFill/>
        </p:spPr>
        <p:txBody>
          <a:bodyPr wrap="square">
            <a:spAutoFit/>
          </a:bodyPr>
          <a:lstStyle/>
          <a:p>
            <a:r>
              <a:rPr lang="en-US" sz="950" b="0" dirty="0">
                <a:solidFill>
                  <a:srgbClr val="2C3E50"/>
                </a:solidFill>
              </a:rPr>
              <a:t>In our training data, only 1 in 31 users is genuinely loyal. Left unchecked, the model would learn the easy answer: label everyone ‘not loyal’: and score 96.8% accuracy while being completely useless. To fix this, we tell the model during training that each loyal user counts as much as 31 non-loyal users. The model must then work hard to understand what loyalty actually looks like, not just take the lazy majority shortcut.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Model Performance</a:t>
            </a:r>
          </a:p>
        </p:txBody>
      </p:sp>
      <p:sp>
        <p:nvSpPr>
          <p:cNvPr id="5" name="TextBox 4"/>
          <p:cNvSpPr txBox="1"/>
          <p:nvPr/>
        </p:nvSpPr>
        <p:spPr>
          <a:xfrm>
            <a:off x="274320" y="685800"/>
            <a:ext cx="9144000" cy="365760"/>
          </a:xfrm>
          <a:prstGeom prst="rect">
            <a:avLst/>
          </a:prstGeom>
          <a:noFill/>
        </p:spPr>
        <p:txBody>
          <a:bodyPr wrap="square">
            <a:spAutoFit/>
          </a:bodyPr>
          <a:lstStyle/>
          <a:p>
            <a:r>
              <a:rPr lang="en-US" sz="1300" b="0" dirty="0">
                <a:solidFill>
                  <a:srgbClr val="B0C8E4"/>
                </a:solidFill>
              </a:rPr>
              <a:t>ROC-AUC 0.912: model discrimination and where predictions fall</a:t>
            </a:r>
          </a:p>
        </p:txBody>
      </p:sp>
      <p:sp>
        <p:nvSpPr>
          <p:cNvPr id="9" name="Rectangle 8"/>
          <p:cNvSpPr/>
          <p:nvPr/>
        </p:nvSpPr>
        <p:spPr>
          <a:xfrm>
            <a:off x="274320" y="1143000"/>
            <a:ext cx="2926080" cy="345643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1234440"/>
            <a:ext cx="2651760" cy="365760"/>
          </a:xfrm>
          <a:prstGeom prst="rect">
            <a:avLst/>
          </a:prstGeom>
          <a:noFill/>
        </p:spPr>
        <p:txBody>
          <a:bodyPr wrap="square">
            <a:spAutoFit/>
          </a:bodyPr>
          <a:lstStyle/>
          <a:p>
            <a:pPr algn="ctr"/>
            <a:r>
              <a:rPr sz="1400" b="1" i="0">
                <a:solidFill>
                  <a:srgbClr val="FFFFFF"/>
                </a:solidFill>
                <a:latin typeface="Calibri"/>
              </a:rPr>
              <a:t>ROC-AUC</a:t>
            </a:r>
          </a:p>
        </p:txBody>
      </p:sp>
      <p:sp>
        <p:nvSpPr>
          <p:cNvPr id="11" name="TextBox 10"/>
          <p:cNvSpPr txBox="1"/>
          <p:nvPr/>
        </p:nvSpPr>
        <p:spPr>
          <a:xfrm>
            <a:off x="411480" y="1572768"/>
            <a:ext cx="2651760" cy="777240"/>
          </a:xfrm>
          <a:prstGeom prst="rect">
            <a:avLst/>
          </a:prstGeom>
          <a:noFill/>
        </p:spPr>
        <p:txBody>
          <a:bodyPr wrap="square">
            <a:spAutoFit/>
          </a:bodyPr>
          <a:lstStyle/>
          <a:p>
            <a:pPr algn="ctr"/>
            <a:r>
              <a:rPr sz="5200" b="1" i="0">
                <a:solidFill>
                  <a:srgbClr val="C09840"/>
                </a:solidFill>
                <a:latin typeface="Calibri"/>
              </a:rPr>
              <a:t>0.912</a:t>
            </a:r>
          </a:p>
        </p:txBody>
      </p:sp>
      <p:sp>
        <p:nvSpPr>
          <p:cNvPr id="12" name="TextBox 11"/>
          <p:cNvSpPr txBox="1"/>
          <p:nvPr/>
        </p:nvSpPr>
        <p:spPr>
          <a:xfrm>
            <a:off x="411480" y="2304288"/>
            <a:ext cx="2651760" cy="594360"/>
          </a:xfrm>
          <a:prstGeom prst="rect">
            <a:avLst/>
          </a:prstGeom>
          <a:noFill/>
        </p:spPr>
        <p:txBody>
          <a:bodyPr wrap="square">
            <a:spAutoFit/>
          </a:bodyPr>
          <a:lstStyle/>
          <a:p>
            <a:pPr algn="ctr"/>
            <a:r>
              <a:rPr sz="900" b="0" i="0">
                <a:solidFill>
                  <a:srgbClr val="B0C8E4"/>
                </a:solidFill>
                <a:latin typeface="Calibri Light"/>
              </a:rPr>
              <a:t>The model correctly ranks
a loyal user above a non-loyal
one 91.2% of the time</a:t>
            </a:r>
          </a:p>
        </p:txBody>
      </p:sp>
      <p:sp>
        <p:nvSpPr>
          <p:cNvPr id="16" name="Rectangle 15"/>
          <p:cNvSpPr/>
          <p:nvPr/>
        </p:nvSpPr>
        <p:spPr>
          <a:xfrm>
            <a:off x="3840480" y="1143000"/>
            <a:ext cx="7955279" cy="3291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0" y="1188720"/>
            <a:ext cx="7772400" cy="292608"/>
          </a:xfrm>
          <a:prstGeom prst="rect">
            <a:avLst/>
          </a:prstGeom>
          <a:noFill/>
        </p:spPr>
        <p:txBody>
          <a:bodyPr wrap="square">
            <a:spAutoFit/>
          </a:bodyPr>
          <a:lstStyle/>
          <a:p>
            <a:pPr algn="l"/>
            <a:r>
              <a:rPr sz="1100" b="1" i="0">
                <a:solidFill>
                  <a:srgbClr val="0B2A4A"/>
                </a:solidFill>
                <a:latin typeface="Calibri"/>
              </a:rPr>
              <a:t>CONFUSION MATRIX (Test Set, 6,884 users)</a:t>
            </a:r>
          </a:p>
        </p:txBody>
      </p:sp>
      <p:sp>
        <p:nvSpPr>
          <p:cNvPr id="18" name="Rectangle 17"/>
          <p:cNvSpPr/>
          <p:nvPr/>
        </p:nvSpPr>
        <p:spPr>
          <a:xfrm>
            <a:off x="3931920" y="1508760"/>
            <a:ext cx="246888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77639" y="1618488"/>
            <a:ext cx="2377440" cy="530352"/>
          </a:xfrm>
          <a:prstGeom prst="rect">
            <a:avLst/>
          </a:prstGeom>
          <a:noFill/>
        </p:spPr>
        <p:txBody>
          <a:bodyPr wrap="square">
            <a:spAutoFit/>
          </a:bodyPr>
          <a:lstStyle/>
          <a:p>
            <a:pPr algn="ctr"/>
            <a:endParaRPr/>
          </a:p>
        </p:txBody>
      </p:sp>
      <p:sp>
        <p:nvSpPr>
          <p:cNvPr id="20" name="Rectangle 19"/>
          <p:cNvSpPr/>
          <p:nvPr/>
        </p:nvSpPr>
        <p:spPr>
          <a:xfrm>
            <a:off x="6400800" y="1508760"/>
            <a:ext cx="246888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1618488"/>
            <a:ext cx="2377440" cy="530352"/>
          </a:xfrm>
          <a:prstGeom prst="rect">
            <a:avLst/>
          </a:prstGeom>
          <a:noFill/>
        </p:spPr>
        <p:txBody>
          <a:bodyPr wrap="square">
            <a:spAutoFit/>
          </a:bodyPr>
          <a:lstStyle/>
          <a:p>
            <a:pPr algn="ctr"/>
            <a:r>
              <a:rPr sz="1000" b="1" i="0">
                <a:solidFill>
                  <a:srgbClr val="FFFFFF"/>
                </a:solidFill>
                <a:latin typeface="Calibri"/>
              </a:rPr>
              <a:t>Predicted: NOT LOYAL</a:t>
            </a:r>
          </a:p>
        </p:txBody>
      </p:sp>
      <p:sp>
        <p:nvSpPr>
          <p:cNvPr id="22" name="Rectangle 21"/>
          <p:cNvSpPr/>
          <p:nvPr/>
        </p:nvSpPr>
        <p:spPr>
          <a:xfrm>
            <a:off x="8869680" y="1508760"/>
            <a:ext cx="246888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15400" y="1618488"/>
            <a:ext cx="2377440" cy="530352"/>
          </a:xfrm>
          <a:prstGeom prst="rect">
            <a:avLst/>
          </a:prstGeom>
          <a:noFill/>
        </p:spPr>
        <p:txBody>
          <a:bodyPr wrap="square">
            <a:spAutoFit/>
          </a:bodyPr>
          <a:lstStyle/>
          <a:p>
            <a:pPr algn="ctr"/>
            <a:r>
              <a:rPr sz="1000" b="1" i="0">
                <a:solidFill>
                  <a:srgbClr val="FFFFFF"/>
                </a:solidFill>
                <a:latin typeface="Calibri"/>
              </a:rPr>
              <a:t>Predicted: LOYAL</a:t>
            </a:r>
          </a:p>
        </p:txBody>
      </p:sp>
      <p:sp>
        <p:nvSpPr>
          <p:cNvPr id="24" name="Rectangle 23"/>
          <p:cNvSpPr/>
          <p:nvPr/>
        </p:nvSpPr>
        <p:spPr>
          <a:xfrm>
            <a:off x="3931920" y="2130552"/>
            <a:ext cx="246888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77639" y="2240280"/>
            <a:ext cx="2377440" cy="530352"/>
          </a:xfrm>
          <a:prstGeom prst="rect">
            <a:avLst/>
          </a:prstGeom>
          <a:noFill/>
        </p:spPr>
        <p:txBody>
          <a:bodyPr wrap="square">
            <a:spAutoFit/>
          </a:bodyPr>
          <a:lstStyle/>
          <a:p>
            <a:pPr algn="l"/>
            <a:r>
              <a:rPr sz="1000" b="1" i="0">
                <a:solidFill>
                  <a:srgbClr val="FFFFFF"/>
                </a:solidFill>
                <a:latin typeface="Calibri"/>
              </a:rPr>
              <a:t>Actual: NOT LOYAL</a:t>
            </a:r>
          </a:p>
        </p:txBody>
      </p:sp>
      <p:sp>
        <p:nvSpPr>
          <p:cNvPr id="26" name="Rectangle 25"/>
          <p:cNvSpPr/>
          <p:nvPr/>
        </p:nvSpPr>
        <p:spPr>
          <a:xfrm>
            <a:off x="6400800" y="2130552"/>
            <a:ext cx="2468880" cy="621792"/>
          </a:xfrm>
          <a:prstGeom prst="rect">
            <a:avLst/>
          </a:prstGeom>
          <a:solidFill>
            <a:srgbClr val="3D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20" y="2203704"/>
            <a:ext cx="2377440" cy="365760"/>
          </a:xfrm>
          <a:prstGeom prst="rect">
            <a:avLst/>
          </a:prstGeom>
          <a:noFill/>
        </p:spPr>
        <p:txBody>
          <a:bodyPr wrap="square">
            <a:spAutoFit/>
          </a:bodyPr>
          <a:lstStyle/>
          <a:p>
            <a:pPr algn="ctr"/>
            <a:r>
              <a:rPr sz="1400" b="1" i="0">
                <a:solidFill>
                  <a:srgbClr val="FFFFFF"/>
                </a:solidFill>
                <a:latin typeface="Calibri"/>
              </a:rPr>
              <a:t>6,396  ✔  True Neg</a:t>
            </a:r>
          </a:p>
        </p:txBody>
      </p:sp>
      <p:sp>
        <p:nvSpPr>
          <p:cNvPr id="28" name="Rectangle 27"/>
          <p:cNvSpPr/>
          <p:nvPr/>
        </p:nvSpPr>
        <p:spPr>
          <a:xfrm>
            <a:off x="8869680" y="2130552"/>
            <a:ext cx="2468880" cy="621792"/>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915400" y="2203704"/>
            <a:ext cx="2377440" cy="365760"/>
          </a:xfrm>
          <a:prstGeom prst="rect">
            <a:avLst/>
          </a:prstGeom>
          <a:noFill/>
        </p:spPr>
        <p:txBody>
          <a:bodyPr wrap="square">
            <a:spAutoFit/>
          </a:bodyPr>
          <a:lstStyle/>
          <a:p>
            <a:pPr algn="ctr"/>
            <a:r>
              <a:rPr sz="1300" b="1" i="0">
                <a:solidFill>
                  <a:srgbClr val="FFFFFF"/>
                </a:solidFill>
                <a:latin typeface="Calibri"/>
              </a:rPr>
              <a:t>234  ✘  False Pos</a:t>
            </a:r>
          </a:p>
        </p:txBody>
      </p:sp>
      <p:sp>
        <p:nvSpPr>
          <p:cNvPr id="30" name="Rectangle 29"/>
          <p:cNvSpPr/>
          <p:nvPr/>
        </p:nvSpPr>
        <p:spPr>
          <a:xfrm>
            <a:off x="3931920" y="2752344"/>
            <a:ext cx="246888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977639" y="2862072"/>
            <a:ext cx="2377440" cy="530352"/>
          </a:xfrm>
          <a:prstGeom prst="rect">
            <a:avLst/>
          </a:prstGeom>
          <a:noFill/>
        </p:spPr>
        <p:txBody>
          <a:bodyPr wrap="square">
            <a:spAutoFit/>
          </a:bodyPr>
          <a:lstStyle/>
          <a:p>
            <a:pPr algn="l"/>
            <a:r>
              <a:rPr sz="1000" b="1" i="0">
                <a:solidFill>
                  <a:srgbClr val="FFFFFF"/>
                </a:solidFill>
                <a:latin typeface="Calibri"/>
              </a:rPr>
              <a:t>Actual: LOYAL</a:t>
            </a:r>
          </a:p>
        </p:txBody>
      </p:sp>
      <p:sp>
        <p:nvSpPr>
          <p:cNvPr id="32" name="Rectangle 31"/>
          <p:cNvSpPr/>
          <p:nvPr/>
        </p:nvSpPr>
        <p:spPr>
          <a:xfrm>
            <a:off x="6400800" y="2752344"/>
            <a:ext cx="2468880" cy="621792"/>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2825496"/>
            <a:ext cx="2377440" cy="365760"/>
          </a:xfrm>
          <a:prstGeom prst="rect">
            <a:avLst/>
          </a:prstGeom>
          <a:noFill/>
        </p:spPr>
        <p:txBody>
          <a:bodyPr wrap="square">
            <a:spAutoFit/>
          </a:bodyPr>
          <a:lstStyle/>
          <a:p>
            <a:pPr algn="ctr"/>
            <a:r>
              <a:rPr sz="1300" b="1" i="0">
                <a:solidFill>
                  <a:srgbClr val="FFFFFF"/>
                </a:solidFill>
                <a:latin typeface="Calibri"/>
              </a:rPr>
              <a:t>122  ✘  False Neg</a:t>
            </a:r>
          </a:p>
        </p:txBody>
      </p:sp>
      <p:sp>
        <p:nvSpPr>
          <p:cNvPr id="34" name="Rectangle 33"/>
          <p:cNvSpPr/>
          <p:nvPr/>
        </p:nvSpPr>
        <p:spPr>
          <a:xfrm>
            <a:off x="8869680" y="2752344"/>
            <a:ext cx="2468880" cy="621792"/>
          </a:xfrm>
          <a:prstGeom prst="rect">
            <a:avLst/>
          </a:prstGeom>
          <a:solidFill>
            <a:srgbClr val="3D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915400" y="2825496"/>
            <a:ext cx="2377440" cy="365760"/>
          </a:xfrm>
          <a:prstGeom prst="rect">
            <a:avLst/>
          </a:prstGeom>
          <a:noFill/>
        </p:spPr>
        <p:txBody>
          <a:bodyPr wrap="square">
            <a:spAutoFit/>
          </a:bodyPr>
          <a:lstStyle/>
          <a:p>
            <a:pPr algn="ctr"/>
            <a:r>
              <a:rPr sz="1400" b="1" i="0">
                <a:solidFill>
                  <a:srgbClr val="FFFFFF"/>
                </a:solidFill>
                <a:latin typeface="Calibri"/>
              </a:rPr>
              <a:t>132  ✔  True Pos</a:t>
            </a:r>
          </a:p>
        </p:txBody>
      </p:sp>
      <p:sp>
        <p:nvSpPr>
          <p:cNvPr id="78" name="Rectangle 77"/>
          <p:cNvSpPr/>
          <p:nvPr/>
        </p:nvSpPr>
        <p:spPr>
          <a:xfrm>
            <a:off x="274320" y="4617720"/>
            <a:ext cx="11612880" cy="1965960"/>
          </a:xfrm>
          <a:prstGeom prst="rect">
            <a:avLst/>
          </a:prstGeom>
          <a:solidFill>
            <a:srgbClr val="EBF2F8"/>
          </a:solidFill>
          <a:ln w="9525">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457200" y="4663440"/>
            <a:ext cx="11247120" cy="1828800"/>
          </a:xfrm>
          <a:prstGeom prst="rect">
            <a:avLst/>
          </a:prstGeom>
          <a:noFill/>
        </p:spPr>
        <p:txBody>
          <a:bodyPr wrap="square">
            <a:spAutoFit/>
          </a:bodyPr>
          <a:lstStyle/>
          <a:p>
            <a:r>
              <a:rPr lang="en-US" sz="1000" b="0" dirty="0">
                <a:solidFill>
                  <a:srgbClr val="0B2A4A"/>
                </a:solidFill>
              </a:rPr>
              <a:t>AUC 0.912: the model correctly ranks a loyal user above a non-loyal one 91.2% of the time - this is what makes the segmentation trustworthy.</a:t>
            </a:r>
          </a:p>
          <a:p>
            <a:endParaRPr lang="en-US" sz="1000" b="0" dirty="0">
              <a:solidFill>
                <a:srgbClr val="0B2A4A"/>
              </a:solidFill>
            </a:endParaRPr>
          </a:p>
          <a:p>
            <a:r>
              <a:rPr lang="en-US" sz="1000" b="1" dirty="0">
                <a:solidFill>
                  <a:srgbClr val="0B2A4A"/>
                </a:solidFill>
              </a:rPr>
              <a:t>KEY METRICS - loyal class:   Precision 0.34  |  Recall 0.45  |  F1 0.39</a:t>
            </a:r>
          </a:p>
          <a:p>
            <a:r>
              <a:rPr lang="en-US" sz="1000" b="0" dirty="0">
                <a:solidFill>
                  <a:srgbClr val="2C3E50"/>
                </a:solidFill>
              </a:rPr>
              <a:t>Not Loyal class:   Precision 0.98  |  Recall 0.96  |  F1 0.97</a:t>
            </a:r>
          </a:p>
          <a:p>
            <a:endParaRPr lang="en-US" sz="1000" b="0" dirty="0">
              <a:solidFill>
                <a:srgbClr val="2C3E50"/>
              </a:solidFill>
            </a:endParaRPr>
          </a:p>
          <a:p>
            <a:r>
              <a:rPr lang="en-US" sz="1000" b="0" dirty="0">
                <a:solidFill>
                  <a:srgbClr val="2C3E50"/>
                </a:solidFill>
              </a:rPr>
              <a:t>Recall 0.45: model catches 45% of loyal users at the default 0.5 threshold - the primary improvement priority. Lower the threshold or switch to Gradient Boosting to improve recall. The High segment (score &gt; 0.66) achieves 83.9% observed loyalty, confirming the model confidence predictions are highly accurate.</a:t>
            </a:r>
          </a:p>
        </p:txBody>
      </p:sp>
      <p:sp>
        <p:nvSpPr>
          <p:cNvPr id="104" name="Rectangle 103"/>
          <p:cNvSpPr/>
          <p:nvPr/>
        </p:nvSpPr>
        <p:spPr>
          <a:xfrm>
            <a:off x="457200" y="2990088"/>
            <a:ext cx="2468880" cy="22860"/>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57200" y="3063240"/>
            <a:ext cx="2468880" cy="256032"/>
          </a:xfrm>
          <a:prstGeom prst="rect">
            <a:avLst/>
          </a:prstGeom>
          <a:noFill/>
        </p:spPr>
        <p:txBody>
          <a:bodyPr wrap="square">
            <a:spAutoFit/>
          </a:bodyPr>
          <a:lstStyle/>
          <a:p>
            <a:pPr algn="l"/>
            <a:r>
              <a:rPr sz="750" b="1">
                <a:solidFill>
                  <a:srgbClr val="B0C8E4"/>
                </a:solidFill>
              </a:rPr>
              <a:t>LOYAL CLASS METRICS</a:t>
            </a:r>
          </a:p>
        </p:txBody>
      </p:sp>
      <p:sp>
        <p:nvSpPr>
          <p:cNvPr id="106" name="TextBox 105"/>
          <p:cNvSpPr txBox="1"/>
          <p:nvPr/>
        </p:nvSpPr>
        <p:spPr>
          <a:xfrm>
            <a:off x="457200" y="3410712"/>
            <a:ext cx="1463040" cy="292608"/>
          </a:xfrm>
          <a:prstGeom prst="rect">
            <a:avLst/>
          </a:prstGeom>
          <a:noFill/>
        </p:spPr>
        <p:txBody>
          <a:bodyPr wrap="square">
            <a:spAutoFit/>
          </a:bodyPr>
          <a:lstStyle/>
          <a:p>
            <a:pPr algn="l"/>
            <a:r>
              <a:rPr sz="800" b="0">
                <a:solidFill>
                  <a:srgbClr val="B0C8E4"/>
                </a:solidFill>
              </a:rPr>
              <a:t>PRECISION</a:t>
            </a:r>
          </a:p>
        </p:txBody>
      </p:sp>
      <p:sp>
        <p:nvSpPr>
          <p:cNvPr id="107" name="TextBox 106"/>
          <p:cNvSpPr txBox="1"/>
          <p:nvPr/>
        </p:nvSpPr>
        <p:spPr>
          <a:xfrm>
            <a:off x="1965960" y="3410712"/>
            <a:ext cx="914400" cy="292608"/>
          </a:xfrm>
          <a:prstGeom prst="rect">
            <a:avLst/>
          </a:prstGeom>
          <a:noFill/>
        </p:spPr>
        <p:txBody>
          <a:bodyPr wrap="square">
            <a:spAutoFit/>
          </a:bodyPr>
          <a:lstStyle/>
          <a:p>
            <a:pPr algn="l"/>
            <a:r>
              <a:rPr sz="1300" b="1">
                <a:solidFill>
                  <a:srgbClr val="FFFFFF"/>
                </a:solidFill>
              </a:rPr>
              <a:t>0.34</a:t>
            </a:r>
          </a:p>
        </p:txBody>
      </p:sp>
      <p:sp>
        <p:nvSpPr>
          <p:cNvPr id="108" name="TextBox 107"/>
          <p:cNvSpPr txBox="1"/>
          <p:nvPr/>
        </p:nvSpPr>
        <p:spPr>
          <a:xfrm>
            <a:off x="457200" y="3776472"/>
            <a:ext cx="1463040" cy="292608"/>
          </a:xfrm>
          <a:prstGeom prst="rect">
            <a:avLst/>
          </a:prstGeom>
          <a:noFill/>
        </p:spPr>
        <p:txBody>
          <a:bodyPr wrap="square">
            <a:spAutoFit/>
          </a:bodyPr>
          <a:lstStyle/>
          <a:p>
            <a:pPr algn="l"/>
            <a:r>
              <a:rPr sz="800" b="0">
                <a:solidFill>
                  <a:srgbClr val="B0C8E4"/>
                </a:solidFill>
              </a:rPr>
              <a:t>RECALL</a:t>
            </a:r>
          </a:p>
        </p:txBody>
      </p:sp>
      <p:sp>
        <p:nvSpPr>
          <p:cNvPr id="109" name="TextBox 108"/>
          <p:cNvSpPr txBox="1"/>
          <p:nvPr/>
        </p:nvSpPr>
        <p:spPr>
          <a:xfrm>
            <a:off x="1965960" y="3776472"/>
            <a:ext cx="914400" cy="292608"/>
          </a:xfrm>
          <a:prstGeom prst="rect">
            <a:avLst/>
          </a:prstGeom>
          <a:noFill/>
        </p:spPr>
        <p:txBody>
          <a:bodyPr wrap="square">
            <a:spAutoFit/>
          </a:bodyPr>
          <a:lstStyle/>
          <a:p>
            <a:pPr algn="l"/>
            <a:r>
              <a:rPr sz="1300" b="1">
                <a:solidFill>
                  <a:srgbClr val="FFFFFF"/>
                </a:solidFill>
              </a:rPr>
              <a:t>0.45</a:t>
            </a:r>
          </a:p>
        </p:txBody>
      </p:sp>
      <p:sp>
        <p:nvSpPr>
          <p:cNvPr id="110" name="TextBox 109"/>
          <p:cNvSpPr txBox="1"/>
          <p:nvPr/>
        </p:nvSpPr>
        <p:spPr>
          <a:xfrm>
            <a:off x="457200" y="4142232"/>
            <a:ext cx="1463040" cy="292608"/>
          </a:xfrm>
          <a:prstGeom prst="rect">
            <a:avLst/>
          </a:prstGeom>
          <a:noFill/>
        </p:spPr>
        <p:txBody>
          <a:bodyPr wrap="square">
            <a:spAutoFit/>
          </a:bodyPr>
          <a:lstStyle/>
          <a:p>
            <a:pPr algn="l"/>
            <a:r>
              <a:rPr sz="800" b="0">
                <a:solidFill>
                  <a:srgbClr val="B0C8E4"/>
                </a:solidFill>
              </a:rPr>
              <a:t>F1-SCORE</a:t>
            </a:r>
          </a:p>
        </p:txBody>
      </p:sp>
      <p:sp>
        <p:nvSpPr>
          <p:cNvPr id="111" name="TextBox 110"/>
          <p:cNvSpPr txBox="1"/>
          <p:nvPr/>
        </p:nvSpPr>
        <p:spPr>
          <a:xfrm>
            <a:off x="1965960" y="4142232"/>
            <a:ext cx="914400" cy="292608"/>
          </a:xfrm>
          <a:prstGeom prst="rect">
            <a:avLst/>
          </a:prstGeom>
          <a:noFill/>
        </p:spPr>
        <p:txBody>
          <a:bodyPr wrap="square">
            <a:spAutoFit/>
          </a:bodyPr>
          <a:lstStyle/>
          <a:p>
            <a:pPr algn="l"/>
            <a:r>
              <a:rPr sz="1300" b="1">
                <a:solidFill>
                  <a:srgbClr val="FFFFFF"/>
                </a:solidFill>
              </a:rPr>
              <a:t>0.39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Business Segmentation</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Three actionable customer segments: each with a distinct marketing playbook</a:t>
            </a:r>
          </a:p>
        </p:txBody>
      </p:sp>
      <p:sp>
        <p:nvSpPr>
          <p:cNvPr id="9" name="Rectangle 8"/>
          <p:cNvSpPr/>
          <p:nvPr/>
        </p:nvSpPr>
        <p:spPr>
          <a:xfrm>
            <a:off x="274320" y="1143000"/>
            <a:ext cx="3794760" cy="685800"/>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170432"/>
            <a:ext cx="3611880" cy="292608"/>
          </a:xfrm>
          <a:prstGeom prst="rect">
            <a:avLst/>
          </a:prstGeom>
          <a:noFill/>
        </p:spPr>
        <p:txBody>
          <a:bodyPr wrap="square">
            <a:spAutoFit/>
          </a:bodyPr>
          <a:lstStyle/>
          <a:p>
            <a:pPr algn="ctr"/>
            <a:r>
              <a:rPr sz="1300" b="1" i="0">
                <a:solidFill>
                  <a:srgbClr val="FFFFFF"/>
                </a:solidFill>
                <a:latin typeface="Calibri"/>
              </a:rPr>
              <a:t>LOW LIKELIHOOD</a:t>
            </a:r>
          </a:p>
        </p:txBody>
      </p:sp>
      <p:sp>
        <p:nvSpPr>
          <p:cNvPr id="11" name="TextBox 10"/>
          <p:cNvSpPr txBox="1"/>
          <p:nvPr/>
        </p:nvSpPr>
        <p:spPr>
          <a:xfrm>
            <a:off x="365760" y="1444752"/>
            <a:ext cx="3611880" cy="320040"/>
          </a:xfrm>
          <a:prstGeom prst="rect">
            <a:avLst/>
          </a:prstGeom>
          <a:noFill/>
        </p:spPr>
        <p:txBody>
          <a:bodyPr wrap="square">
            <a:spAutoFit/>
          </a:bodyPr>
          <a:lstStyle/>
          <a:p>
            <a:pPr algn="ctr"/>
            <a:r>
              <a:rPr sz="1600" b="1" i="0">
                <a:solidFill>
                  <a:srgbClr val="FFFFFF"/>
                </a:solidFill>
                <a:latin typeface="Calibri"/>
              </a:rPr>
              <a:t>&lt; 33%</a:t>
            </a:r>
          </a:p>
        </p:txBody>
      </p:sp>
      <p:sp>
        <p:nvSpPr>
          <p:cNvPr id="12" name="Rectangle 11"/>
          <p:cNvSpPr/>
          <p:nvPr/>
        </p:nvSpPr>
        <p:spPr>
          <a:xfrm>
            <a:off x="274320" y="1828800"/>
            <a:ext cx="3794760" cy="50292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1874519"/>
            <a:ext cx="3611880" cy="256032"/>
          </a:xfrm>
          <a:prstGeom prst="rect">
            <a:avLst/>
          </a:prstGeom>
          <a:noFill/>
        </p:spPr>
        <p:txBody>
          <a:bodyPr wrap="square">
            <a:spAutoFit/>
          </a:bodyPr>
          <a:lstStyle/>
          <a:p>
            <a:pPr algn="ctr"/>
            <a:r>
              <a:rPr sz="950" b="1" i="0">
                <a:solidFill>
                  <a:srgbClr val="C09840"/>
                </a:solidFill>
                <a:latin typeface="Calibri"/>
              </a:rPr>
              <a:t>26,225 users   |   1.0% observed loyalty</a:t>
            </a:r>
          </a:p>
        </p:txBody>
      </p:sp>
      <p:sp>
        <p:nvSpPr>
          <p:cNvPr id="14" name="TextBox 13"/>
          <p:cNvSpPr txBox="1"/>
          <p:nvPr/>
        </p:nvSpPr>
        <p:spPr>
          <a:xfrm>
            <a:off x="365760" y="2084831"/>
            <a:ext cx="3611880" cy="201168"/>
          </a:xfrm>
          <a:prstGeom prst="rect">
            <a:avLst/>
          </a:prstGeom>
          <a:noFill/>
        </p:spPr>
        <p:txBody>
          <a:bodyPr wrap="square">
            <a:spAutoFit/>
          </a:bodyPr>
          <a:lstStyle/>
          <a:p>
            <a:pPr algn="ctr"/>
            <a:r>
              <a:rPr sz="850" b="0" i="0">
                <a:solidFill>
                  <a:srgbClr val="95A5A6"/>
                </a:solidFill>
                <a:latin typeface="Calibri"/>
              </a:rPr>
              <a:t>Avg score: 0.10</a:t>
            </a:r>
          </a:p>
        </p:txBody>
      </p:sp>
      <p:sp>
        <p:nvSpPr>
          <p:cNvPr id="15" name="Rectangle 14"/>
          <p:cNvSpPr/>
          <p:nvPr/>
        </p:nvSpPr>
        <p:spPr>
          <a:xfrm>
            <a:off x="274320" y="2331720"/>
            <a:ext cx="3794760" cy="347472"/>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2359152"/>
            <a:ext cx="3611880" cy="292608"/>
          </a:xfrm>
          <a:prstGeom prst="rect">
            <a:avLst/>
          </a:prstGeom>
          <a:noFill/>
        </p:spPr>
        <p:txBody>
          <a:bodyPr wrap="square">
            <a:spAutoFit/>
          </a:bodyPr>
          <a:lstStyle/>
          <a:p>
            <a:pPr algn="ctr"/>
            <a:r>
              <a:rPr sz="1050" b="1" i="0">
                <a:solidFill>
                  <a:srgbClr val="FFFFFF"/>
                </a:solidFill>
                <a:latin typeface="Calibri"/>
              </a:rPr>
              <a:t>RE-ENGAGE OR DEPRIORITISE</a:t>
            </a:r>
          </a:p>
        </p:txBody>
      </p:sp>
      <p:sp>
        <p:nvSpPr>
          <p:cNvPr id="17" name="Rectangle 16"/>
          <p:cNvSpPr/>
          <p:nvPr/>
        </p:nvSpPr>
        <p:spPr>
          <a:xfrm>
            <a:off x="274320" y="2679192"/>
            <a:ext cx="37947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 y="2679192"/>
            <a:ext cx="3593592" cy="914400"/>
          </a:xfrm>
          <a:prstGeom prst="rect">
            <a:avLst/>
          </a:prstGeom>
          <a:noFill/>
        </p:spPr>
        <p:txBody>
          <a:bodyPr wrap="square" anchor="ctr"/>
          <a:lstStyle/>
          <a:p>
            <a:pPr algn="l"/>
            <a:r>
              <a:rPr sz="1050" b="0">
                <a:solidFill>
                  <a:srgbClr val="2C3E50"/>
                </a:solidFill>
                <a:latin typeface="Calibri"/>
              </a:rPr>
              <a:t>→  Investigate drop-off: was it price? UX? merchant gap?</a:t>
            </a:r>
          </a:p>
          <a:p>
            <a:pPr algn="l"/>
            <a:r>
              <a:rPr sz="1050" b="0">
                <a:solidFill>
                  <a:srgbClr val="2C3E50"/>
                </a:solidFill>
                <a:latin typeface="Calibri"/>
              </a:rPr>
              <a:t>→  Test a low-cost re-engagement trigger (email / push)</a:t>
            </a:r>
          </a:p>
        </p:txBody>
      </p:sp>
      <p:sp>
        <p:nvSpPr>
          <p:cNvPr id="21" name="Rectangle 20"/>
          <p:cNvSpPr/>
          <p:nvPr/>
        </p:nvSpPr>
        <p:spPr>
          <a:xfrm>
            <a:off x="4206240" y="1143000"/>
            <a:ext cx="3794760" cy="685800"/>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97680" y="1170432"/>
            <a:ext cx="3611880" cy="292608"/>
          </a:xfrm>
          <a:prstGeom prst="rect">
            <a:avLst/>
          </a:prstGeom>
          <a:noFill/>
        </p:spPr>
        <p:txBody>
          <a:bodyPr wrap="square">
            <a:spAutoFit/>
          </a:bodyPr>
          <a:lstStyle/>
          <a:p>
            <a:pPr algn="ctr"/>
            <a:r>
              <a:rPr sz="1300" b="1" i="0">
                <a:solidFill>
                  <a:srgbClr val="2C3E50"/>
                </a:solidFill>
                <a:latin typeface="Calibri"/>
              </a:rPr>
              <a:t>MEDIUM LIKELIHOOD</a:t>
            </a:r>
          </a:p>
        </p:txBody>
      </p:sp>
      <p:sp>
        <p:nvSpPr>
          <p:cNvPr id="23" name="TextBox 22"/>
          <p:cNvSpPr txBox="1"/>
          <p:nvPr/>
        </p:nvSpPr>
        <p:spPr>
          <a:xfrm>
            <a:off x="4297680" y="1444752"/>
            <a:ext cx="3611880" cy="320040"/>
          </a:xfrm>
          <a:prstGeom prst="rect">
            <a:avLst/>
          </a:prstGeom>
          <a:noFill/>
        </p:spPr>
        <p:txBody>
          <a:bodyPr wrap="square">
            <a:spAutoFit/>
          </a:bodyPr>
          <a:lstStyle/>
          <a:p>
            <a:pPr algn="ctr"/>
            <a:r>
              <a:rPr sz="1600" b="1" i="0">
                <a:solidFill>
                  <a:srgbClr val="2C3E50"/>
                </a:solidFill>
                <a:latin typeface="Calibri"/>
              </a:rPr>
              <a:t>33% – 66%</a:t>
            </a:r>
          </a:p>
        </p:txBody>
      </p:sp>
      <p:sp>
        <p:nvSpPr>
          <p:cNvPr id="24" name="Rectangle 23"/>
          <p:cNvSpPr/>
          <p:nvPr/>
        </p:nvSpPr>
        <p:spPr>
          <a:xfrm>
            <a:off x="4206240" y="1828800"/>
            <a:ext cx="3794760" cy="50292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297680" y="1874519"/>
            <a:ext cx="3611880" cy="256032"/>
          </a:xfrm>
          <a:prstGeom prst="rect">
            <a:avLst/>
          </a:prstGeom>
          <a:noFill/>
        </p:spPr>
        <p:txBody>
          <a:bodyPr wrap="square">
            <a:spAutoFit/>
          </a:bodyPr>
          <a:lstStyle/>
          <a:p>
            <a:pPr algn="ctr"/>
            <a:r>
              <a:rPr sz="950" b="1" i="0">
                <a:solidFill>
                  <a:srgbClr val="C09840"/>
                </a:solidFill>
                <a:latin typeface="Calibri"/>
              </a:rPr>
              <a:t>6,060 users   |   6.3% observed loyalty</a:t>
            </a:r>
          </a:p>
        </p:txBody>
      </p:sp>
      <p:sp>
        <p:nvSpPr>
          <p:cNvPr id="26" name="TextBox 25"/>
          <p:cNvSpPr txBox="1"/>
          <p:nvPr/>
        </p:nvSpPr>
        <p:spPr>
          <a:xfrm>
            <a:off x="4297680" y="2084831"/>
            <a:ext cx="3611880" cy="201168"/>
          </a:xfrm>
          <a:prstGeom prst="rect">
            <a:avLst/>
          </a:prstGeom>
          <a:noFill/>
        </p:spPr>
        <p:txBody>
          <a:bodyPr wrap="square">
            <a:spAutoFit/>
          </a:bodyPr>
          <a:lstStyle/>
          <a:p>
            <a:pPr algn="ctr"/>
            <a:r>
              <a:rPr sz="850" b="0" i="0">
                <a:solidFill>
                  <a:srgbClr val="95A5A6"/>
                </a:solidFill>
                <a:latin typeface="Calibri"/>
              </a:rPr>
              <a:t>Avg score: 0.44</a:t>
            </a:r>
          </a:p>
        </p:txBody>
      </p:sp>
      <p:sp>
        <p:nvSpPr>
          <p:cNvPr id="27" name="Rectangle 26"/>
          <p:cNvSpPr/>
          <p:nvPr/>
        </p:nvSpPr>
        <p:spPr>
          <a:xfrm>
            <a:off x="4206240" y="2331720"/>
            <a:ext cx="3794760" cy="347472"/>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97680" y="2359152"/>
            <a:ext cx="3611880" cy="292608"/>
          </a:xfrm>
          <a:prstGeom prst="rect">
            <a:avLst/>
          </a:prstGeom>
          <a:noFill/>
        </p:spPr>
        <p:txBody>
          <a:bodyPr wrap="square">
            <a:spAutoFit/>
          </a:bodyPr>
          <a:lstStyle/>
          <a:p>
            <a:pPr algn="ctr"/>
            <a:r>
              <a:rPr sz="1050" b="1" i="0">
                <a:solidFill>
                  <a:srgbClr val="FFFFFF"/>
                </a:solidFill>
                <a:latin typeface="Calibri"/>
              </a:rPr>
              <a:t>NUDGE &amp; CONVERT</a:t>
            </a:r>
          </a:p>
        </p:txBody>
      </p:sp>
      <p:sp>
        <p:nvSpPr>
          <p:cNvPr id="29" name="Rectangle 28"/>
          <p:cNvSpPr/>
          <p:nvPr/>
        </p:nvSpPr>
        <p:spPr>
          <a:xfrm>
            <a:off x="4206240" y="2679192"/>
            <a:ext cx="37947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15968" y="2679192"/>
            <a:ext cx="3593592" cy="914400"/>
          </a:xfrm>
          <a:prstGeom prst="rect">
            <a:avLst/>
          </a:prstGeom>
          <a:noFill/>
        </p:spPr>
        <p:txBody>
          <a:bodyPr wrap="square" anchor="ctr"/>
          <a:lstStyle/>
          <a:p>
            <a:pPr algn="l"/>
            <a:r>
              <a:rPr sz="1050" b="0">
                <a:solidFill>
                  <a:srgbClr val="2C3E50"/>
                </a:solidFill>
                <a:latin typeface="Calibri"/>
              </a:rPr>
              <a:t>→  Spend incentive: 'Earn 10% back on your next 3 purchases'</a:t>
            </a:r>
          </a:p>
          <a:p>
            <a:pPr algn="l"/>
            <a:r>
              <a:rPr sz="1050" b="0">
                <a:solidFill>
                  <a:srgbClr val="2C3E50"/>
                </a:solidFill>
                <a:latin typeface="Calibri"/>
              </a:rPr>
              <a:t>→  Merchant discovery: introduce them to a second shop</a:t>
            </a:r>
          </a:p>
        </p:txBody>
      </p:sp>
      <p:sp>
        <p:nvSpPr>
          <p:cNvPr id="33" name="Rectangle 32"/>
          <p:cNvSpPr/>
          <p:nvPr/>
        </p:nvSpPr>
        <p:spPr>
          <a:xfrm>
            <a:off x="8138160" y="1143000"/>
            <a:ext cx="3794760" cy="6858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29600" y="1170432"/>
            <a:ext cx="3611880" cy="292608"/>
          </a:xfrm>
          <a:prstGeom prst="rect">
            <a:avLst/>
          </a:prstGeom>
          <a:noFill/>
        </p:spPr>
        <p:txBody>
          <a:bodyPr wrap="square">
            <a:spAutoFit/>
          </a:bodyPr>
          <a:lstStyle/>
          <a:p>
            <a:pPr algn="ctr"/>
            <a:r>
              <a:rPr sz="1300" b="1" i="0">
                <a:solidFill>
                  <a:srgbClr val="FFFFFF"/>
                </a:solidFill>
                <a:latin typeface="Calibri"/>
              </a:rPr>
              <a:t>HIGH LIKELIHOOD</a:t>
            </a:r>
          </a:p>
        </p:txBody>
      </p:sp>
      <p:sp>
        <p:nvSpPr>
          <p:cNvPr id="35" name="TextBox 34"/>
          <p:cNvSpPr txBox="1"/>
          <p:nvPr/>
        </p:nvSpPr>
        <p:spPr>
          <a:xfrm>
            <a:off x="8229600" y="1444752"/>
            <a:ext cx="3611880" cy="320040"/>
          </a:xfrm>
          <a:prstGeom prst="rect">
            <a:avLst/>
          </a:prstGeom>
          <a:noFill/>
        </p:spPr>
        <p:txBody>
          <a:bodyPr wrap="square">
            <a:spAutoFit/>
          </a:bodyPr>
          <a:lstStyle/>
          <a:p>
            <a:pPr algn="ctr"/>
            <a:r>
              <a:rPr sz="1600" b="1" i="0">
                <a:solidFill>
                  <a:srgbClr val="FFFFFF"/>
                </a:solidFill>
                <a:latin typeface="Calibri"/>
              </a:rPr>
              <a:t>&gt; 66%</a:t>
            </a:r>
          </a:p>
        </p:txBody>
      </p:sp>
      <p:sp>
        <p:nvSpPr>
          <p:cNvPr id="36" name="Rectangle 35"/>
          <p:cNvSpPr/>
          <p:nvPr/>
        </p:nvSpPr>
        <p:spPr>
          <a:xfrm>
            <a:off x="8138160" y="1828800"/>
            <a:ext cx="3794760" cy="50292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29600" y="1874519"/>
            <a:ext cx="3611880" cy="256032"/>
          </a:xfrm>
          <a:prstGeom prst="rect">
            <a:avLst/>
          </a:prstGeom>
          <a:noFill/>
        </p:spPr>
        <p:txBody>
          <a:bodyPr wrap="square">
            <a:spAutoFit/>
          </a:bodyPr>
          <a:lstStyle/>
          <a:p>
            <a:pPr algn="ctr"/>
            <a:r>
              <a:rPr sz="950" b="1" i="0">
                <a:solidFill>
                  <a:srgbClr val="C09840"/>
                </a:solidFill>
                <a:latin typeface="Calibri"/>
              </a:rPr>
              <a:t>2,135 users   |   83.9% observed loyalty</a:t>
            </a:r>
          </a:p>
        </p:txBody>
      </p:sp>
      <p:sp>
        <p:nvSpPr>
          <p:cNvPr id="38" name="TextBox 37"/>
          <p:cNvSpPr txBox="1"/>
          <p:nvPr/>
        </p:nvSpPr>
        <p:spPr>
          <a:xfrm>
            <a:off x="8229600" y="2084831"/>
            <a:ext cx="3611880" cy="201168"/>
          </a:xfrm>
          <a:prstGeom prst="rect">
            <a:avLst/>
          </a:prstGeom>
          <a:noFill/>
        </p:spPr>
        <p:txBody>
          <a:bodyPr wrap="square">
            <a:spAutoFit/>
          </a:bodyPr>
          <a:lstStyle/>
          <a:p>
            <a:pPr algn="ctr"/>
            <a:r>
              <a:rPr sz="850" b="0" i="0">
                <a:solidFill>
                  <a:srgbClr val="95A5A6"/>
                </a:solidFill>
                <a:latin typeface="Calibri"/>
              </a:rPr>
              <a:t>Avg score: 0.95</a:t>
            </a:r>
          </a:p>
        </p:txBody>
      </p:sp>
      <p:sp>
        <p:nvSpPr>
          <p:cNvPr id="39" name="Rectangle 38"/>
          <p:cNvSpPr/>
          <p:nvPr/>
        </p:nvSpPr>
        <p:spPr>
          <a:xfrm>
            <a:off x="8138160" y="2331720"/>
            <a:ext cx="3794760" cy="347472"/>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0" y="2359152"/>
            <a:ext cx="3611880" cy="292608"/>
          </a:xfrm>
          <a:prstGeom prst="rect">
            <a:avLst/>
          </a:prstGeom>
          <a:noFill/>
        </p:spPr>
        <p:txBody>
          <a:bodyPr wrap="square">
            <a:spAutoFit/>
          </a:bodyPr>
          <a:lstStyle/>
          <a:p>
            <a:pPr algn="ctr"/>
            <a:r>
              <a:rPr sz="1050" b="1" i="0">
                <a:solidFill>
                  <a:srgbClr val="FFFFFF"/>
                </a:solidFill>
                <a:latin typeface="Calibri"/>
              </a:rPr>
              <a:t>REINFORCE &amp; RETAIN</a:t>
            </a:r>
          </a:p>
        </p:txBody>
      </p:sp>
      <p:sp>
        <p:nvSpPr>
          <p:cNvPr id="41" name="Rectangle 40"/>
          <p:cNvSpPr/>
          <p:nvPr/>
        </p:nvSpPr>
        <p:spPr>
          <a:xfrm>
            <a:off x="8138160" y="2679192"/>
            <a:ext cx="37947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47888" y="2679192"/>
            <a:ext cx="3593592" cy="914400"/>
          </a:xfrm>
          <a:prstGeom prst="rect">
            <a:avLst/>
          </a:prstGeom>
          <a:noFill/>
        </p:spPr>
        <p:txBody>
          <a:bodyPr wrap="square" anchor="ctr"/>
          <a:lstStyle/>
          <a:p>
            <a:pPr algn="l"/>
            <a:r>
              <a:rPr sz="1050" b="0">
                <a:solidFill>
                  <a:srgbClr val="2C3E50"/>
                </a:solidFill>
                <a:latin typeface="Calibri"/>
              </a:rPr>
              <a:t>→  Early loyalty tier access: acknowledge their status</a:t>
            </a:r>
          </a:p>
          <a:p>
            <a:pPr algn="l"/>
            <a:r>
              <a:rPr sz="1050" b="0">
                <a:solidFill>
                  <a:srgbClr val="2C3E50"/>
                </a:solidFill>
                <a:latin typeface="Calibri"/>
              </a:rPr>
              <a:t>→  Exclusive merchant offers unavailable to general users</a:t>
            </a:r>
          </a:p>
        </p:txBody>
      </p:sp>
      <p:pic>
        <p:nvPicPr>
          <p:cNvPr id="45" name="Picture 44" descr="image.png"/>
          <p:cNvPicPr>
            <a:picLocks noChangeAspect="1"/>
          </p:cNvPicPr>
          <p:nvPr/>
        </p:nvPicPr>
        <p:blipFill>
          <a:blip r:embed="rId3"/>
          <a:stretch>
            <a:fillRect/>
          </a:stretch>
        </p:blipFill>
        <p:spPr>
          <a:xfrm>
            <a:off x="1275588" y="3703320"/>
            <a:ext cx="9427464" cy="2834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Business Impact</a:t>
            </a:r>
          </a:p>
        </p:txBody>
      </p:sp>
      <p:sp>
        <p:nvSpPr>
          <p:cNvPr id="5" name="TextBox 4"/>
          <p:cNvSpPr txBox="1"/>
          <p:nvPr/>
        </p:nvSpPr>
        <p:spPr>
          <a:xfrm>
            <a:off x="274320" y="685800"/>
            <a:ext cx="9144000" cy="365760"/>
          </a:xfrm>
          <a:prstGeom prst="rect">
            <a:avLst/>
          </a:prstGeom>
          <a:noFill/>
        </p:spPr>
        <p:txBody>
          <a:bodyPr wrap="square">
            <a:spAutoFit/>
          </a:bodyPr>
          <a:lstStyle/>
          <a:p>
            <a:r>
              <a:rPr lang="en-US" sz="1300" b="0" dirty="0">
                <a:solidFill>
                  <a:srgbClr val="B0C8E4"/>
                </a:solidFill>
              </a:rPr>
              <a:t>What this analysis delivers: a rigorous loyalty definition and an early-intervention model</a:t>
            </a:r>
          </a:p>
        </p:txBody>
      </p:sp>
      <p:sp>
        <p:nvSpPr>
          <p:cNvPr id="6" name="Rectangle 5"/>
          <p:cNvSpPr/>
          <p:nvPr/>
        </p:nvSpPr>
        <p:spPr>
          <a:xfrm>
            <a:off x="274320" y="1170432"/>
            <a:ext cx="11640312" cy="658368"/>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170432"/>
            <a:ext cx="64008" cy="658368"/>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234440"/>
            <a:ext cx="11338560" cy="502920"/>
          </a:xfrm>
          <a:prstGeom prst="rect">
            <a:avLst/>
          </a:prstGeom>
          <a:noFill/>
        </p:spPr>
        <p:txBody>
          <a:bodyPr wrap="square">
            <a:spAutoFit/>
          </a:bodyPr>
          <a:lstStyle/>
          <a:p>
            <a:r>
              <a:rPr sz="1100" b="0">
                <a:solidFill>
                  <a:srgbClr val="2C3E50"/>
                </a:solidFill>
              </a:rPr>
              <a:t>75% of Spendy users shop at just one merchant: they are loyal to a coffee shop, not to Spendy. This analysis draws that distinction for the first time and builds a model that acts on it.</a:t>
            </a:r>
          </a:p>
        </p:txBody>
      </p:sp>
      <p:sp>
        <p:nvSpPr>
          <p:cNvPr id="9" name="Rectangle 8"/>
          <p:cNvSpPr/>
          <p:nvPr/>
        </p:nvSpPr>
        <p:spPr>
          <a:xfrm>
            <a:off x="274320" y="1920240"/>
            <a:ext cx="3758184" cy="333756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920240"/>
            <a:ext cx="64008" cy="333756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2048256"/>
            <a:ext cx="914400" cy="2743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 y="2057400"/>
            <a:ext cx="914400" cy="237744"/>
          </a:xfrm>
          <a:prstGeom prst="rect">
            <a:avLst/>
          </a:prstGeom>
          <a:noFill/>
        </p:spPr>
        <p:txBody>
          <a:bodyPr wrap="none">
            <a:spAutoFit/>
          </a:bodyPr>
          <a:lstStyle/>
          <a:p>
            <a:r>
              <a:rPr sz="1000" b="1">
                <a:solidFill>
                  <a:srgbClr val="FFFFFF"/>
                </a:solidFill>
              </a:rPr>
              <a:t>DEFINE</a:t>
            </a:r>
          </a:p>
        </p:txBody>
      </p:sp>
      <p:sp>
        <p:nvSpPr>
          <p:cNvPr id="13" name="TextBox 12"/>
          <p:cNvSpPr txBox="1"/>
          <p:nvPr/>
        </p:nvSpPr>
        <p:spPr>
          <a:xfrm>
            <a:off x="402336" y="2404872"/>
            <a:ext cx="3520440" cy="658368"/>
          </a:xfrm>
          <a:prstGeom prst="rect">
            <a:avLst/>
          </a:prstGeom>
          <a:noFill/>
        </p:spPr>
        <p:txBody>
          <a:bodyPr wrap="none">
            <a:spAutoFit/>
          </a:bodyPr>
          <a:lstStyle/>
          <a:p>
            <a:r>
              <a:rPr sz="3200" b="1">
                <a:solidFill>
                  <a:srgbClr val="0B2A4A"/>
                </a:solidFill>
              </a:rPr>
              <a:t>4.6%</a:t>
            </a:r>
          </a:p>
        </p:txBody>
      </p:sp>
      <p:sp>
        <p:nvSpPr>
          <p:cNvPr id="14" name="TextBox 13"/>
          <p:cNvSpPr txBox="1"/>
          <p:nvPr/>
        </p:nvSpPr>
        <p:spPr>
          <a:xfrm>
            <a:off x="402336" y="3108960"/>
            <a:ext cx="3520440" cy="292608"/>
          </a:xfrm>
          <a:prstGeom prst="rect">
            <a:avLst/>
          </a:prstGeom>
          <a:noFill/>
        </p:spPr>
        <p:txBody>
          <a:bodyPr wrap="square">
            <a:spAutoFit/>
          </a:bodyPr>
          <a:lstStyle/>
          <a:p>
            <a:r>
              <a:rPr sz="950" b="0">
                <a:solidFill>
                  <a:srgbClr val="5E7080"/>
                </a:solidFill>
              </a:rPr>
              <a:t>platform loyalty rate: measured and defined for the first time</a:t>
            </a:r>
          </a:p>
        </p:txBody>
      </p:sp>
      <p:sp>
        <p:nvSpPr>
          <p:cNvPr id="15" name="TextBox 14"/>
          <p:cNvSpPr txBox="1"/>
          <p:nvPr/>
        </p:nvSpPr>
        <p:spPr>
          <a:xfrm>
            <a:off x="402336" y="3456432"/>
            <a:ext cx="3520440" cy="1691640"/>
          </a:xfrm>
          <a:prstGeom prst="rect">
            <a:avLst/>
          </a:prstGeom>
          <a:noFill/>
        </p:spPr>
        <p:txBody>
          <a:bodyPr wrap="square">
            <a:spAutoFit/>
          </a:bodyPr>
          <a:lstStyle/>
          <a:p>
            <a:r>
              <a:rPr sz="950" b="0">
                <a:solidFill>
                  <a:srgbClr val="2C3E50"/>
                </a:solidFill>
              </a:rPr>
              <a:t>Spendy previously had no formal loyalty definition. The question ‘who are our loyal customers?’ had no answer. Now it does: 6,273 users across 136.8K qualify under a rigorous 5-gate framework. This is now a trackable business KPI: one that can be improved over time, reported to stakeholders, and used to design a loyalty programme on solid foundations.</a:t>
            </a:r>
          </a:p>
        </p:txBody>
      </p:sp>
      <p:sp>
        <p:nvSpPr>
          <p:cNvPr id="16" name="Rectangle 15"/>
          <p:cNvSpPr/>
          <p:nvPr/>
        </p:nvSpPr>
        <p:spPr>
          <a:xfrm>
            <a:off x="4215384" y="1920240"/>
            <a:ext cx="3758184" cy="333756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15384" y="1920240"/>
            <a:ext cx="64008" cy="333756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3400" y="2048256"/>
            <a:ext cx="914400" cy="27432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2057400"/>
            <a:ext cx="914400" cy="237744"/>
          </a:xfrm>
          <a:prstGeom prst="rect">
            <a:avLst/>
          </a:prstGeom>
          <a:noFill/>
        </p:spPr>
        <p:txBody>
          <a:bodyPr wrap="none">
            <a:spAutoFit/>
          </a:bodyPr>
          <a:lstStyle/>
          <a:p>
            <a:r>
              <a:rPr sz="1000" b="1">
                <a:solidFill>
                  <a:srgbClr val="FFFFFF"/>
                </a:solidFill>
              </a:rPr>
              <a:t>PREDICT</a:t>
            </a:r>
          </a:p>
        </p:txBody>
      </p:sp>
      <p:sp>
        <p:nvSpPr>
          <p:cNvPr id="20" name="TextBox 19"/>
          <p:cNvSpPr txBox="1"/>
          <p:nvPr/>
        </p:nvSpPr>
        <p:spPr>
          <a:xfrm>
            <a:off x="4343400" y="2404872"/>
            <a:ext cx="3520440" cy="658368"/>
          </a:xfrm>
          <a:prstGeom prst="rect">
            <a:avLst/>
          </a:prstGeom>
          <a:noFill/>
        </p:spPr>
        <p:txBody>
          <a:bodyPr wrap="none">
            <a:spAutoFit/>
          </a:bodyPr>
          <a:lstStyle/>
          <a:p>
            <a:r>
              <a:rPr sz="3200" b="1">
                <a:solidFill>
                  <a:srgbClr val="2D6A9F"/>
                </a:solidFill>
              </a:rPr>
              <a:t>Month 2</a:t>
            </a:r>
          </a:p>
        </p:txBody>
      </p:sp>
      <p:sp>
        <p:nvSpPr>
          <p:cNvPr id="21" name="TextBox 20"/>
          <p:cNvSpPr txBox="1"/>
          <p:nvPr/>
        </p:nvSpPr>
        <p:spPr>
          <a:xfrm>
            <a:off x="4343400" y="3108960"/>
            <a:ext cx="3520440" cy="292608"/>
          </a:xfrm>
          <a:prstGeom prst="rect">
            <a:avLst/>
          </a:prstGeom>
          <a:noFill/>
        </p:spPr>
        <p:txBody>
          <a:bodyPr wrap="square">
            <a:spAutoFit/>
          </a:bodyPr>
          <a:lstStyle/>
          <a:p>
            <a:r>
              <a:rPr sz="950" b="0">
                <a:solidFill>
                  <a:srgbClr val="5E7080"/>
                </a:solidFill>
              </a:rPr>
              <a:t>earliest scoring window: before new users decide whether to stay</a:t>
            </a:r>
          </a:p>
        </p:txBody>
      </p:sp>
      <p:sp>
        <p:nvSpPr>
          <p:cNvPr id="22" name="TextBox 21"/>
          <p:cNvSpPr txBox="1"/>
          <p:nvPr/>
        </p:nvSpPr>
        <p:spPr>
          <a:xfrm>
            <a:off x="4343400" y="3456432"/>
            <a:ext cx="3520440" cy="1691640"/>
          </a:xfrm>
          <a:prstGeom prst="rect">
            <a:avLst/>
          </a:prstGeom>
          <a:noFill/>
        </p:spPr>
        <p:txBody>
          <a:bodyPr wrap="square">
            <a:spAutoFit/>
          </a:bodyPr>
          <a:lstStyle/>
          <a:p>
            <a:r>
              <a:rPr sz="950" b="0">
                <a:solidFill>
                  <a:srgbClr val="2C3E50"/>
                </a:solidFill>
              </a:rPr>
              <a:t>After 60 days, a new user has revealed enough of their behaviour to make a reliable prediction. The model’s AUC of 0.912 means it genuinely ranks loyal users above non-loyal ones: not guessing. This gives Spendy a 10-month head start: incentives at Month 2 cost a fraction of re-acquisition campaigns after churn has already happened.</a:t>
            </a:r>
          </a:p>
        </p:txBody>
      </p:sp>
      <p:sp>
        <p:nvSpPr>
          <p:cNvPr id="23" name="Rectangle 22"/>
          <p:cNvSpPr/>
          <p:nvPr/>
        </p:nvSpPr>
        <p:spPr>
          <a:xfrm>
            <a:off x="8156448" y="1920240"/>
            <a:ext cx="3758184" cy="333756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56448" y="1920240"/>
            <a:ext cx="64008" cy="333756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84464" y="2048256"/>
            <a:ext cx="914400" cy="27432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84464" y="2057400"/>
            <a:ext cx="914400" cy="237744"/>
          </a:xfrm>
          <a:prstGeom prst="rect">
            <a:avLst/>
          </a:prstGeom>
          <a:noFill/>
        </p:spPr>
        <p:txBody>
          <a:bodyPr wrap="none">
            <a:spAutoFit/>
          </a:bodyPr>
          <a:lstStyle/>
          <a:p>
            <a:r>
              <a:rPr sz="1000" b="1">
                <a:solidFill>
                  <a:srgbClr val="FFFFFF"/>
                </a:solidFill>
              </a:rPr>
              <a:t>ACT</a:t>
            </a:r>
          </a:p>
        </p:txBody>
      </p:sp>
      <p:sp>
        <p:nvSpPr>
          <p:cNvPr id="27" name="TextBox 26"/>
          <p:cNvSpPr txBox="1"/>
          <p:nvPr/>
        </p:nvSpPr>
        <p:spPr>
          <a:xfrm>
            <a:off x="8284464" y="2404872"/>
            <a:ext cx="3520440" cy="658368"/>
          </a:xfrm>
          <a:prstGeom prst="rect">
            <a:avLst/>
          </a:prstGeom>
          <a:noFill/>
        </p:spPr>
        <p:txBody>
          <a:bodyPr wrap="none">
            <a:spAutoFit/>
          </a:bodyPr>
          <a:lstStyle/>
          <a:p>
            <a:r>
              <a:rPr sz="3200" b="1">
                <a:solidFill>
                  <a:srgbClr val="2E75B6"/>
                </a:solidFill>
              </a:rPr>
              <a:t>83.9%</a:t>
            </a:r>
          </a:p>
        </p:txBody>
      </p:sp>
      <p:sp>
        <p:nvSpPr>
          <p:cNvPr id="28" name="TextBox 27"/>
          <p:cNvSpPr txBox="1"/>
          <p:nvPr/>
        </p:nvSpPr>
        <p:spPr>
          <a:xfrm>
            <a:off x="8284464" y="3108960"/>
            <a:ext cx="3520440" cy="292608"/>
          </a:xfrm>
          <a:prstGeom prst="rect">
            <a:avLst/>
          </a:prstGeom>
          <a:noFill/>
        </p:spPr>
        <p:txBody>
          <a:bodyPr wrap="square">
            <a:spAutoFit/>
          </a:bodyPr>
          <a:lstStyle/>
          <a:p>
            <a:r>
              <a:rPr sz="950" b="0">
                <a:solidFill>
                  <a:srgbClr val="5E7080"/>
                </a:solidFill>
              </a:rPr>
              <a:t>observed loyalty in the High segment: the model’s confident calls are right</a:t>
            </a:r>
          </a:p>
        </p:txBody>
      </p:sp>
      <p:sp>
        <p:nvSpPr>
          <p:cNvPr id="29" name="TextBox 28"/>
          <p:cNvSpPr txBox="1"/>
          <p:nvPr/>
        </p:nvSpPr>
        <p:spPr>
          <a:xfrm>
            <a:off x="8284464" y="3456432"/>
            <a:ext cx="3520440" cy="1691640"/>
          </a:xfrm>
          <a:prstGeom prst="rect">
            <a:avLst/>
          </a:prstGeom>
          <a:noFill/>
        </p:spPr>
        <p:txBody>
          <a:bodyPr wrap="square">
            <a:spAutoFit/>
          </a:bodyPr>
          <a:lstStyle/>
          <a:p>
            <a:r>
              <a:rPr sz="950" b="0">
                <a:solidFill>
                  <a:srgbClr val="2C3E50"/>
                </a:solidFill>
              </a:rPr>
              <a:t>Three customer tiers, three distinct actions. High (83.9% loyalty): acknowledge their status, offer exclusive rewards: they just need to be seen. Medium (6.3%): a targeted spend nudge may be all it takes to tip them over. Low (1.0%): investigate why they dropped off rather than throwing campaign spend at users who have effectively left.</a:t>
            </a:r>
          </a:p>
        </p:txBody>
      </p:sp>
      <p:sp>
        <p:nvSpPr>
          <p:cNvPr id="30" name="Rectangle 29"/>
          <p:cNvSpPr/>
          <p:nvPr/>
        </p:nvSpPr>
        <p:spPr>
          <a:xfrm>
            <a:off x="274320" y="5367528"/>
            <a:ext cx="11640312" cy="59436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5440680"/>
            <a:ext cx="2103120" cy="438912"/>
          </a:xfrm>
          <a:prstGeom prst="rect">
            <a:avLst/>
          </a:prstGeom>
          <a:noFill/>
        </p:spPr>
        <p:txBody>
          <a:bodyPr wrap="none">
            <a:spAutoFit/>
          </a:bodyPr>
          <a:lstStyle/>
          <a:p>
            <a:r>
              <a:rPr sz="1000" b="1">
                <a:solidFill>
                  <a:srgbClr val="C09840"/>
                </a:solidFill>
              </a:rPr>
              <a:t>THE BOTTOM LINE</a:t>
            </a:r>
          </a:p>
        </p:txBody>
      </p:sp>
      <p:sp>
        <p:nvSpPr>
          <p:cNvPr id="32" name="TextBox 31"/>
          <p:cNvSpPr txBox="1"/>
          <p:nvPr/>
        </p:nvSpPr>
        <p:spPr>
          <a:xfrm>
            <a:off x="2651760" y="5440680"/>
            <a:ext cx="9144000" cy="438912"/>
          </a:xfrm>
          <a:prstGeom prst="rect">
            <a:avLst/>
          </a:prstGeom>
          <a:noFill/>
        </p:spPr>
        <p:txBody>
          <a:bodyPr wrap="square">
            <a:spAutoFit/>
          </a:bodyPr>
          <a:lstStyle/>
          <a:p>
            <a:r>
              <a:rPr sz="1000" b="0">
                <a:solidFill>
                  <a:srgbClr val="FFFFFF"/>
                </a:solidFill>
              </a:rPr>
              <a:t>This model turns ‘customer loyalty’ from a vague aspiration into a measurable, predictable, actionable business programme: with a clear definition, a reliable early signal, and three distinct playbooks ready to deploy.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Limitations &amp; Improvements</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Honest assessment, with a clear roadmap for what comes next</a:t>
            </a:r>
          </a:p>
        </p:txBody>
      </p:sp>
      <p:sp>
        <p:nvSpPr>
          <p:cNvPr id="9" name="Rectangle 8"/>
          <p:cNvSpPr/>
          <p:nvPr/>
        </p:nvSpPr>
        <p:spPr>
          <a:xfrm>
            <a:off x="274320" y="1143000"/>
            <a:ext cx="2240280" cy="3447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143000"/>
            <a:ext cx="2240280" cy="384048"/>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170432"/>
            <a:ext cx="2057400" cy="310896"/>
          </a:xfrm>
          <a:prstGeom prst="rect">
            <a:avLst/>
          </a:prstGeom>
          <a:noFill/>
        </p:spPr>
        <p:txBody>
          <a:bodyPr wrap="square">
            <a:spAutoFit/>
          </a:bodyPr>
          <a:lstStyle/>
          <a:p>
            <a:pPr algn="l"/>
            <a:r>
              <a:rPr sz="900" b="1" i="0">
                <a:solidFill>
                  <a:srgbClr val="FFFFFF"/>
                </a:solidFill>
                <a:latin typeface="Calibri"/>
              </a:rPr>
              <a:t>HEURISTIC THRESHOLDS</a:t>
            </a:r>
          </a:p>
        </p:txBody>
      </p:sp>
      <p:sp>
        <p:nvSpPr>
          <p:cNvPr id="17" name="Rectangle 16"/>
          <p:cNvSpPr/>
          <p:nvPr/>
        </p:nvSpPr>
        <p:spPr>
          <a:xfrm>
            <a:off x="2596896" y="1143000"/>
            <a:ext cx="2240280" cy="3447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96896" y="1143000"/>
            <a:ext cx="2240280" cy="384048"/>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688336" y="1170432"/>
            <a:ext cx="2057400" cy="310896"/>
          </a:xfrm>
          <a:prstGeom prst="rect">
            <a:avLst/>
          </a:prstGeom>
          <a:noFill/>
        </p:spPr>
        <p:txBody>
          <a:bodyPr wrap="square">
            <a:spAutoFit/>
          </a:bodyPr>
          <a:lstStyle/>
          <a:p>
            <a:pPr algn="l"/>
            <a:r>
              <a:rPr sz="900" b="1" i="0">
                <a:solidFill>
                  <a:srgbClr val="FFFFFF"/>
                </a:solidFill>
                <a:latin typeface="Calibri"/>
              </a:rPr>
              <a:t>RECALL AT 45%</a:t>
            </a:r>
          </a:p>
        </p:txBody>
      </p:sp>
      <p:sp>
        <p:nvSpPr>
          <p:cNvPr id="25" name="Rectangle 24"/>
          <p:cNvSpPr/>
          <p:nvPr/>
        </p:nvSpPr>
        <p:spPr>
          <a:xfrm>
            <a:off x="4919472" y="1143000"/>
            <a:ext cx="2240280" cy="3447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919472" y="1143000"/>
            <a:ext cx="2240280" cy="384048"/>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10912" y="1170432"/>
            <a:ext cx="2057400" cy="310896"/>
          </a:xfrm>
          <a:prstGeom prst="rect">
            <a:avLst/>
          </a:prstGeom>
          <a:noFill/>
        </p:spPr>
        <p:txBody>
          <a:bodyPr wrap="square">
            <a:spAutoFit/>
          </a:bodyPr>
          <a:lstStyle/>
          <a:p>
            <a:pPr algn="l"/>
            <a:r>
              <a:rPr sz="900" b="1" i="0">
                <a:solidFill>
                  <a:srgbClr val="FFFFFF"/>
                </a:solidFill>
                <a:latin typeface="Calibri"/>
              </a:rPr>
              <a:t>NARROW FEATURE SET</a:t>
            </a:r>
          </a:p>
        </p:txBody>
      </p:sp>
      <p:sp>
        <p:nvSpPr>
          <p:cNvPr id="33" name="Rectangle 32"/>
          <p:cNvSpPr/>
          <p:nvPr/>
        </p:nvSpPr>
        <p:spPr>
          <a:xfrm>
            <a:off x="7242048" y="1143000"/>
            <a:ext cx="2240280" cy="3447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242048" y="1143000"/>
            <a:ext cx="2240280"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33488" y="1170432"/>
            <a:ext cx="2057400" cy="310896"/>
          </a:xfrm>
          <a:prstGeom prst="rect">
            <a:avLst/>
          </a:prstGeom>
          <a:noFill/>
        </p:spPr>
        <p:txBody>
          <a:bodyPr wrap="square">
            <a:spAutoFit/>
          </a:bodyPr>
          <a:lstStyle/>
          <a:p>
            <a:pPr algn="l"/>
            <a:r>
              <a:rPr sz="900" b="1" i="0">
                <a:solidFill>
                  <a:srgbClr val="FFFFFF"/>
                </a:solidFill>
                <a:latin typeface="Calibri"/>
              </a:rPr>
              <a:t>7-MONTH WINDOW ONLY</a:t>
            </a:r>
          </a:p>
        </p:txBody>
      </p:sp>
      <p:sp>
        <p:nvSpPr>
          <p:cNvPr id="41" name="Rectangle 40"/>
          <p:cNvSpPr/>
          <p:nvPr/>
        </p:nvSpPr>
        <p:spPr>
          <a:xfrm>
            <a:off x="9564624" y="1143000"/>
            <a:ext cx="2240280" cy="3447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564624" y="1143000"/>
            <a:ext cx="2240280" cy="384048"/>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656064" y="1170432"/>
            <a:ext cx="2057400" cy="310896"/>
          </a:xfrm>
          <a:prstGeom prst="rect">
            <a:avLst/>
          </a:prstGeom>
          <a:noFill/>
        </p:spPr>
        <p:txBody>
          <a:bodyPr wrap="square">
            <a:spAutoFit/>
          </a:bodyPr>
          <a:lstStyle/>
          <a:p>
            <a:pPr algn="l"/>
            <a:r>
              <a:rPr sz="900" b="1" i="0">
                <a:solidFill>
                  <a:srgbClr val="FFFFFF"/>
                </a:solidFill>
                <a:latin typeface="Calibri"/>
              </a:rPr>
              <a:t>FIXED SEGMENTATION THRESHOLDS</a:t>
            </a:r>
          </a:p>
        </p:txBody>
      </p:sp>
      <p:sp>
        <p:nvSpPr>
          <p:cNvPr id="44" name="TextBox 43"/>
          <p:cNvSpPr txBox="1"/>
          <p:nvPr/>
        </p:nvSpPr>
        <p:spPr>
          <a:xfrm>
            <a:off x="365760" y="1572768"/>
            <a:ext cx="2057400" cy="228600"/>
          </a:xfrm>
          <a:prstGeom prst="rect">
            <a:avLst/>
          </a:prstGeom>
          <a:noFill/>
        </p:spPr>
        <p:txBody>
          <a:bodyPr wrap="none">
            <a:spAutoFit/>
          </a:bodyPr>
          <a:lstStyle/>
          <a:p>
            <a:r>
              <a:rPr sz="800" b="1">
                <a:solidFill>
                  <a:srgbClr val="5E7080"/>
                </a:solidFill>
              </a:rPr>
              <a:t>CURRENT LIMITATION</a:t>
            </a:r>
          </a:p>
        </p:txBody>
      </p:sp>
      <p:sp>
        <p:nvSpPr>
          <p:cNvPr id="45" name="TextBox 44"/>
          <p:cNvSpPr txBox="1"/>
          <p:nvPr/>
        </p:nvSpPr>
        <p:spPr>
          <a:xfrm>
            <a:off x="365760" y="1847088"/>
            <a:ext cx="2057400" cy="896112"/>
          </a:xfrm>
          <a:prstGeom prst="rect">
            <a:avLst/>
          </a:prstGeom>
          <a:noFill/>
        </p:spPr>
        <p:txBody>
          <a:bodyPr wrap="square">
            <a:spAutoFit/>
          </a:bodyPr>
          <a:lstStyle/>
          <a:p>
            <a:r>
              <a:rPr sz="900" b="0">
                <a:solidFill>
                  <a:srgbClr val="2C3E50"/>
                </a:solidFill>
              </a:rPr>
              <a:t>Loyalty thresholds (2/month, ¥10K, 2 shops, 6 months) were set by data inspection and business logic: not optimised by outcome data.</a:t>
            </a:r>
          </a:p>
        </p:txBody>
      </p:sp>
      <p:sp>
        <p:nvSpPr>
          <p:cNvPr id="46" name="Rectangle 45"/>
          <p:cNvSpPr/>
          <p:nvPr/>
        </p:nvSpPr>
        <p:spPr>
          <a:xfrm>
            <a:off x="347472" y="2816352"/>
            <a:ext cx="2103120" cy="27432"/>
          </a:xfrm>
          <a:prstGeom prst="rect">
            <a:avLst/>
          </a:prstGeom>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65760" y="2889504"/>
            <a:ext cx="2057400" cy="228600"/>
          </a:xfrm>
          <a:prstGeom prst="rect">
            <a:avLst/>
          </a:prstGeom>
          <a:noFill/>
        </p:spPr>
        <p:txBody>
          <a:bodyPr wrap="none">
            <a:spAutoFit/>
          </a:bodyPr>
          <a:lstStyle/>
          <a:p>
            <a:r>
              <a:rPr sz="800" b="1">
                <a:solidFill>
                  <a:srgbClr val="0B2A4A"/>
                </a:solidFill>
              </a:rPr>
              <a:t>HOW TO FIX</a:t>
            </a:r>
          </a:p>
        </p:txBody>
      </p:sp>
      <p:sp>
        <p:nvSpPr>
          <p:cNvPr id="48" name="TextBox 47"/>
          <p:cNvSpPr txBox="1"/>
          <p:nvPr/>
        </p:nvSpPr>
        <p:spPr>
          <a:xfrm>
            <a:off x="365760" y="3163824"/>
            <a:ext cx="2057400" cy="1371600"/>
          </a:xfrm>
          <a:prstGeom prst="rect">
            <a:avLst/>
          </a:prstGeom>
          <a:noFill/>
        </p:spPr>
        <p:txBody>
          <a:bodyPr wrap="square">
            <a:spAutoFit/>
          </a:bodyPr>
          <a:lstStyle/>
          <a:p>
            <a:r>
              <a:rPr sz="950" b="0">
                <a:solidFill>
                  <a:srgbClr val="2C3E50"/>
                </a:solidFill>
              </a:rPr>
              <a:t>A/B test threshold variants; back-solve from LTV or reward ROI data to find the economically optimal cutoff.</a:t>
            </a:r>
          </a:p>
        </p:txBody>
      </p:sp>
      <p:sp>
        <p:nvSpPr>
          <p:cNvPr id="49" name="TextBox 48"/>
          <p:cNvSpPr txBox="1"/>
          <p:nvPr/>
        </p:nvSpPr>
        <p:spPr>
          <a:xfrm>
            <a:off x="2688336" y="1572768"/>
            <a:ext cx="2057400" cy="228600"/>
          </a:xfrm>
          <a:prstGeom prst="rect">
            <a:avLst/>
          </a:prstGeom>
          <a:noFill/>
        </p:spPr>
        <p:txBody>
          <a:bodyPr wrap="none">
            <a:spAutoFit/>
          </a:bodyPr>
          <a:lstStyle/>
          <a:p>
            <a:r>
              <a:rPr sz="800" b="1">
                <a:solidFill>
                  <a:srgbClr val="5E7080"/>
                </a:solidFill>
              </a:rPr>
              <a:t>CURRENT LIMITATION</a:t>
            </a:r>
          </a:p>
        </p:txBody>
      </p:sp>
      <p:sp>
        <p:nvSpPr>
          <p:cNvPr id="50" name="TextBox 49"/>
          <p:cNvSpPr txBox="1"/>
          <p:nvPr/>
        </p:nvSpPr>
        <p:spPr>
          <a:xfrm>
            <a:off x="2688336" y="1847088"/>
            <a:ext cx="2057400" cy="896112"/>
          </a:xfrm>
          <a:prstGeom prst="rect">
            <a:avLst/>
          </a:prstGeom>
          <a:noFill/>
        </p:spPr>
        <p:txBody>
          <a:bodyPr wrap="square">
            <a:spAutoFit/>
          </a:bodyPr>
          <a:lstStyle/>
          <a:p>
            <a:r>
              <a:rPr sz="900" b="0">
                <a:solidFill>
                  <a:srgbClr val="2C3E50"/>
                </a:solidFill>
              </a:rPr>
              <a:t>The model misses 55% of loyal users at the 0.5 threshold. With only 1,108 positive training examples (3.2%), recall is suppressed by class imbalance.</a:t>
            </a:r>
          </a:p>
        </p:txBody>
      </p:sp>
      <p:sp>
        <p:nvSpPr>
          <p:cNvPr id="51" name="Rectangle 50"/>
          <p:cNvSpPr/>
          <p:nvPr/>
        </p:nvSpPr>
        <p:spPr>
          <a:xfrm>
            <a:off x="2670048" y="2816352"/>
            <a:ext cx="2103120" cy="27432"/>
          </a:xfrm>
          <a:prstGeom prst="rect">
            <a:avLst/>
          </a:prstGeom>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688336" y="2889504"/>
            <a:ext cx="2057400" cy="228600"/>
          </a:xfrm>
          <a:prstGeom prst="rect">
            <a:avLst/>
          </a:prstGeom>
          <a:noFill/>
        </p:spPr>
        <p:txBody>
          <a:bodyPr wrap="none">
            <a:spAutoFit/>
          </a:bodyPr>
          <a:lstStyle/>
          <a:p>
            <a:r>
              <a:rPr sz="800" b="1">
                <a:solidFill>
                  <a:srgbClr val="0B2A4A"/>
                </a:solidFill>
              </a:rPr>
              <a:t>HOW TO FIX</a:t>
            </a:r>
          </a:p>
        </p:txBody>
      </p:sp>
      <p:sp>
        <p:nvSpPr>
          <p:cNvPr id="53" name="TextBox 52"/>
          <p:cNvSpPr txBox="1"/>
          <p:nvPr/>
        </p:nvSpPr>
        <p:spPr>
          <a:xfrm>
            <a:off x="2688336" y="3163824"/>
            <a:ext cx="2057400" cy="1371600"/>
          </a:xfrm>
          <a:prstGeom prst="rect">
            <a:avLst/>
          </a:prstGeom>
          <a:noFill/>
        </p:spPr>
        <p:txBody>
          <a:bodyPr wrap="square">
            <a:spAutoFit/>
          </a:bodyPr>
          <a:lstStyle/>
          <a:p>
            <a:r>
              <a:rPr sz="950" b="0">
                <a:solidFill>
                  <a:srgbClr val="2C3E50"/>
                </a:solidFill>
              </a:rPr>
              <a:t>Test SMOTE oversampling + Gradient Boosting; lower the classification threshold from 0.5 to 0.3–0.35 to prioritise recall.</a:t>
            </a:r>
          </a:p>
        </p:txBody>
      </p:sp>
      <p:sp>
        <p:nvSpPr>
          <p:cNvPr id="54" name="TextBox 53"/>
          <p:cNvSpPr txBox="1"/>
          <p:nvPr/>
        </p:nvSpPr>
        <p:spPr>
          <a:xfrm>
            <a:off x="5010912" y="1572768"/>
            <a:ext cx="2057400" cy="228600"/>
          </a:xfrm>
          <a:prstGeom prst="rect">
            <a:avLst/>
          </a:prstGeom>
          <a:noFill/>
        </p:spPr>
        <p:txBody>
          <a:bodyPr wrap="none">
            <a:spAutoFit/>
          </a:bodyPr>
          <a:lstStyle/>
          <a:p>
            <a:r>
              <a:rPr sz="800" b="1">
                <a:solidFill>
                  <a:srgbClr val="5E7080"/>
                </a:solidFill>
              </a:rPr>
              <a:t>CURRENT LIMITATION</a:t>
            </a:r>
          </a:p>
        </p:txBody>
      </p:sp>
      <p:sp>
        <p:nvSpPr>
          <p:cNvPr id="55" name="TextBox 54"/>
          <p:cNvSpPr txBox="1"/>
          <p:nvPr/>
        </p:nvSpPr>
        <p:spPr>
          <a:xfrm>
            <a:off x="5010912" y="1847088"/>
            <a:ext cx="2057400" cy="896112"/>
          </a:xfrm>
          <a:prstGeom prst="rect">
            <a:avLst/>
          </a:prstGeom>
          <a:noFill/>
        </p:spPr>
        <p:txBody>
          <a:bodyPr wrap="square">
            <a:spAutoFit/>
          </a:bodyPr>
          <a:lstStyle/>
          <a:p>
            <a:r>
              <a:rPr sz="900" b="0">
                <a:solidFill>
                  <a:srgbClr val="2C3E50"/>
                </a:solidFill>
              </a:rPr>
              <a:t>Only 5 features derived from 3 raw columns (price, timestamp, shop_id). Model cannot capture category preferences, demographics, or campaign response.</a:t>
            </a:r>
          </a:p>
        </p:txBody>
      </p:sp>
      <p:sp>
        <p:nvSpPr>
          <p:cNvPr id="56" name="Rectangle 55"/>
          <p:cNvSpPr/>
          <p:nvPr/>
        </p:nvSpPr>
        <p:spPr>
          <a:xfrm>
            <a:off x="4992624" y="2816352"/>
            <a:ext cx="2103120" cy="27432"/>
          </a:xfrm>
          <a:prstGeom prst="rect">
            <a:avLst/>
          </a:prstGeom>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010912" y="2889504"/>
            <a:ext cx="2057400" cy="228600"/>
          </a:xfrm>
          <a:prstGeom prst="rect">
            <a:avLst/>
          </a:prstGeom>
          <a:noFill/>
        </p:spPr>
        <p:txBody>
          <a:bodyPr wrap="none">
            <a:spAutoFit/>
          </a:bodyPr>
          <a:lstStyle/>
          <a:p>
            <a:r>
              <a:rPr sz="800" b="1">
                <a:solidFill>
                  <a:srgbClr val="0B2A4A"/>
                </a:solidFill>
              </a:rPr>
              <a:t>HOW TO FIX</a:t>
            </a:r>
          </a:p>
        </p:txBody>
      </p:sp>
      <p:sp>
        <p:nvSpPr>
          <p:cNvPr id="58" name="TextBox 57"/>
          <p:cNvSpPr txBox="1"/>
          <p:nvPr/>
        </p:nvSpPr>
        <p:spPr>
          <a:xfrm>
            <a:off x="5010912" y="3163824"/>
            <a:ext cx="2057400" cy="1371600"/>
          </a:xfrm>
          <a:prstGeom prst="rect">
            <a:avLst/>
          </a:prstGeom>
          <a:noFill/>
        </p:spPr>
        <p:txBody>
          <a:bodyPr wrap="square">
            <a:spAutoFit/>
          </a:bodyPr>
          <a:lstStyle/>
          <a:p>
            <a:r>
              <a:rPr sz="950" b="0">
                <a:solidFill>
                  <a:srgbClr val="2C3E50"/>
                </a:solidFill>
              </a:rPr>
              <a:t>Add product category diversity, app engagement metrics, and marketing-channel response signals as features.</a:t>
            </a:r>
          </a:p>
        </p:txBody>
      </p:sp>
      <p:sp>
        <p:nvSpPr>
          <p:cNvPr id="59" name="TextBox 58"/>
          <p:cNvSpPr txBox="1"/>
          <p:nvPr/>
        </p:nvSpPr>
        <p:spPr>
          <a:xfrm>
            <a:off x="7333488" y="1572768"/>
            <a:ext cx="2057400" cy="228600"/>
          </a:xfrm>
          <a:prstGeom prst="rect">
            <a:avLst/>
          </a:prstGeom>
          <a:noFill/>
        </p:spPr>
        <p:txBody>
          <a:bodyPr wrap="none">
            <a:spAutoFit/>
          </a:bodyPr>
          <a:lstStyle/>
          <a:p>
            <a:r>
              <a:rPr sz="800" b="1">
                <a:solidFill>
                  <a:srgbClr val="5E7080"/>
                </a:solidFill>
              </a:rPr>
              <a:t>CURRENT LIMITATION</a:t>
            </a:r>
          </a:p>
        </p:txBody>
      </p:sp>
      <p:sp>
        <p:nvSpPr>
          <p:cNvPr id="60" name="TextBox 59"/>
          <p:cNvSpPr txBox="1"/>
          <p:nvPr/>
        </p:nvSpPr>
        <p:spPr>
          <a:xfrm>
            <a:off x="7333488" y="1847088"/>
            <a:ext cx="2057400" cy="896112"/>
          </a:xfrm>
          <a:prstGeom prst="rect">
            <a:avLst/>
          </a:prstGeom>
          <a:noFill/>
        </p:spPr>
        <p:txBody>
          <a:bodyPr wrap="square">
            <a:spAutoFit/>
          </a:bodyPr>
          <a:lstStyle/>
          <a:p>
            <a:r>
              <a:rPr sz="900" b="0">
                <a:solidFill>
                  <a:srgbClr val="2C3E50"/>
                </a:solidFill>
              </a:rPr>
              <a:t>7 months of H2 2020 data only: seasonal patterns and post-COVID spending normalisation are not validated across a full calendar year.</a:t>
            </a:r>
          </a:p>
        </p:txBody>
      </p:sp>
      <p:sp>
        <p:nvSpPr>
          <p:cNvPr id="61" name="Rectangle 60"/>
          <p:cNvSpPr/>
          <p:nvPr/>
        </p:nvSpPr>
        <p:spPr>
          <a:xfrm>
            <a:off x="7315200" y="2816352"/>
            <a:ext cx="2103120" cy="27432"/>
          </a:xfrm>
          <a:prstGeom prst="rect">
            <a:avLst/>
          </a:prstGeom>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333488" y="2889504"/>
            <a:ext cx="2057400" cy="228600"/>
          </a:xfrm>
          <a:prstGeom prst="rect">
            <a:avLst/>
          </a:prstGeom>
          <a:noFill/>
        </p:spPr>
        <p:txBody>
          <a:bodyPr wrap="none">
            <a:spAutoFit/>
          </a:bodyPr>
          <a:lstStyle/>
          <a:p>
            <a:r>
              <a:rPr sz="800" b="1">
                <a:solidFill>
                  <a:srgbClr val="0B2A4A"/>
                </a:solidFill>
              </a:rPr>
              <a:t>HOW TO FIX</a:t>
            </a:r>
          </a:p>
        </p:txBody>
      </p:sp>
      <p:sp>
        <p:nvSpPr>
          <p:cNvPr id="63" name="TextBox 62"/>
          <p:cNvSpPr txBox="1"/>
          <p:nvPr/>
        </p:nvSpPr>
        <p:spPr>
          <a:xfrm>
            <a:off x="7333488" y="3163824"/>
            <a:ext cx="2057400" cy="1371600"/>
          </a:xfrm>
          <a:prstGeom prst="rect">
            <a:avLst/>
          </a:prstGeom>
          <a:noFill/>
        </p:spPr>
        <p:txBody>
          <a:bodyPr wrap="square">
            <a:spAutoFit/>
          </a:bodyPr>
          <a:lstStyle/>
          <a:p>
            <a:r>
              <a:rPr sz="950" b="0">
                <a:solidFill>
                  <a:srgbClr val="2C3E50"/>
                </a:solidFill>
              </a:rPr>
              <a:t>Extend training to 2+ years; cross-validate across cohorts and seasonal periods before production deployment.</a:t>
            </a:r>
          </a:p>
        </p:txBody>
      </p:sp>
      <p:sp>
        <p:nvSpPr>
          <p:cNvPr id="64" name="TextBox 63"/>
          <p:cNvSpPr txBox="1"/>
          <p:nvPr/>
        </p:nvSpPr>
        <p:spPr>
          <a:xfrm>
            <a:off x="9656064" y="1572768"/>
            <a:ext cx="2057400" cy="228600"/>
          </a:xfrm>
          <a:prstGeom prst="rect">
            <a:avLst/>
          </a:prstGeom>
          <a:noFill/>
        </p:spPr>
        <p:txBody>
          <a:bodyPr wrap="none">
            <a:spAutoFit/>
          </a:bodyPr>
          <a:lstStyle/>
          <a:p>
            <a:r>
              <a:rPr sz="800" b="1">
                <a:solidFill>
                  <a:srgbClr val="5E7080"/>
                </a:solidFill>
              </a:rPr>
              <a:t>CURRENT LIMITATION</a:t>
            </a:r>
          </a:p>
        </p:txBody>
      </p:sp>
      <p:sp>
        <p:nvSpPr>
          <p:cNvPr id="65" name="TextBox 64"/>
          <p:cNvSpPr txBox="1"/>
          <p:nvPr/>
        </p:nvSpPr>
        <p:spPr>
          <a:xfrm>
            <a:off x="9656064" y="1847088"/>
            <a:ext cx="2057400" cy="896112"/>
          </a:xfrm>
          <a:prstGeom prst="rect">
            <a:avLst/>
          </a:prstGeom>
          <a:noFill/>
        </p:spPr>
        <p:txBody>
          <a:bodyPr wrap="square">
            <a:spAutoFit/>
          </a:bodyPr>
          <a:lstStyle/>
          <a:p>
            <a:r>
              <a:rPr sz="900" b="0">
                <a:solidFill>
                  <a:srgbClr val="2C3E50"/>
                </a:solidFill>
              </a:rPr>
              <a:t>The 33%/66% probability cutoffs for Low/Medium/High segmentation are heuristic, not optimised for business value.</a:t>
            </a:r>
          </a:p>
        </p:txBody>
      </p:sp>
      <p:sp>
        <p:nvSpPr>
          <p:cNvPr id="66" name="Rectangle 65"/>
          <p:cNvSpPr/>
          <p:nvPr/>
        </p:nvSpPr>
        <p:spPr>
          <a:xfrm>
            <a:off x="9637776" y="2816352"/>
            <a:ext cx="2103120" cy="27432"/>
          </a:xfrm>
          <a:prstGeom prst="rect">
            <a:avLst/>
          </a:prstGeom>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656064" y="2889504"/>
            <a:ext cx="2057400" cy="228600"/>
          </a:xfrm>
          <a:prstGeom prst="rect">
            <a:avLst/>
          </a:prstGeom>
          <a:noFill/>
        </p:spPr>
        <p:txBody>
          <a:bodyPr wrap="none">
            <a:spAutoFit/>
          </a:bodyPr>
          <a:lstStyle/>
          <a:p>
            <a:r>
              <a:rPr sz="800" b="1">
                <a:solidFill>
                  <a:srgbClr val="0B2A4A"/>
                </a:solidFill>
              </a:rPr>
              <a:t>HOW TO FIX</a:t>
            </a:r>
          </a:p>
        </p:txBody>
      </p:sp>
      <p:sp>
        <p:nvSpPr>
          <p:cNvPr id="68" name="TextBox 67"/>
          <p:cNvSpPr txBox="1"/>
          <p:nvPr/>
        </p:nvSpPr>
        <p:spPr>
          <a:xfrm>
            <a:off x="9656064" y="3163824"/>
            <a:ext cx="2057400" cy="1371600"/>
          </a:xfrm>
          <a:prstGeom prst="rect">
            <a:avLst/>
          </a:prstGeom>
          <a:noFill/>
        </p:spPr>
        <p:txBody>
          <a:bodyPr wrap="square">
            <a:spAutoFit/>
          </a:bodyPr>
          <a:lstStyle/>
          <a:p>
            <a:r>
              <a:rPr sz="950" b="0">
                <a:solidFill>
                  <a:srgbClr val="2C3E50"/>
                </a:solidFill>
              </a:rPr>
              <a:t>Set cutoffs via decision theory: find the probability threshold where expected ROI uplift exceeds reward cost.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7160"/>
            <a:ext cx="10058400" cy="523220"/>
          </a:xfrm>
          <a:prstGeom prst="rect">
            <a:avLst/>
          </a:prstGeom>
          <a:noFill/>
        </p:spPr>
        <p:txBody>
          <a:bodyPr wrap="square">
            <a:spAutoFit/>
          </a:bodyPr>
          <a:lstStyle/>
          <a:p>
            <a:pPr algn="l"/>
            <a:r>
              <a:rPr sz="2800" b="1" i="0" dirty="0">
                <a:solidFill>
                  <a:srgbClr val="FFFFFF"/>
                </a:solidFill>
                <a:latin typeface="Calibri Light"/>
              </a:rPr>
              <a:t>Conclusion</a:t>
            </a:r>
          </a:p>
        </p:txBody>
      </p:sp>
      <p:sp>
        <p:nvSpPr>
          <p:cNvPr id="8" name="TextBox 7"/>
          <p:cNvSpPr txBox="1"/>
          <p:nvPr/>
        </p:nvSpPr>
        <p:spPr>
          <a:xfrm>
            <a:off x="365760" y="777240"/>
            <a:ext cx="11430000" cy="292388"/>
          </a:xfrm>
          <a:prstGeom prst="rect">
            <a:avLst/>
          </a:prstGeom>
          <a:noFill/>
        </p:spPr>
        <p:txBody>
          <a:bodyPr wrap="square">
            <a:spAutoFit/>
          </a:bodyPr>
          <a:lstStyle/>
          <a:p>
            <a:pPr algn="l"/>
            <a:r>
              <a:rPr sz="1300" b="0" dirty="0">
                <a:solidFill>
                  <a:srgbClr val="B0C8E4"/>
                </a:solidFill>
              </a:rPr>
              <a:t>The three things this analysis delivers</a:t>
            </a:r>
          </a:p>
        </p:txBody>
      </p:sp>
      <p:sp>
        <p:nvSpPr>
          <p:cNvPr id="9" name="Rectangle 8"/>
          <p:cNvSpPr/>
          <p:nvPr/>
        </p:nvSpPr>
        <p:spPr>
          <a:xfrm>
            <a:off x="365760" y="1234440"/>
            <a:ext cx="356616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61872"/>
            <a:ext cx="3383279" cy="438912"/>
          </a:xfrm>
          <a:prstGeom prst="rect">
            <a:avLst/>
          </a:prstGeom>
          <a:noFill/>
        </p:spPr>
        <p:txBody>
          <a:bodyPr wrap="none">
            <a:spAutoFit/>
          </a:bodyPr>
          <a:lstStyle/>
          <a:p>
            <a:pPr algn="l"/>
            <a:r>
              <a:rPr sz="1400" b="1">
                <a:solidFill>
                  <a:srgbClr val="FFFFFF"/>
                </a:solidFill>
              </a:rPr>
              <a:t>①  DEFINE</a:t>
            </a:r>
          </a:p>
        </p:txBody>
      </p:sp>
      <p:sp>
        <p:nvSpPr>
          <p:cNvPr id="11" name="Rectangle 10"/>
          <p:cNvSpPr/>
          <p:nvPr/>
        </p:nvSpPr>
        <p:spPr>
          <a:xfrm>
            <a:off x="365760" y="1737360"/>
            <a:ext cx="3566160" cy="210312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828800"/>
            <a:ext cx="3291840" cy="4114800"/>
          </a:xfrm>
          <a:prstGeom prst="rect">
            <a:avLst/>
          </a:prstGeom>
          <a:noFill/>
        </p:spPr>
        <p:txBody>
          <a:bodyPr wrap="square">
            <a:spAutoFit/>
          </a:bodyPr>
          <a:lstStyle/>
          <a:p>
            <a:r>
              <a:rPr sz="1100" b="1">
                <a:solidFill>
                  <a:srgbClr val="0B2A4A"/>
                </a:solidFill>
              </a:rPr>
              <a:t>Loyalty definition</a:t>
            </a:r>
          </a:p>
          <a:p>
            <a:r>
              <a:rPr sz="1000">
                <a:solidFill>
                  <a:srgbClr val="2C3E50"/>
                </a:solidFill>
              </a:rPr>
              <a:t>5-component AND/OR rule: frequency, spend, recency, tenure + platform check</a:t>
            </a:r>
          </a:p>
          <a:p>
            <a:pPr>
              <a:spcBef>
                <a:spcPts val="800"/>
              </a:spcBef>
            </a:pPr>
            <a:r>
              <a:rPr sz="1100" b="1">
                <a:solidFill>
                  <a:srgbClr val="0B2A4A"/>
                </a:solidFill>
              </a:rPr>
              <a:t>4.6% loyalty rate</a:t>
            </a:r>
          </a:p>
          <a:p>
            <a:r>
              <a:rPr sz="1000">
                <a:solidFill>
                  <a:srgbClr val="2C3E50"/>
                </a:solidFill>
              </a:rPr>
              <a:t>Conservative by design: rigorous enough to attach real rewards to</a:t>
            </a:r>
          </a:p>
          <a:p>
            <a:pPr>
              <a:spcBef>
                <a:spcPts val="800"/>
              </a:spcBef>
            </a:pPr>
            <a:r>
              <a:rPr sz="1100" b="1">
                <a:solidFill>
                  <a:srgbClr val="0B2A4A"/>
                </a:solidFill>
              </a:rPr>
              <a:t>Brand Loyalist Problem</a:t>
            </a:r>
          </a:p>
          <a:p>
            <a:r>
              <a:rPr sz="1000">
                <a:solidFill>
                  <a:srgbClr val="2C3E50"/>
                </a:solidFill>
              </a:rPr>
              <a:t>75% single-shop risk explicitly addressed: merchant loyalty ≠ platform loyalty</a:t>
            </a:r>
          </a:p>
        </p:txBody>
      </p:sp>
      <p:sp>
        <p:nvSpPr>
          <p:cNvPr id="13" name="Rectangle 12"/>
          <p:cNvSpPr/>
          <p:nvPr/>
        </p:nvSpPr>
        <p:spPr>
          <a:xfrm>
            <a:off x="4251960" y="1234440"/>
            <a:ext cx="3566160" cy="50292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43400" y="1261872"/>
            <a:ext cx="3383279" cy="438912"/>
          </a:xfrm>
          <a:prstGeom prst="rect">
            <a:avLst/>
          </a:prstGeom>
          <a:noFill/>
        </p:spPr>
        <p:txBody>
          <a:bodyPr wrap="none">
            <a:spAutoFit/>
          </a:bodyPr>
          <a:lstStyle/>
          <a:p>
            <a:pPr algn="l"/>
            <a:r>
              <a:rPr sz="1400" b="1">
                <a:solidFill>
                  <a:srgbClr val="FFFFFF"/>
                </a:solidFill>
              </a:rPr>
              <a:t>②  PREDICT</a:t>
            </a:r>
          </a:p>
        </p:txBody>
      </p:sp>
      <p:sp>
        <p:nvSpPr>
          <p:cNvPr id="15" name="Rectangle 14"/>
          <p:cNvSpPr/>
          <p:nvPr/>
        </p:nvSpPr>
        <p:spPr>
          <a:xfrm>
            <a:off x="4251960" y="1737360"/>
            <a:ext cx="3566160" cy="210312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89120" y="1828800"/>
            <a:ext cx="3291840" cy="4114800"/>
          </a:xfrm>
          <a:prstGeom prst="rect">
            <a:avLst/>
          </a:prstGeom>
          <a:noFill/>
        </p:spPr>
        <p:txBody>
          <a:bodyPr wrap="square">
            <a:spAutoFit/>
          </a:bodyPr>
          <a:lstStyle/>
          <a:p>
            <a:r>
              <a:rPr sz="1100" b="1">
                <a:solidFill>
                  <a:srgbClr val="2E75B6"/>
                </a:solidFill>
              </a:rPr>
              <a:t>AUC 0.912</a:t>
            </a:r>
          </a:p>
          <a:p>
            <a:r>
              <a:rPr sz="1000">
                <a:solidFill>
                  <a:srgbClr val="2C3E50"/>
                </a:solidFill>
              </a:rPr>
              <a:t>Random Forest ranks a loyal user above a non-loyal one 91.2% of the time</a:t>
            </a:r>
          </a:p>
          <a:p>
            <a:pPr>
              <a:spcBef>
                <a:spcPts val="800"/>
              </a:spcBef>
            </a:pPr>
            <a:r>
              <a:rPr sz="1100" b="1">
                <a:solidFill>
                  <a:srgbClr val="2E75B6"/>
                </a:solidFill>
              </a:rPr>
              <a:t>Month 2 scoring</a:t>
            </a:r>
          </a:p>
          <a:p>
            <a:r>
              <a:rPr sz="1000">
                <a:solidFill>
                  <a:srgbClr val="2C3E50"/>
                </a:solidFill>
              </a:rPr>
              <a:t>First 60 days of transactions are the only input: no leakage, actionable timeline</a:t>
            </a:r>
          </a:p>
          <a:p>
            <a:pPr>
              <a:spcBef>
                <a:spcPts val="800"/>
              </a:spcBef>
            </a:pPr>
            <a:r>
              <a:rPr sz="1100" b="1">
                <a:solidFill>
                  <a:srgbClr val="2E75B6"/>
                </a:solidFill>
              </a:rPr>
              <a:t>5 features</a:t>
            </a:r>
          </a:p>
          <a:p>
            <a:r>
              <a:rPr sz="1000">
                <a:solidFill>
                  <a:srgbClr val="2C3E50"/>
                </a:solidFill>
              </a:rPr>
              <a:t>Each maps directly to a loyalty component: spend, frequency, recency, trend, breadth</a:t>
            </a:r>
          </a:p>
        </p:txBody>
      </p:sp>
      <p:sp>
        <p:nvSpPr>
          <p:cNvPr id="17" name="Rectangle 16"/>
          <p:cNvSpPr/>
          <p:nvPr/>
        </p:nvSpPr>
        <p:spPr>
          <a:xfrm>
            <a:off x="8138160" y="1234440"/>
            <a:ext cx="3566160" cy="50292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0" y="1261872"/>
            <a:ext cx="3383279" cy="438912"/>
          </a:xfrm>
          <a:prstGeom prst="rect">
            <a:avLst/>
          </a:prstGeom>
          <a:noFill/>
        </p:spPr>
        <p:txBody>
          <a:bodyPr wrap="none">
            <a:spAutoFit/>
          </a:bodyPr>
          <a:lstStyle/>
          <a:p>
            <a:pPr algn="l"/>
            <a:r>
              <a:rPr sz="1400" b="1">
                <a:solidFill>
                  <a:srgbClr val="FFFFFF"/>
                </a:solidFill>
              </a:rPr>
              <a:t>③  ACT</a:t>
            </a:r>
          </a:p>
        </p:txBody>
      </p:sp>
      <p:sp>
        <p:nvSpPr>
          <p:cNvPr id="19" name="Rectangle 18"/>
          <p:cNvSpPr/>
          <p:nvPr/>
        </p:nvSpPr>
        <p:spPr>
          <a:xfrm>
            <a:off x="8138160" y="1737360"/>
            <a:ext cx="3566160" cy="210312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1828800"/>
            <a:ext cx="3291840" cy="4114800"/>
          </a:xfrm>
          <a:prstGeom prst="rect">
            <a:avLst/>
          </a:prstGeom>
          <a:noFill/>
        </p:spPr>
        <p:txBody>
          <a:bodyPr wrap="square">
            <a:spAutoFit/>
          </a:bodyPr>
          <a:lstStyle/>
          <a:p>
            <a:r>
              <a:rPr sz="1100" b="1">
                <a:solidFill>
                  <a:srgbClr val="2D6A9F"/>
                </a:solidFill>
              </a:rPr>
              <a:t>3 actionable segments</a:t>
            </a:r>
          </a:p>
          <a:p>
            <a:r>
              <a:rPr sz="1000">
                <a:solidFill>
                  <a:srgbClr val="2C3E50"/>
                </a:solidFill>
              </a:rPr>
              <a:t>High (83.9% loyalty) → Reinforce.  Medium (6.3%) → Nudge.  Low (1.0%) → Deprioritise.</a:t>
            </a:r>
          </a:p>
          <a:p>
            <a:pPr>
              <a:spcBef>
                <a:spcPts val="800"/>
              </a:spcBef>
            </a:pPr>
            <a:r>
              <a:rPr sz="1100" b="1">
                <a:solidFill>
                  <a:srgbClr val="2D6A9F"/>
                </a:solidFill>
              </a:rPr>
              <a:t>Differentiated campaigns</a:t>
            </a:r>
          </a:p>
          <a:p>
            <a:r>
              <a:rPr sz="1000">
                <a:solidFill>
                  <a:srgbClr val="2C3E50"/>
                </a:solidFill>
              </a:rPr>
              <a:t>Each tier has a specific marketing playbook: no more spray-and-pray</a:t>
            </a:r>
          </a:p>
          <a:p>
            <a:pPr>
              <a:spcBef>
                <a:spcPts val="800"/>
              </a:spcBef>
            </a:pPr>
            <a:r>
              <a:rPr sz="1100" b="1">
                <a:solidFill>
                  <a:srgbClr val="2D6A9F"/>
                </a:solidFill>
              </a:rPr>
              <a:t>Validation path</a:t>
            </a:r>
          </a:p>
          <a:p>
            <a:r>
              <a:rPr sz="1000">
                <a:solidFill>
                  <a:srgbClr val="2C3E50"/>
                </a:solidFill>
              </a:rPr>
              <a:t>A/B experiment design ready: split by model score, measure loyalty rate at 6 months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74320" y="164592"/>
            <a:ext cx="13716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01752" y="182880"/>
            <a:ext cx="1316736" cy="223138"/>
          </a:xfrm>
          <a:prstGeom prst="rect">
            <a:avLst/>
          </a:prstGeom>
          <a:noFill/>
        </p:spPr>
        <p:txBody>
          <a:bodyPr wrap="square">
            <a:spAutoFit/>
          </a:bodyPr>
          <a:lstStyle/>
          <a:p>
            <a:r>
              <a:rPr lang="en-US" sz="850" b="1" dirty="0">
                <a:solidFill>
                  <a:srgbClr val="FFFFFF"/>
                </a:solidFill>
              </a:rPr>
              <a:t>APPENDIX A</a:t>
            </a:r>
          </a:p>
        </p:txBody>
      </p:sp>
      <p:sp>
        <p:nvSpPr>
          <p:cNvPr id="6" name="TextBox 5"/>
          <p:cNvSpPr txBox="1"/>
          <p:nvPr/>
        </p:nvSpPr>
        <p:spPr>
          <a:xfrm>
            <a:off x="1783080" y="109728"/>
            <a:ext cx="9601200" cy="777240"/>
          </a:xfrm>
          <a:prstGeom prst="rect">
            <a:avLst/>
          </a:prstGeom>
          <a:noFill/>
        </p:spPr>
        <p:txBody>
          <a:bodyPr wrap="square">
            <a:spAutoFit/>
          </a:bodyPr>
          <a:lstStyle/>
          <a:p>
            <a:pPr algn="l"/>
            <a:r>
              <a:rPr sz="2200" b="1" i="0" dirty="0">
                <a:solidFill>
                  <a:srgbClr val="FFFFFF"/>
                </a:solidFill>
                <a:latin typeface="Calibri Light"/>
              </a:rPr>
              <a:t>Random Forest vs Alternatives: Technical Deep Dive</a:t>
            </a:r>
          </a:p>
        </p:txBody>
      </p:sp>
      <p:sp>
        <p:nvSpPr>
          <p:cNvPr id="10" name="Rectangle 9"/>
          <p:cNvSpPr/>
          <p:nvPr/>
        </p:nvSpPr>
        <p:spPr>
          <a:xfrm>
            <a:off x="274320" y="1143000"/>
            <a:ext cx="2880360" cy="3438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4320" y="1143000"/>
            <a:ext cx="2880360" cy="384048"/>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1161288"/>
            <a:ext cx="2734056" cy="182880"/>
          </a:xfrm>
          <a:prstGeom prst="rect">
            <a:avLst/>
          </a:prstGeom>
          <a:noFill/>
        </p:spPr>
        <p:txBody>
          <a:bodyPr wrap="square">
            <a:spAutoFit/>
          </a:bodyPr>
          <a:lstStyle/>
          <a:p>
            <a:pPr algn="ctr"/>
            <a:r>
              <a:rPr sz="950" b="1" i="0">
                <a:solidFill>
                  <a:srgbClr val="FFFFFF"/>
                </a:solidFill>
                <a:latin typeface="Calibri"/>
              </a:rPr>
              <a:t>Baseline only</a:t>
            </a:r>
          </a:p>
        </p:txBody>
      </p:sp>
      <p:sp>
        <p:nvSpPr>
          <p:cNvPr id="13" name="TextBox 12"/>
          <p:cNvSpPr txBox="1"/>
          <p:nvPr/>
        </p:nvSpPr>
        <p:spPr>
          <a:xfrm>
            <a:off x="347472" y="1536192"/>
            <a:ext cx="2734056" cy="457200"/>
          </a:xfrm>
          <a:prstGeom prst="rect">
            <a:avLst/>
          </a:prstGeom>
          <a:noFill/>
        </p:spPr>
        <p:txBody>
          <a:bodyPr wrap="square">
            <a:spAutoFit/>
          </a:bodyPr>
          <a:lstStyle/>
          <a:p>
            <a:pPr algn="l"/>
            <a:r>
              <a:rPr sz="1200" b="1" i="0">
                <a:solidFill>
                  <a:srgbClr val="0B2A4A"/>
                </a:solidFill>
                <a:latin typeface="Calibri"/>
              </a:rPr>
              <a:t>Logistic Regression</a:t>
            </a:r>
          </a:p>
        </p:txBody>
      </p:sp>
      <p:sp>
        <p:nvSpPr>
          <p:cNvPr id="14" name="TextBox 13"/>
          <p:cNvSpPr txBox="1"/>
          <p:nvPr/>
        </p:nvSpPr>
        <p:spPr>
          <a:xfrm>
            <a:off x="384048" y="2057400"/>
            <a:ext cx="2660904" cy="4206240"/>
          </a:xfrm>
          <a:prstGeom prst="rect">
            <a:avLst/>
          </a:prstGeom>
          <a:noFill/>
        </p:spPr>
        <p:txBody>
          <a:bodyPr wrap="square">
            <a:spAutoFit/>
          </a:bodyPr>
          <a:lstStyle/>
          <a:p>
            <a:pPr algn="l"/>
            <a:r>
              <a:rPr sz="950" b="0">
                <a:solidFill>
                  <a:srgbClr val="2C3E50"/>
                </a:solidFill>
                <a:latin typeface="Calibri"/>
              </a:rPr>
              <a:t>• Assumes linear relationship between features and log-odds</a:t>
            </a:r>
          </a:p>
          <a:p>
            <a:pPr algn="l"/>
            <a:r>
              <a:rPr sz="950" b="0">
                <a:solidFill>
                  <a:srgbClr val="2C3E50"/>
                </a:solidFill>
                <a:latin typeface="Calibri"/>
              </a:rPr>
              <a:t>• Loyalty label is constructed from hard thresholds → non-linear by design</a:t>
            </a:r>
          </a:p>
          <a:p>
            <a:pPr algn="l"/>
            <a:r>
              <a:rPr sz="950" b="0">
                <a:solidFill>
                  <a:srgbClr val="2C3E50"/>
                </a:solidFill>
                <a:latin typeface="Calibri"/>
              </a:rPr>
              <a:t>• Requires feature scaling (spend 0–260K vs freq 0–65)</a:t>
            </a:r>
          </a:p>
          <a:p>
            <a:pPr algn="l"/>
            <a:r>
              <a:rPr sz="950" b="0">
                <a:solidFill>
                  <a:srgbClr val="2C3E50"/>
                </a:solidFill>
                <a:latin typeface="Calibri"/>
              </a:rPr>
              <a:t>• Cannot capture interaction effects (high freq AND high spend) without manual terms</a:t>
            </a:r>
          </a:p>
          <a:p>
            <a:pPr algn="l"/>
            <a:r>
              <a:rPr sz="950" b="0">
                <a:solidFill>
                  <a:srgbClr val="2C3E50"/>
                </a:solidFill>
                <a:latin typeface="Calibri"/>
              </a:rPr>
              <a:t>• Correlated spend features inflate standard errors</a:t>
            </a:r>
          </a:p>
          <a:p>
            <a:pPr algn="l"/>
            <a:r>
              <a:rPr sz="950" b="0">
                <a:solidFill>
                  <a:srgbClr val="2C3E50"/>
                </a:solidFill>
                <a:latin typeface="Calibri"/>
              </a:rPr>
              <a:t>• Still useful as a sanity check: if LR matches RF, features are nearly linear</a:t>
            </a:r>
          </a:p>
        </p:txBody>
      </p:sp>
      <p:sp>
        <p:nvSpPr>
          <p:cNvPr id="15" name="Rectangle 14"/>
          <p:cNvSpPr/>
          <p:nvPr/>
        </p:nvSpPr>
        <p:spPr>
          <a:xfrm>
            <a:off x="3246120" y="1143000"/>
            <a:ext cx="2880360" cy="3438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246120" y="1143000"/>
            <a:ext cx="2880360" cy="384048"/>
          </a:xfrm>
          <a:prstGeom prst="rect">
            <a:avLst/>
          </a:prstGeom>
          <a:solidFill>
            <a:srgbClr val="3D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19272" y="1161288"/>
            <a:ext cx="2734056" cy="182880"/>
          </a:xfrm>
          <a:prstGeom prst="rect">
            <a:avLst/>
          </a:prstGeom>
          <a:noFill/>
        </p:spPr>
        <p:txBody>
          <a:bodyPr wrap="square">
            <a:spAutoFit/>
          </a:bodyPr>
          <a:lstStyle/>
          <a:p>
            <a:pPr algn="ctr"/>
            <a:r>
              <a:rPr sz="950" b="1" i="0">
                <a:solidFill>
                  <a:srgbClr val="FFFFFF"/>
                </a:solidFill>
                <a:latin typeface="Calibri"/>
              </a:rPr>
              <a:t>CHOSEN</a:t>
            </a:r>
          </a:p>
        </p:txBody>
      </p:sp>
      <p:sp>
        <p:nvSpPr>
          <p:cNvPr id="18" name="TextBox 17"/>
          <p:cNvSpPr txBox="1"/>
          <p:nvPr/>
        </p:nvSpPr>
        <p:spPr>
          <a:xfrm>
            <a:off x="3319272" y="1536192"/>
            <a:ext cx="2734056" cy="457200"/>
          </a:xfrm>
          <a:prstGeom prst="rect">
            <a:avLst/>
          </a:prstGeom>
          <a:noFill/>
        </p:spPr>
        <p:txBody>
          <a:bodyPr wrap="square">
            <a:spAutoFit/>
          </a:bodyPr>
          <a:lstStyle/>
          <a:p>
            <a:pPr algn="l"/>
            <a:r>
              <a:rPr sz="1200" b="1" i="0">
                <a:solidFill>
                  <a:srgbClr val="0B2A4A"/>
                </a:solidFill>
                <a:latin typeface="Calibri"/>
              </a:rPr>
              <a:t>Random Forest</a:t>
            </a:r>
          </a:p>
        </p:txBody>
      </p:sp>
      <p:sp>
        <p:nvSpPr>
          <p:cNvPr id="19" name="TextBox 18"/>
          <p:cNvSpPr txBox="1"/>
          <p:nvPr/>
        </p:nvSpPr>
        <p:spPr>
          <a:xfrm>
            <a:off x="3355848" y="2057400"/>
            <a:ext cx="2660904" cy="4206240"/>
          </a:xfrm>
          <a:prstGeom prst="rect">
            <a:avLst/>
          </a:prstGeom>
          <a:noFill/>
        </p:spPr>
        <p:txBody>
          <a:bodyPr wrap="square">
            <a:spAutoFit/>
          </a:bodyPr>
          <a:lstStyle/>
          <a:p>
            <a:pPr algn="l"/>
            <a:r>
              <a:rPr sz="950" b="0">
                <a:solidFill>
                  <a:srgbClr val="2C3E50"/>
                </a:solidFill>
                <a:latin typeface="Calibri"/>
              </a:rPr>
              <a:t>• Decision tree splits mirror the hard threshold structure of the loyalty label</a:t>
            </a:r>
          </a:p>
          <a:p>
            <a:pPr algn="l"/>
            <a:r>
              <a:rPr sz="950" b="0">
                <a:solidFill>
                  <a:srgbClr val="2C3E50"/>
                </a:solidFill>
                <a:latin typeface="Calibri"/>
              </a:rPr>
              <a:t>• No scaling required: handles mixed-scale features natively</a:t>
            </a:r>
          </a:p>
          <a:p>
            <a:pPr algn="l"/>
            <a:r>
              <a:rPr sz="950" b="0">
                <a:solidFill>
                  <a:srgbClr val="2C3E50"/>
                </a:solidFill>
                <a:latin typeface="Calibri"/>
              </a:rPr>
              <a:t>• Captures interaction effects through joint splits (freq &gt; 2 AND spend &gt; 10K)</a:t>
            </a:r>
          </a:p>
          <a:p>
            <a:pPr algn="l"/>
            <a:r>
              <a:rPr sz="950" b="0">
                <a:solidFill>
                  <a:srgbClr val="2C3E50"/>
                </a:solidFill>
                <a:latin typeface="Calibri"/>
              </a:rPr>
              <a:t>• Feature sub-sampling handles correlated spend features without inflating importance</a:t>
            </a:r>
          </a:p>
          <a:p>
            <a:pPr algn="l"/>
            <a:r>
              <a:rPr sz="950" b="0">
                <a:solidFill>
                  <a:srgbClr val="2C3E50"/>
                </a:solidFill>
                <a:latin typeface="Calibri"/>
              </a:rPr>
              <a:t>• predict_proba() gives calibrated scores for three-tier segmentation</a:t>
            </a:r>
          </a:p>
          <a:p>
            <a:pPr algn="l"/>
            <a:r>
              <a:rPr sz="950" b="0">
                <a:solidFill>
                  <a:srgbClr val="2C3E50"/>
                </a:solidFill>
                <a:latin typeface="Calibri"/>
              </a:rPr>
              <a:t>• Feature importances validate model logic: confirms no data leakage</a:t>
            </a:r>
          </a:p>
          <a:p>
            <a:pPr algn="l"/>
            <a:r>
              <a:rPr sz="950" b="0">
                <a:solidFill>
                  <a:srgbClr val="2C3E50"/>
                </a:solidFill>
                <a:latin typeface="Calibri"/>
              </a:rPr>
              <a:t>• class_weight='balanced' elegantly handles the 3.2% positive rate</a:t>
            </a:r>
          </a:p>
        </p:txBody>
      </p:sp>
      <p:sp>
        <p:nvSpPr>
          <p:cNvPr id="20" name="Rectangle 19"/>
          <p:cNvSpPr/>
          <p:nvPr/>
        </p:nvSpPr>
        <p:spPr>
          <a:xfrm>
            <a:off x="6217920" y="1143000"/>
            <a:ext cx="2880360" cy="3438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1143000"/>
            <a:ext cx="2880360" cy="384048"/>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91072" y="1161288"/>
            <a:ext cx="2734056" cy="182880"/>
          </a:xfrm>
          <a:prstGeom prst="rect">
            <a:avLst/>
          </a:prstGeom>
          <a:noFill/>
        </p:spPr>
        <p:txBody>
          <a:bodyPr wrap="square">
            <a:spAutoFit/>
          </a:bodyPr>
          <a:lstStyle/>
          <a:p>
            <a:pPr algn="ctr"/>
            <a:r>
              <a:rPr sz="950" b="1" i="0">
                <a:solidFill>
                  <a:srgbClr val="FFFFFF"/>
                </a:solidFill>
                <a:latin typeface="Calibri"/>
              </a:rPr>
              <a:t>Next step</a:t>
            </a:r>
          </a:p>
        </p:txBody>
      </p:sp>
      <p:sp>
        <p:nvSpPr>
          <p:cNvPr id="23" name="TextBox 22"/>
          <p:cNvSpPr txBox="1"/>
          <p:nvPr/>
        </p:nvSpPr>
        <p:spPr>
          <a:xfrm>
            <a:off x="6291072" y="1536192"/>
            <a:ext cx="2734056" cy="457200"/>
          </a:xfrm>
          <a:prstGeom prst="rect">
            <a:avLst/>
          </a:prstGeom>
          <a:noFill/>
        </p:spPr>
        <p:txBody>
          <a:bodyPr wrap="square">
            <a:spAutoFit/>
          </a:bodyPr>
          <a:lstStyle/>
          <a:p>
            <a:pPr algn="l"/>
            <a:r>
              <a:rPr sz="1200" b="1" i="0">
                <a:solidFill>
                  <a:srgbClr val="0B2A4A"/>
                </a:solidFill>
                <a:latin typeface="Calibri"/>
              </a:rPr>
              <a:t>Gradient Boosting
(XGBoost / LightGBM)</a:t>
            </a:r>
          </a:p>
        </p:txBody>
      </p:sp>
      <p:sp>
        <p:nvSpPr>
          <p:cNvPr id="24" name="TextBox 23"/>
          <p:cNvSpPr txBox="1"/>
          <p:nvPr/>
        </p:nvSpPr>
        <p:spPr>
          <a:xfrm>
            <a:off x="6327648" y="2057400"/>
            <a:ext cx="2660904" cy="4206240"/>
          </a:xfrm>
          <a:prstGeom prst="rect">
            <a:avLst/>
          </a:prstGeom>
          <a:noFill/>
        </p:spPr>
        <p:txBody>
          <a:bodyPr wrap="square">
            <a:spAutoFit/>
          </a:bodyPr>
          <a:lstStyle/>
          <a:p>
            <a:pPr algn="l"/>
            <a:r>
              <a:rPr sz="950" b="0">
                <a:solidFill>
                  <a:srgbClr val="2C3E50"/>
                </a:solidFill>
                <a:latin typeface="Calibri"/>
              </a:rPr>
              <a:t>• Typically outperforms RF on imbalanced datasets: sequential error correction</a:t>
            </a:r>
          </a:p>
          <a:p>
            <a:pPr algn="l"/>
            <a:r>
              <a:rPr sz="950" b="0">
                <a:solidFill>
                  <a:srgbClr val="2C3E50"/>
                </a:solidFill>
                <a:latin typeface="Calibri"/>
              </a:rPr>
              <a:t>• scale_pos_weight parameter gives fine-grained imbalance control</a:t>
            </a:r>
          </a:p>
          <a:p>
            <a:pPr algn="l"/>
            <a:r>
              <a:rPr sz="950" b="0">
                <a:solidFill>
                  <a:srgbClr val="2C3E50"/>
                </a:solidFill>
                <a:latin typeface="Calibri"/>
              </a:rPr>
              <a:t>• More hyperparameters (learning rate, max_depth, subsample): requires tuning</a:t>
            </a:r>
          </a:p>
          <a:p>
            <a:pPr algn="l"/>
            <a:r>
              <a:rPr sz="950" b="0">
                <a:solidFill>
                  <a:srgbClr val="2C3E50"/>
                </a:solidFill>
                <a:latin typeface="Calibri"/>
              </a:rPr>
              <a:t>• Harder to explain to non-technical stakeholders</a:t>
            </a:r>
          </a:p>
          <a:p>
            <a:pPr algn="l"/>
            <a:r>
              <a:rPr sz="950" b="0">
                <a:solidFill>
                  <a:srgbClr val="2C3E50"/>
                </a:solidFill>
                <a:latin typeface="Calibri"/>
              </a:rPr>
              <a:t>• Would be the first upgrade in a productionisation phase</a:t>
            </a:r>
          </a:p>
          <a:p>
            <a:pPr algn="l"/>
            <a:r>
              <a:rPr sz="950" b="0">
                <a:solidFill>
                  <a:srgbClr val="2C3E50"/>
                </a:solidFill>
                <a:latin typeface="Calibri"/>
              </a:rPr>
              <a:t>Expected AUC lift: +0.01 to +0.03 over RF baseline</a:t>
            </a:r>
          </a:p>
        </p:txBody>
      </p:sp>
      <p:sp>
        <p:nvSpPr>
          <p:cNvPr id="25" name="Rectangle 24"/>
          <p:cNvSpPr/>
          <p:nvPr/>
        </p:nvSpPr>
        <p:spPr>
          <a:xfrm>
            <a:off x="9189720" y="1143000"/>
            <a:ext cx="2880360" cy="3438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189720" y="1143000"/>
            <a:ext cx="2880360" cy="384048"/>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62872" y="1161288"/>
            <a:ext cx="2734056" cy="182880"/>
          </a:xfrm>
          <a:prstGeom prst="rect">
            <a:avLst/>
          </a:prstGeom>
          <a:noFill/>
        </p:spPr>
        <p:txBody>
          <a:bodyPr wrap="square">
            <a:spAutoFit/>
          </a:bodyPr>
          <a:lstStyle/>
          <a:p>
            <a:pPr algn="ctr"/>
            <a:r>
              <a:rPr sz="950" b="1" i="0">
                <a:solidFill>
                  <a:srgbClr val="FFFFFF"/>
                </a:solidFill>
                <a:latin typeface="Calibri"/>
              </a:rPr>
              <a:t>Not appropriate</a:t>
            </a:r>
          </a:p>
        </p:txBody>
      </p:sp>
      <p:sp>
        <p:nvSpPr>
          <p:cNvPr id="28" name="TextBox 27"/>
          <p:cNvSpPr txBox="1"/>
          <p:nvPr/>
        </p:nvSpPr>
        <p:spPr>
          <a:xfrm>
            <a:off x="9262872" y="1536192"/>
            <a:ext cx="2734056" cy="457200"/>
          </a:xfrm>
          <a:prstGeom prst="rect">
            <a:avLst/>
          </a:prstGeom>
          <a:noFill/>
        </p:spPr>
        <p:txBody>
          <a:bodyPr wrap="square">
            <a:spAutoFit/>
          </a:bodyPr>
          <a:lstStyle/>
          <a:p>
            <a:pPr algn="l"/>
            <a:r>
              <a:rPr sz="1200" b="1" i="0">
                <a:solidFill>
                  <a:srgbClr val="0B2A4A"/>
                </a:solidFill>
                <a:latin typeface="Calibri"/>
              </a:rPr>
              <a:t>Neural Network / Deep Learning</a:t>
            </a:r>
          </a:p>
        </p:txBody>
      </p:sp>
      <p:sp>
        <p:nvSpPr>
          <p:cNvPr id="29" name="TextBox 28"/>
          <p:cNvSpPr txBox="1"/>
          <p:nvPr/>
        </p:nvSpPr>
        <p:spPr>
          <a:xfrm>
            <a:off x="9299448" y="2057400"/>
            <a:ext cx="2660904" cy="4206240"/>
          </a:xfrm>
          <a:prstGeom prst="rect">
            <a:avLst/>
          </a:prstGeom>
          <a:noFill/>
        </p:spPr>
        <p:txBody>
          <a:bodyPr wrap="square">
            <a:spAutoFit/>
          </a:bodyPr>
          <a:lstStyle/>
          <a:p>
            <a:pPr algn="l"/>
            <a:r>
              <a:rPr sz="950" b="0">
                <a:solidFill>
                  <a:srgbClr val="2C3E50"/>
                </a:solidFill>
                <a:latin typeface="Calibri"/>
              </a:rPr>
              <a:t>• 34K training examples: far too small for effective deep learning</a:t>
            </a:r>
          </a:p>
          <a:p>
            <a:pPr algn="l"/>
            <a:r>
              <a:rPr sz="950" b="0">
                <a:solidFill>
                  <a:srgbClr val="2C3E50"/>
                </a:solidFill>
                <a:latin typeface="Calibri"/>
              </a:rPr>
              <a:t>• Only 5 features: no dimensionality that benefits from deep representations</a:t>
            </a:r>
          </a:p>
          <a:p>
            <a:pPr algn="l"/>
            <a:r>
              <a:rPr sz="950" b="0">
                <a:solidFill>
                  <a:srgbClr val="2C3E50"/>
                </a:solidFill>
                <a:latin typeface="Calibri"/>
              </a:rPr>
              <a:t>• Requires extensive hyperparameter tuning for marginal gain</a:t>
            </a:r>
          </a:p>
          <a:p>
            <a:pPr algn="l"/>
            <a:r>
              <a:rPr sz="950" b="0">
                <a:solidFill>
                  <a:srgbClr val="2C3E50"/>
                </a:solidFill>
                <a:latin typeface="Calibri"/>
              </a:rPr>
              <a:t>• No interpretability: cannot show feature importances to stakeholders</a:t>
            </a:r>
          </a:p>
          <a:p>
            <a:pPr algn="l"/>
            <a:r>
              <a:rPr sz="950" b="0">
                <a:solidFill>
                  <a:srgbClr val="2C3E50"/>
                </a:solidFill>
                <a:latin typeface="Calibri"/>
              </a:rPr>
              <a:t>• Rule of thumb: tree models win on tabular data at this scale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74320" y="164592"/>
            <a:ext cx="1371600" cy="274320"/>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01752" y="182880"/>
            <a:ext cx="1316736" cy="237744"/>
          </a:xfrm>
          <a:prstGeom prst="rect">
            <a:avLst/>
          </a:prstGeom>
          <a:noFill/>
        </p:spPr>
        <p:txBody>
          <a:bodyPr wrap="square">
            <a:spAutoFit/>
          </a:bodyPr>
          <a:lstStyle/>
          <a:p>
            <a:r>
              <a:rPr lang="en-US" sz="850" b="1" dirty="0">
                <a:solidFill>
                  <a:srgbClr val="FFFFFF"/>
                </a:solidFill>
              </a:rPr>
              <a:t>APPENDIX B</a:t>
            </a:r>
          </a:p>
        </p:txBody>
      </p:sp>
      <p:sp>
        <p:nvSpPr>
          <p:cNvPr id="6" name="TextBox 5"/>
          <p:cNvSpPr txBox="1"/>
          <p:nvPr/>
        </p:nvSpPr>
        <p:spPr>
          <a:xfrm>
            <a:off x="1783080" y="109728"/>
            <a:ext cx="9601200" cy="777240"/>
          </a:xfrm>
          <a:prstGeom prst="rect">
            <a:avLst/>
          </a:prstGeom>
          <a:noFill/>
        </p:spPr>
        <p:txBody>
          <a:bodyPr wrap="square">
            <a:spAutoFit/>
          </a:bodyPr>
          <a:lstStyle/>
          <a:p>
            <a:pPr algn="l"/>
            <a:r>
              <a:rPr sz="2200" b="1" i="0">
                <a:solidFill>
                  <a:srgbClr val="FFFFFF"/>
                </a:solidFill>
                <a:latin typeface="Calibri Light"/>
              </a:rPr>
              <a:t>What Production Deployment Would Look Like</a:t>
            </a:r>
          </a:p>
        </p:txBody>
      </p:sp>
      <p:sp>
        <p:nvSpPr>
          <p:cNvPr id="10" name="Rectangle 9"/>
          <p:cNvSpPr/>
          <p:nvPr/>
        </p:nvSpPr>
        <p:spPr>
          <a:xfrm>
            <a:off x="274320" y="1234440"/>
            <a:ext cx="1600000" cy="109728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7472" y="1280160"/>
            <a:ext cx="1453696" cy="320040"/>
          </a:xfrm>
          <a:prstGeom prst="rect">
            <a:avLst/>
          </a:prstGeom>
          <a:noFill/>
        </p:spPr>
        <p:txBody>
          <a:bodyPr wrap="square">
            <a:spAutoFit/>
          </a:bodyPr>
          <a:lstStyle/>
          <a:p>
            <a:pPr algn="ctr"/>
            <a:r>
              <a:rPr sz="950" b="1" i="0">
                <a:solidFill>
                  <a:srgbClr val="FFFFFF"/>
                </a:solidFill>
                <a:latin typeface="Calibri"/>
              </a:rPr>
              <a:t>DATA INGESTION</a:t>
            </a:r>
          </a:p>
        </p:txBody>
      </p:sp>
      <p:sp>
        <p:nvSpPr>
          <p:cNvPr id="12" name="TextBox 11"/>
          <p:cNvSpPr txBox="1"/>
          <p:nvPr/>
        </p:nvSpPr>
        <p:spPr>
          <a:xfrm>
            <a:off x="347472" y="1600200"/>
            <a:ext cx="1453696" cy="658368"/>
          </a:xfrm>
          <a:prstGeom prst="rect">
            <a:avLst/>
          </a:prstGeom>
          <a:noFill/>
        </p:spPr>
        <p:txBody>
          <a:bodyPr wrap="square">
            <a:spAutoFit/>
          </a:bodyPr>
          <a:lstStyle/>
          <a:p>
            <a:pPr algn="ctr"/>
            <a:r>
              <a:rPr sz="900" b="0" i="0">
                <a:solidFill>
                  <a:srgbClr val="FFFFFF"/>
                </a:solidFill>
                <a:latin typeface="Calibri Light"/>
              </a:rPr>
              <a:t>BigQuery / S3
Transaction log</a:t>
            </a:r>
          </a:p>
        </p:txBody>
      </p:sp>
      <p:sp>
        <p:nvSpPr>
          <p:cNvPr id="13" name="TextBox 12"/>
          <p:cNvSpPr txBox="1"/>
          <p:nvPr/>
        </p:nvSpPr>
        <p:spPr>
          <a:xfrm>
            <a:off x="1937160" y="1554480"/>
            <a:ext cx="274320" cy="411480"/>
          </a:xfrm>
          <a:prstGeom prst="rect">
            <a:avLst/>
          </a:prstGeom>
          <a:noFill/>
        </p:spPr>
        <p:txBody>
          <a:bodyPr wrap="square">
            <a:spAutoFit/>
          </a:bodyPr>
          <a:lstStyle/>
          <a:p>
            <a:pPr algn="ctr"/>
            <a:r>
              <a:rPr sz="1800" b="1" i="0">
                <a:solidFill>
                  <a:srgbClr val="0B2A4A"/>
                </a:solidFill>
                <a:latin typeface="Calibri"/>
              </a:rPr>
              <a:t>→</a:t>
            </a:r>
          </a:p>
        </p:txBody>
      </p:sp>
      <p:sp>
        <p:nvSpPr>
          <p:cNvPr id="14" name="Rectangle 13"/>
          <p:cNvSpPr/>
          <p:nvPr/>
        </p:nvSpPr>
        <p:spPr>
          <a:xfrm>
            <a:off x="2274320" y="1234440"/>
            <a:ext cx="1600000" cy="1097280"/>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47472" y="1280160"/>
            <a:ext cx="1453696" cy="320040"/>
          </a:xfrm>
          <a:prstGeom prst="rect">
            <a:avLst/>
          </a:prstGeom>
          <a:noFill/>
        </p:spPr>
        <p:txBody>
          <a:bodyPr wrap="square">
            <a:spAutoFit/>
          </a:bodyPr>
          <a:lstStyle/>
          <a:p>
            <a:pPr algn="ctr"/>
            <a:r>
              <a:rPr sz="950" b="1" i="0">
                <a:solidFill>
                  <a:srgbClr val="FFFFFF"/>
                </a:solidFill>
                <a:latin typeface="Calibri"/>
              </a:rPr>
              <a:t>FEATURE PIPELINE</a:t>
            </a:r>
          </a:p>
        </p:txBody>
      </p:sp>
      <p:sp>
        <p:nvSpPr>
          <p:cNvPr id="16" name="TextBox 15"/>
          <p:cNvSpPr txBox="1"/>
          <p:nvPr/>
        </p:nvSpPr>
        <p:spPr>
          <a:xfrm>
            <a:off x="2347472" y="1600200"/>
            <a:ext cx="1453696" cy="658368"/>
          </a:xfrm>
          <a:prstGeom prst="rect">
            <a:avLst/>
          </a:prstGeom>
          <a:noFill/>
        </p:spPr>
        <p:txBody>
          <a:bodyPr wrap="square">
            <a:spAutoFit/>
          </a:bodyPr>
          <a:lstStyle/>
          <a:p>
            <a:pPr algn="ctr"/>
            <a:r>
              <a:rPr sz="900" b="0" i="0">
                <a:solidFill>
                  <a:srgbClr val="FFFFFF"/>
                </a:solidFill>
                <a:latin typeface="Calibri Light"/>
              </a:rPr>
              <a:t>60-day window
feature computation
(Apache Beam / dbt)</a:t>
            </a:r>
          </a:p>
        </p:txBody>
      </p:sp>
      <p:sp>
        <p:nvSpPr>
          <p:cNvPr id="17" name="TextBox 16"/>
          <p:cNvSpPr txBox="1"/>
          <p:nvPr/>
        </p:nvSpPr>
        <p:spPr>
          <a:xfrm>
            <a:off x="3937160" y="1554480"/>
            <a:ext cx="274320" cy="411480"/>
          </a:xfrm>
          <a:prstGeom prst="rect">
            <a:avLst/>
          </a:prstGeom>
          <a:noFill/>
        </p:spPr>
        <p:txBody>
          <a:bodyPr wrap="square">
            <a:spAutoFit/>
          </a:bodyPr>
          <a:lstStyle/>
          <a:p>
            <a:pPr algn="ctr"/>
            <a:r>
              <a:rPr sz="1800" b="1" i="0">
                <a:solidFill>
                  <a:srgbClr val="0B2A4A"/>
                </a:solidFill>
                <a:latin typeface="Calibri"/>
              </a:rPr>
              <a:t>→</a:t>
            </a:r>
          </a:p>
        </p:txBody>
      </p:sp>
      <p:sp>
        <p:nvSpPr>
          <p:cNvPr id="18" name="Rectangle 17"/>
          <p:cNvSpPr/>
          <p:nvPr/>
        </p:nvSpPr>
        <p:spPr>
          <a:xfrm>
            <a:off x="4274320" y="1234440"/>
            <a:ext cx="1600000" cy="10972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47472" y="1280160"/>
            <a:ext cx="1453696" cy="320040"/>
          </a:xfrm>
          <a:prstGeom prst="rect">
            <a:avLst/>
          </a:prstGeom>
          <a:noFill/>
        </p:spPr>
        <p:txBody>
          <a:bodyPr wrap="square">
            <a:spAutoFit/>
          </a:bodyPr>
          <a:lstStyle/>
          <a:p>
            <a:pPr algn="ctr"/>
            <a:r>
              <a:rPr sz="950" b="1" i="0">
                <a:solidFill>
                  <a:srgbClr val="FFFFFF"/>
                </a:solidFill>
                <a:latin typeface="Calibri"/>
              </a:rPr>
              <a:t>MODEL SCORING</a:t>
            </a:r>
          </a:p>
        </p:txBody>
      </p:sp>
      <p:sp>
        <p:nvSpPr>
          <p:cNvPr id="20" name="TextBox 19"/>
          <p:cNvSpPr txBox="1"/>
          <p:nvPr/>
        </p:nvSpPr>
        <p:spPr>
          <a:xfrm>
            <a:off x="4347472" y="1600200"/>
            <a:ext cx="1453696" cy="658368"/>
          </a:xfrm>
          <a:prstGeom prst="rect">
            <a:avLst/>
          </a:prstGeom>
          <a:noFill/>
        </p:spPr>
        <p:txBody>
          <a:bodyPr wrap="square">
            <a:spAutoFit/>
          </a:bodyPr>
          <a:lstStyle/>
          <a:p>
            <a:pPr algn="ctr"/>
            <a:r>
              <a:rPr sz="900" b="0" i="0">
                <a:solidFill>
                  <a:srgbClr val="FFFFFF"/>
                </a:solidFill>
                <a:latin typeface="Calibri Light"/>
              </a:rPr>
              <a:t>RandomForest.predict_proba()
Monthly batch run
(EventBridge scheduler)</a:t>
            </a:r>
          </a:p>
        </p:txBody>
      </p:sp>
      <p:sp>
        <p:nvSpPr>
          <p:cNvPr id="21" name="TextBox 20"/>
          <p:cNvSpPr txBox="1"/>
          <p:nvPr/>
        </p:nvSpPr>
        <p:spPr>
          <a:xfrm>
            <a:off x="5937160" y="1554480"/>
            <a:ext cx="274320" cy="411480"/>
          </a:xfrm>
          <a:prstGeom prst="rect">
            <a:avLst/>
          </a:prstGeom>
          <a:noFill/>
        </p:spPr>
        <p:txBody>
          <a:bodyPr wrap="square">
            <a:spAutoFit/>
          </a:bodyPr>
          <a:lstStyle/>
          <a:p>
            <a:pPr algn="ctr"/>
            <a:r>
              <a:rPr sz="1800" b="1" i="0">
                <a:solidFill>
                  <a:srgbClr val="0B2A4A"/>
                </a:solidFill>
                <a:latin typeface="Calibri"/>
              </a:rPr>
              <a:t>→</a:t>
            </a:r>
          </a:p>
        </p:txBody>
      </p:sp>
      <p:sp>
        <p:nvSpPr>
          <p:cNvPr id="22" name="Rectangle 21"/>
          <p:cNvSpPr/>
          <p:nvPr/>
        </p:nvSpPr>
        <p:spPr>
          <a:xfrm>
            <a:off x="6274320" y="1234440"/>
            <a:ext cx="1600000" cy="1097280"/>
          </a:xfrm>
          <a:prstGeom prst="rect">
            <a:avLst/>
          </a:prstGeom>
          <a:solidFill>
            <a:srgbClr val="3D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47472" y="1280160"/>
            <a:ext cx="1453696" cy="320040"/>
          </a:xfrm>
          <a:prstGeom prst="rect">
            <a:avLst/>
          </a:prstGeom>
          <a:noFill/>
        </p:spPr>
        <p:txBody>
          <a:bodyPr wrap="square">
            <a:spAutoFit/>
          </a:bodyPr>
          <a:lstStyle/>
          <a:p>
            <a:pPr algn="ctr"/>
            <a:r>
              <a:rPr sz="950" b="1" i="0">
                <a:solidFill>
                  <a:srgbClr val="FFFFFF"/>
                </a:solidFill>
                <a:latin typeface="Calibri"/>
              </a:rPr>
              <a:t>SEGMENTATION</a:t>
            </a:r>
          </a:p>
        </p:txBody>
      </p:sp>
      <p:sp>
        <p:nvSpPr>
          <p:cNvPr id="24" name="TextBox 23"/>
          <p:cNvSpPr txBox="1"/>
          <p:nvPr/>
        </p:nvSpPr>
        <p:spPr>
          <a:xfrm>
            <a:off x="6347472" y="1600200"/>
            <a:ext cx="1453696" cy="658368"/>
          </a:xfrm>
          <a:prstGeom prst="rect">
            <a:avLst/>
          </a:prstGeom>
          <a:noFill/>
        </p:spPr>
        <p:txBody>
          <a:bodyPr wrap="square">
            <a:spAutoFit/>
          </a:bodyPr>
          <a:lstStyle/>
          <a:p>
            <a:pPr algn="ctr"/>
            <a:r>
              <a:rPr sz="900" b="0" i="0">
                <a:solidFill>
                  <a:srgbClr val="FFFFFF"/>
                </a:solidFill>
                <a:latin typeface="Calibri Light"/>
              </a:rPr>
              <a:t>3-tier classification
Probability scores
to CRM/Marketing</a:t>
            </a:r>
          </a:p>
        </p:txBody>
      </p:sp>
      <p:sp>
        <p:nvSpPr>
          <p:cNvPr id="25" name="TextBox 24"/>
          <p:cNvSpPr txBox="1"/>
          <p:nvPr/>
        </p:nvSpPr>
        <p:spPr>
          <a:xfrm>
            <a:off x="7937160" y="1554480"/>
            <a:ext cx="274320" cy="411480"/>
          </a:xfrm>
          <a:prstGeom prst="rect">
            <a:avLst/>
          </a:prstGeom>
          <a:noFill/>
        </p:spPr>
        <p:txBody>
          <a:bodyPr wrap="square">
            <a:spAutoFit/>
          </a:bodyPr>
          <a:lstStyle/>
          <a:p>
            <a:pPr algn="ctr"/>
            <a:r>
              <a:rPr sz="1800" b="1" i="0">
                <a:solidFill>
                  <a:srgbClr val="0B2A4A"/>
                </a:solidFill>
                <a:latin typeface="Calibri"/>
              </a:rPr>
              <a:t>→</a:t>
            </a:r>
          </a:p>
        </p:txBody>
      </p:sp>
      <p:sp>
        <p:nvSpPr>
          <p:cNvPr id="26" name="Rectangle 25"/>
          <p:cNvSpPr/>
          <p:nvPr/>
        </p:nvSpPr>
        <p:spPr>
          <a:xfrm>
            <a:off x="8274320" y="1234440"/>
            <a:ext cx="1600000" cy="1097280"/>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347472" y="1280160"/>
            <a:ext cx="1453696" cy="320040"/>
          </a:xfrm>
          <a:prstGeom prst="rect">
            <a:avLst/>
          </a:prstGeom>
          <a:noFill/>
        </p:spPr>
        <p:txBody>
          <a:bodyPr wrap="square">
            <a:spAutoFit/>
          </a:bodyPr>
          <a:lstStyle/>
          <a:p>
            <a:r>
              <a:rPr lang="en-US" sz="900" b="1" dirty="0">
                <a:solidFill>
                  <a:srgbClr val="FFFFFF"/>
                </a:solidFill>
              </a:rPr>
              <a:t>MONITORING</a:t>
            </a:r>
          </a:p>
        </p:txBody>
      </p:sp>
      <p:sp>
        <p:nvSpPr>
          <p:cNvPr id="28" name="TextBox 27"/>
          <p:cNvSpPr txBox="1"/>
          <p:nvPr/>
        </p:nvSpPr>
        <p:spPr>
          <a:xfrm>
            <a:off x="8347472" y="1600200"/>
            <a:ext cx="1453696" cy="658368"/>
          </a:xfrm>
          <a:prstGeom prst="rect">
            <a:avLst/>
          </a:prstGeom>
          <a:noFill/>
        </p:spPr>
        <p:txBody>
          <a:bodyPr wrap="square">
            <a:spAutoFit/>
          </a:bodyPr>
          <a:lstStyle/>
          <a:p>
            <a:pPr algn="ctr"/>
            <a:r>
              <a:rPr sz="900" b="0" i="0">
                <a:solidFill>
                  <a:srgbClr val="FFFFFF"/>
                </a:solidFill>
                <a:latin typeface="Calibri Light"/>
              </a:rPr>
              <a:t>Data drift detection
Score distribution
Loyalty rate tracking</a:t>
            </a:r>
          </a:p>
        </p:txBody>
      </p:sp>
      <p:sp>
        <p:nvSpPr>
          <p:cNvPr id="29" name="TextBox 28"/>
          <p:cNvSpPr txBox="1"/>
          <p:nvPr/>
        </p:nvSpPr>
        <p:spPr>
          <a:xfrm>
            <a:off x="9937160" y="1554480"/>
            <a:ext cx="274320" cy="411480"/>
          </a:xfrm>
          <a:prstGeom prst="rect">
            <a:avLst/>
          </a:prstGeom>
          <a:noFill/>
        </p:spPr>
        <p:txBody>
          <a:bodyPr wrap="square">
            <a:spAutoFit/>
          </a:bodyPr>
          <a:lstStyle/>
          <a:p>
            <a:pPr algn="ctr"/>
            <a:r>
              <a:rPr sz="1800" b="1" i="0">
                <a:solidFill>
                  <a:srgbClr val="0B2A4A"/>
                </a:solidFill>
                <a:latin typeface="Calibri"/>
              </a:rPr>
              <a:t>→</a:t>
            </a:r>
          </a:p>
        </p:txBody>
      </p:sp>
      <p:sp>
        <p:nvSpPr>
          <p:cNvPr id="30" name="Rectangle 29"/>
          <p:cNvSpPr/>
          <p:nvPr/>
        </p:nvSpPr>
        <p:spPr>
          <a:xfrm>
            <a:off x="10274320" y="1234440"/>
            <a:ext cx="1600000" cy="1097280"/>
          </a:xfrm>
          <a:prstGeom prst="rect">
            <a:avLst/>
          </a:prstGeom>
          <a:solidFill>
            <a:srgbClr val="A09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347472" y="1280160"/>
            <a:ext cx="1453696" cy="320040"/>
          </a:xfrm>
          <a:prstGeom prst="rect">
            <a:avLst/>
          </a:prstGeom>
          <a:noFill/>
        </p:spPr>
        <p:txBody>
          <a:bodyPr wrap="square">
            <a:spAutoFit/>
          </a:bodyPr>
          <a:lstStyle/>
          <a:p>
            <a:pPr algn="ctr"/>
            <a:r>
              <a:rPr sz="950" b="1" i="0">
                <a:solidFill>
                  <a:srgbClr val="FFFFFF"/>
                </a:solidFill>
                <a:latin typeface="Calibri"/>
              </a:rPr>
              <a:t>A/B TESTING</a:t>
            </a:r>
          </a:p>
        </p:txBody>
      </p:sp>
      <p:sp>
        <p:nvSpPr>
          <p:cNvPr id="32" name="TextBox 31"/>
          <p:cNvSpPr txBox="1"/>
          <p:nvPr/>
        </p:nvSpPr>
        <p:spPr>
          <a:xfrm>
            <a:off x="10347472" y="1600200"/>
            <a:ext cx="1453696" cy="658368"/>
          </a:xfrm>
          <a:prstGeom prst="rect">
            <a:avLst/>
          </a:prstGeom>
          <a:noFill/>
        </p:spPr>
        <p:txBody>
          <a:bodyPr wrap="square">
            <a:spAutoFit/>
          </a:bodyPr>
          <a:lstStyle/>
          <a:p>
            <a:pPr algn="ctr"/>
            <a:r>
              <a:rPr sz="900" b="0" i="0">
                <a:solidFill>
                  <a:srgbClr val="FFFFFF"/>
                </a:solidFill>
                <a:latin typeface="Calibri Light"/>
              </a:rPr>
              <a:t>Campaign split tests
ROI measurement
Threshold calibration</a:t>
            </a:r>
          </a:p>
        </p:txBody>
      </p:sp>
      <p:sp>
        <p:nvSpPr>
          <p:cNvPr id="33" name="Rectangle 32"/>
          <p:cNvSpPr/>
          <p:nvPr/>
        </p:nvSpPr>
        <p:spPr>
          <a:xfrm>
            <a:off x="274320" y="2606040"/>
            <a:ext cx="11640312" cy="3337560"/>
          </a:xfrm>
          <a:prstGeom prst="rect">
            <a:avLst/>
          </a:prstGeom>
          <a:solidFill>
            <a:srgbClr val="F2F5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2697480"/>
            <a:ext cx="11155680" cy="347472"/>
          </a:xfrm>
          <a:prstGeom prst="rect">
            <a:avLst/>
          </a:prstGeom>
          <a:noFill/>
        </p:spPr>
        <p:txBody>
          <a:bodyPr wrap="square">
            <a:spAutoFit/>
          </a:bodyPr>
          <a:lstStyle/>
          <a:p>
            <a:pPr algn="l"/>
            <a:r>
              <a:rPr sz="1300" b="1">
                <a:solidFill>
                  <a:srgbClr val="0B2A4A"/>
                </a:solidFill>
              </a:rPr>
              <a:t>How the Pipeline Operates in Production</a:t>
            </a:r>
          </a:p>
        </p:txBody>
      </p:sp>
      <p:sp>
        <p:nvSpPr>
          <p:cNvPr id="35" name="TextBox 34"/>
          <p:cNvSpPr txBox="1"/>
          <p:nvPr/>
        </p:nvSpPr>
        <p:spPr>
          <a:xfrm>
            <a:off x="502920" y="3163824"/>
            <a:ext cx="5394960" cy="274320"/>
          </a:xfrm>
          <a:prstGeom prst="rect">
            <a:avLst/>
          </a:prstGeom>
          <a:noFill/>
        </p:spPr>
        <p:txBody>
          <a:bodyPr wrap="square">
            <a:spAutoFit/>
          </a:bodyPr>
          <a:lstStyle/>
          <a:p>
            <a:pPr algn="l"/>
            <a:r>
              <a:rPr sz="1000" b="1">
                <a:solidFill>
                  <a:srgbClr val="0B2A4A"/>
                </a:solidFill>
              </a:rPr>
              <a:t>•  Monthly batch scoring</a:t>
            </a:r>
          </a:p>
        </p:txBody>
      </p:sp>
      <p:sp>
        <p:nvSpPr>
          <p:cNvPr id="36" name="TextBox 35"/>
          <p:cNvSpPr txBox="1"/>
          <p:nvPr/>
        </p:nvSpPr>
        <p:spPr>
          <a:xfrm>
            <a:off x="502920" y="3456432"/>
            <a:ext cx="5394960" cy="777240"/>
          </a:xfrm>
          <a:prstGeom prst="rect">
            <a:avLst/>
          </a:prstGeom>
          <a:noFill/>
        </p:spPr>
        <p:txBody>
          <a:bodyPr wrap="square">
            <a:spAutoFit/>
          </a:bodyPr>
          <a:lstStyle/>
          <a:p>
            <a:pPr algn="l"/>
            <a:r>
              <a:rPr sz="900" b="0">
                <a:solidFill>
                  <a:srgbClr val="4A5A6A"/>
                </a:solidFill>
              </a:rPr>
              <a:t>EventBridge triggers feature computation on the 1st of each month across all active users.</a:t>
            </a:r>
          </a:p>
        </p:txBody>
      </p:sp>
      <p:sp>
        <p:nvSpPr>
          <p:cNvPr id="37" name="TextBox 36"/>
          <p:cNvSpPr txBox="1"/>
          <p:nvPr/>
        </p:nvSpPr>
        <p:spPr>
          <a:xfrm>
            <a:off x="502920" y="4398264"/>
            <a:ext cx="5394960" cy="274320"/>
          </a:xfrm>
          <a:prstGeom prst="rect">
            <a:avLst/>
          </a:prstGeom>
          <a:noFill/>
        </p:spPr>
        <p:txBody>
          <a:bodyPr wrap="square">
            <a:spAutoFit/>
          </a:bodyPr>
          <a:lstStyle/>
          <a:p>
            <a:pPr algn="l"/>
            <a:r>
              <a:rPr sz="1000" b="1">
                <a:solidFill>
                  <a:srgbClr val="0B2A4A"/>
                </a:solidFill>
              </a:rPr>
              <a:t>•  60-day feature window</a:t>
            </a:r>
          </a:p>
        </p:txBody>
      </p:sp>
      <p:sp>
        <p:nvSpPr>
          <p:cNvPr id="38" name="TextBox 37"/>
          <p:cNvSpPr txBox="1"/>
          <p:nvPr/>
        </p:nvSpPr>
        <p:spPr>
          <a:xfrm>
            <a:off x="502920" y="4690872"/>
            <a:ext cx="5394960" cy="777240"/>
          </a:xfrm>
          <a:prstGeom prst="rect">
            <a:avLst/>
          </a:prstGeom>
          <a:noFill/>
        </p:spPr>
        <p:txBody>
          <a:bodyPr wrap="square">
            <a:spAutoFit/>
          </a:bodyPr>
          <a:lstStyle/>
          <a:p>
            <a:pPr algn="l"/>
            <a:r>
              <a:rPr sz="900" b="0">
                <a:solidFill>
                  <a:srgbClr val="4A5A6A"/>
                </a:solidFill>
              </a:rPr>
              <a:t>Each user's loyalty score is computed from their most recent 60 days of transaction activity.</a:t>
            </a:r>
          </a:p>
        </p:txBody>
      </p:sp>
      <p:sp>
        <p:nvSpPr>
          <p:cNvPr id="39" name="TextBox 38"/>
          <p:cNvSpPr txBox="1"/>
          <p:nvPr/>
        </p:nvSpPr>
        <p:spPr>
          <a:xfrm>
            <a:off x="6309360" y="3163824"/>
            <a:ext cx="5394960" cy="274320"/>
          </a:xfrm>
          <a:prstGeom prst="rect">
            <a:avLst/>
          </a:prstGeom>
          <a:noFill/>
        </p:spPr>
        <p:txBody>
          <a:bodyPr wrap="square">
            <a:spAutoFit/>
          </a:bodyPr>
          <a:lstStyle/>
          <a:p>
            <a:pPr algn="l"/>
            <a:r>
              <a:rPr sz="1000" b="1">
                <a:solidFill>
                  <a:srgbClr val="0B2A4A"/>
                </a:solidFill>
              </a:rPr>
              <a:t>•  Distribution monitoring</a:t>
            </a:r>
          </a:p>
        </p:txBody>
      </p:sp>
      <p:sp>
        <p:nvSpPr>
          <p:cNvPr id="40" name="TextBox 39"/>
          <p:cNvSpPr txBox="1"/>
          <p:nvPr/>
        </p:nvSpPr>
        <p:spPr>
          <a:xfrm>
            <a:off x="6309360" y="3456432"/>
            <a:ext cx="5394960" cy="777240"/>
          </a:xfrm>
          <a:prstGeom prst="rect">
            <a:avLst/>
          </a:prstGeom>
          <a:noFill/>
        </p:spPr>
        <p:txBody>
          <a:bodyPr wrap="square">
            <a:spAutoFit/>
          </a:bodyPr>
          <a:lstStyle/>
          <a:p>
            <a:pPr algn="l"/>
            <a:r>
              <a:rPr sz="900" b="0">
                <a:solidFill>
                  <a:srgbClr val="4A5A6A"/>
                </a:solidFill>
              </a:rPr>
              <a:t>KS-tests flag feature drift; retraining only deploys if AUC ≥ 0.90 on the holdout set.</a:t>
            </a:r>
          </a:p>
        </p:txBody>
      </p:sp>
      <p:sp>
        <p:nvSpPr>
          <p:cNvPr id="41" name="TextBox 40"/>
          <p:cNvSpPr txBox="1"/>
          <p:nvPr/>
        </p:nvSpPr>
        <p:spPr>
          <a:xfrm>
            <a:off x="6309360" y="4398264"/>
            <a:ext cx="5394960" cy="274320"/>
          </a:xfrm>
          <a:prstGeom prst="rect">
            <a:avLst/>
          </a:prstGeom>
          <a:noFill/>
        </p:spPr>
        <p:txBody>
          <a:bodyPr wrap="square">
            <a:spAutoFit/>
          </a:bodyPr>
          <a:lstStyle/>
          <a:p>
            <a:pPr algn="l"/>
            <a:r>
              <a:rPr sz="1000" b="1">
                <a:solidFill>
                  <a:srgbClr val="0B2A4A"/>
                </a:solidFill>
              </a:rPr>
              <a:t>•  CRM integration</a:t>
            </a:r>
          </a:p>
        </p:txBody>
      </p:sp>
      <p:sp>
        <p:nvSpPr>
          <p:cNvPr id="42" name="TextBox 41"/>
          <p:cNvSpPr txBox="1"/>
          <p:nvPr/>
        </p:nvSpPr>
        <p:spPr>
          <a:xfrm>
            <a:off x="6309360" y="4690872"/>
            <a:ext cx="5394960" cy="777240"/>
          </a:xfrm>
          <a:prstGeom prst="rect">
            <a:avLst/>
          </a:prstGeom>
          <a:noFill/>
        </p:spPr>
        <p:txBody>
          <a:bodyPr wrap="square">
            <a:spAutoFit/>
          </a:bodyPr>
          <a:lstStyle/>
          <a:p>
            <a:pPr algn="l"/>
            <a:r>
              <a:rPr sz="900" b="0">
                <a:solidFill>
                  <a:srgbClr val="4A5A6A"/>
                </a:solidFill>
              </a:rPr>
              <a:t>predict_proba() scores → 3-tier labels (HIGH / AT-RISK / LOST) pushed to CRM automatically.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353</TotalTime>
  <Words>8937</Words>
  <Application>Microsoft Office PowerPoint</Application>
  <PresentationFormat>Custom</PresentationFormat>
  <Paragraphs>728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Bargal, Prathmesh</cp:lastModifiedBy>
  <cp:revision>6</cp:revision>
  <dcterms:created xsi:type="dcterms:W3CDTF">2013-01-27T09:14:16Z</dcterms:created>
  <dcterms:modified xsi:type="dcterms:W3CDTF">2026-07-15T18:42:07Z</dcterms:modified>
  <cp:category/>
</cp:coreProperties>
</file>